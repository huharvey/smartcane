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7" r:id="rId2"/>
    <p:sldId id="307" r:id="rId3"/>
    <p:sldId id="270" r:id="rId4"/>
    <p:sldId id="347" r:id="rId5"/>
    <p:sldId id="343" r:id="rId6"/>
    <p:sldId id="344" r:id="rId7"/>
    <p:sldId id="291" r:id="rId8"/>
    <p:sldId id="319" r:id="rId9"/>
    <p:sldId id="345" r:id="rId10"/>
    <p:sldId id="348" r:id="rId11"/>
    <p:sldId id="341" r:id="rId12"/>
    <p:sldId id="350" r:id="rId13"/>
    <p:sldId id="349" r:id="rId14"/>
    <p:sldId id="285" r:id="rId15"/>
    <p:sldId id="339" r:id="rId16"/>
    <p:sldId id="340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F88"/>
    <a:srgbClr val="8994BD"/>
    <a:srgbClr val="96A2D0"/>
    <a:srgbClr val="93BFF5"/>
    <a:srgbClr val="E6E6E6"/>
    <a:srgbClr val="3A68B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769" autoAdjust="0"/>
    <p:restoredTop sz="94660"/>
  </p:normalViewPr>
  <p:slideViewPr>
    <p:cSldViewPr snapToGrid="0">
      <p:cViewPr varScale="1">
        <p:scale>
          <a:sx n="92" d="100"/>
          <a:sy n="92" d="100"/>
        </p:scale>
        <p:origin x="499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9EBC71-470F-4178-8939-B7F43C998C3E}" type="datetimeFigureOut">
              <a:rPr lang="zh-CN" altLang="en-US" smtClean="0"/>
              <a:t>2026/8/13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7F53EF-5364-44E3-BFA2-84231755F7E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9640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4CBCBD-A104-4017-AE22-E7414AF54D30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80123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AE382-7A21-2636-75E6-DCFA629450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0D2CEF3-C0AA-980F-D695-F55671951F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42DBE94-639A-C9FD-457E-3006E4E69F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B905F25-DFDB-DF51-6CB9-16B0A8D40D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4CBCBD-A104-4017-AE22-E7414AF54D30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81250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CF4B11-F572-4DFC-9C9B-6A3CD1BCE1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234C54C-1BA6-440A-8D1B-F8BCE242FF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756EE14-5E8C-42D6-8B1C-138B21B7F8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C1865-B79A-43E4-B218-34456B6B12C9}" type="datetimeFigureOut">
              <a:rPr lang="zh-CN" altLang="en-US" smtClean="0"/>
              <a:t>2026/8/13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0189FBD-18D7-4E8C-AC37-C54A7E72E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A2B2B56-4F25-4616-A188-56D2ACCF1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E32C2-5FDC-40E1-AD53-545CC803DD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2478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4D3867-6D2D-4593-AC3F-B8E58C872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236C074-A1D1-4AA5-8442-2C11F3B581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D4E8C40-44F5-4283-BF35-89F2C43027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C1865-B79A-43E4-B218-34456B6B12C9}" type="datetimeFigureOut">
              <a:rPr lang="zh-CN" altLang="en-US" smtClean="0"/>
              <a:t>2026/8/13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5CA79F0-95A9-4981-8FB9-04D63D57C7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0BEDC06-5A03-4F54-9BA2-842910E53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E32C2-5FDC-40E1-AD53-545CC803DD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9116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E733D58-C466-44BC-972E-587AD0D45D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E393EC4-145A-485A-A568-F282A0CC0D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F3AAC01-5E49-476A-88CC-1D58B2399E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C1865-B79A-43E4-B218-34456B6B12C9}" type="datetimeFigureOut">
              <a:rPr lang="zh-CN" altLang="en-US" smtClean="0"/>
              <a:t>2026/8/13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C6AC38B-B467-4222-AA44-0AD3BDE405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370A2F9-2C51-4DAD-89D5-D291EEEBA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E32C2-5FDC-40E1-AD53-545CC803DD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49231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3BEE30-4BA4-4E5D-91A1-423AC1F6AA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B4895D3-5779-4E7B-96AD-64C7403E07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0AE0855-595B-4F82-8B46-039050CA24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AA3D155-16F0-4A38-A2D0-09D219FE7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C1865-B79A-43E4-B218-34456B6B12C9}" type="datetimeFigureOut">
              <a:rPr lang="zh-CN" altLang="en-US" smtClean="0"/>
              <a:t>2026/8/13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631401B-6434-4F3F-9D1F-1E1D4889FC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3CDCBEC-7E66-4D99-9199-750DC27EA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E32C2-5FDC-40E1-AD53-545CC803DD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63281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6667EB-8340-4492-B3A9-A728F915AC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9B05EE6-A0EE-49F6-8DB2-93C313DEC0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3D33B3B-D619-44C0-B8FF-6BB33C5400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33DD8DF-90AF-4AA9-A4AF-7040FF4B72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419D37D-A566-4F60-A4C3-78BCB7CF32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9CBCC86-6C82-4A0D-9287-32A6405E6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C1865-B79A-43E4-B218-34456B6B12C9}" type="datetimeFigureOut">
              <a:rPr lang="zh-CN" altLang="en-US" smtClean="0"/>
              <a:t>2026/8/13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5E0DED7-DA23-4400-97A1-04B7573C8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0606BFF-B2FB-4915-9F3A-2C98A7665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E32C2-5FDC-40E1-AD53-545CC803DD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8317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BA1051-BA71-4574-BFA1-AC004EC51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B350898-1F22-4B99-BE58-E24B18BB02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C1865-B79A-43E4-B218-34456B6B12C9}" type="datetimeFigureOut">
              <a:rPr lang="zh-CN" altLang="en-US" smtClean="0"/>
              <a:t>2026/8/13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1EC05BB-0041-4C92-95D3-6E3D1B7E52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AB48AC8-E018-466A-90AF-663F9BDF9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E32C2-5FDC-40E1-AD53-545CC803DD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43322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85E6A85-9742-4F96-B4AF-2D30690A99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C1865-B79A-43E4-B218-34456B6B12C9}" type="datetimeFigureOut">
              <a:rPr lang="zh-CN" altLang="en-US" smtClean="0"/>
              <a:t>2026/8/13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C0D9671-8387-49B9-9224-F8D5E04A9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3482766-12A4-4E9D-A598-FC84A590B2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E32C2-5FDC-40E1-AD53-545CC803DD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82934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4EBE77-9C31-4448-92F6-8E2538C72A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C5A61C7-FA85-41FA-8268-50935F00E3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5910FFD-3BF9-4DCA-AE14-49BC3137B0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17DE66C-12DC-44D6-966F-E312146799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C1865-B79A-43E4-B218-34456B6B12C9}" type="datetimeFigureOut">
              <a:rPr lang="zh-CN" altLang="en-US" smtClean="0"/>
              <a:t>2026/8/13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C991129-C6C5-40AE-B3CD-E3A8E7F5E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03AA085-B50D-4BD5-BC03-E1841817F7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E32C2-5FDC-40E1-AD53-545CC803DD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53325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DB4150-B2F0-479E-A721-35D82BBBD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95BEBB3-457F-4B23-9EE3-8DF050B0AF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D000099-46C8-4A17-9C36-8398FFE23A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B7DE7DA-AE75-4B26-8CAD-BD9CC0EFB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C1865-B79A-43E4-B218-34456B6B12C9}" type="datetimeFigureOut">
              <a:rPr lang="zh-CN" altLang="en-US" smtClean="0"/>
              <a:t>2026/8/13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CC8E070-C62B-4610-AB79-AB28FDDB66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88AD57F-16AE-4378-B779-5AB42B027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E32C2-5FDC-40E1-AD53-545CC803DD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4801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890AB4-B48E-4BCB-AF60-2FC3CC5B8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76B1054-3F3D-42E9-B458-83921265B9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2B12639-CBE1-475E-9FA8-6C236A2A5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C1865-B79A-43E4-B218-34456B6B12C9}" type="datetimeFigureOut">
              <a:rPr lang="zh-CN" altLang="en-US" smtClean="0"/>
              <a:t>2026/8/13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ECAF0BD-D7A7-4B37-B11F-72418A7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3A0119A-4817-4B57-A6DE-540FE9B78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E32C2-5FDC-40E1-AD53-545CC803DD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9948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54BE39A-A81E-4A36-8807-AD97AC5A52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F457E41-3EA0-43C4-9FEC-F1DE8D1453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BBE3E99-9292-4F50-A0F1-678BEFE473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C1865-B79A-43E4-B218-34456B6B12C9}" type="datetimeFigureOut">
              <a:rPr lang="zh-CN" altLang="en-US" smtClean="0"/>
              <a:t>2026/8/13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8EB7626-D656-4E24-BD17-27CDF45B84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AFC70BD-F514-4D5A-9043-DD06515B2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E32C2-5FDC-40E1-AD53-545CC803DD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6315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7642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04EFB9E-31F1-44AC-B2A0-70B3AD7E19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5F674FB-ADAE-4C16-9A45-55515D425D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8525FD1-9DA9-4D47-B946-7A3EE00EA7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AC1865-B79A-43E4-B218-34456B6B12C9}" type="datetimeFigureOut">
              <a:rPr lang="zh-CN" altLang="en-US" smtClean="0"/>
              <a:t>2026/8/13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47004C3-9974-4565-85A6-888D85E56A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CC94A1A-F98A-49BC-BD74-896D43ADD1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EE32C2-5FDC-40E1-AD53-545CC803DD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7308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3" Type="http://schemas.openxmlformats.org/officeDocument/2006/relationships/tags" Target="../tags/tag3.xml"/><Relationship Id="rId21" Type="http://schemas.openxmlformats.org/officeDocument/2006/relationships/image" Target="../media/image3.png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0" Type="http://schemas.openxmlformats.org/officeDocument/2006/relationships/image" Target="../media/image2.png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10" Type="http://schemas.openxmlformats.org/officeDocument/2006/relationships/tags" Target="../tags/tag10.xml"/><Relationship Id="rId19" Type="http://schemas.openxmlformats.org/officeDocument/2006/relationships/slideLayout" Target="../slideLayouts/slideLayout7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26.xml"/><Relationship Id="rId13" Type="http://schemas.openxmlformats.org/officeDocument/2006/relationships/tags" Target="../tags/tag31.xml"/><Relationship Id="rId18" Type="http://schemas.openxmlformats.org/officeDocument/2006/relationships/image" Target="../media/image15.png"/><Relationship Id="rId3" Type="http://schemas.openxmlformats.org/officeDocument/2006/relationships/tags" Target="../tags/tag21.xml"/><Relationship Id="rId7" Type="http://schemas.openxmlformats.org/officeDocument/2006/relationships/tags" Target="../tags/tag25.xml"/><Relationship Id="rId12" Type="http://schemas.openxmlformats.org/officeDocument/2006/relationships/tags" Target="../tags/tag30.xml"/><Relationship Id="rId17" Type="http://schemas.openxmlformats.org/officeDocument/2006/relationships/slideLayout" Target="../slideLayouts/slideLayout7.xml"/><Relationship Id="rId2" Type="http://schemas.openxmlformats.org/officeDocument/2006/relationships/tags" Target="../tags/tag20.xml"/><Relationship Id="rId16" Type="http://schemas.openxmlformats.org/officeDocument/2006/relationships/tags" Target="../tags/tag34.xml"/><Relationship Id="rId1" Type="http://schemas.openxmlformats.org/officeDocument/2006/relationships/tags" Target="../tags/tag19.xml"/><Relationship Id="rId6" Type="http://schemas.openxmlformats.org/officeDocument/2006/relationships/tags" Target="../tags/tag24.xml"/><Relationship Id="rId11" Type="http://schemas.openxmlformats.org/officeDocument/2006/relationships/tags" Target="../tags/tag29.xml"/><Relationship Id="rId5" Type="http://schemas.openxmlformats.org/officeDocument/2006/relationships/tags" Target="../tags/tag23.xml"/><Relationship Id="rId15" Type="http://schemas.openxmlformats.org/officeDocument/2006/relationships/tags" Target="../tags/tag33.xml"/><Relationship Id="rId10" Type="http://schemas.openxmlformats.org/officeDocument/2006/relationships/tags" Target="../tags/tag28.xml"/><Relationship Id="rId4" Type="http://schemas.openxmlformats.org/officeDocument/2006/relationships/tags" Target="../tags/tag22.xml"/><Relationship Id="rId9" Type="http://schemas.openxmlformats.org/officeDocument/2006/relationships/tags" Target="../tags/tag27.xml"/><Relationship Id="rId14" Type="http://schemas.openxmlformats.org/officeDocument/2006/relationships/tags" Target="../tags/tag3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sv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0.svg"/><Relationship Id="rId4" Type="http://schemas.openxmlformats.org/officeDocument/2006/relationships/image" Target="../media/image29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888971FF-38D5-43EF-AEAB-1FCD8FCDA8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7318" y="487688"/>
            <a:ext cx="3377364" cy="938156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0F56DD7F-8255-476B-9EC6-C53321F92149}"/>
              </a:ext>
            </a:extLst>
          </p:cNvPr>
          <p:cNvSpPr/>
          <p:nvPr/>
        </p:nvSpPr>
        <p:spPr>
          <a:xfrm>
            <a:off x="0" y="2279259"/>
            <a:ext cx="12192000" cy="2299792"/>
          </a:xfrm>
          <a:prstGeom prst="rect">
            <a:avLst/>
          </a:prstGeom>
          <a:solidFill>
            <a:srgbClr val="003F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6000" spc="3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5" name="平行四边形 14">
            <a:extLst>
              <a:ext uri="{FF2B5EF4-FFF2-40B4-BE49-F238E27FC236}">
                <a16:creationId xmlns:a16="http://schemas.microsoft.com/office/drawing/2014/main" id="{D7F0E690-6592-4097-BF51-75E7C382F258}"/>
              </a:ext>
            </a:extLst>
          </p:cNvPr>
          <p:cNvSpPr/>
          <p:nvPr/>
        </p:nvSpPr>
        <p:spPr>
          <a:xfrm>
            <a:off x="-185979" y="2032990"/>
            <a:ext cx="4959457" cy="108489"/>
          </a:xfrm>
          <a:prstGeom prst="parallelogram">
            <a:avLst>
              <a:gd name="adj" fmla="val 80556"/>
            </a:avLst>
          </a:prstGeom>
          <a:solidFill>
            <a:srgbClr val="003F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平行四边形 15">
            <a:extLst>
              <a:ext uri="{FF2B5EF4-FFF2-40B4-BE49-F238E27FC236}">
                <a16:creationId xmlns:a16="http://schemas.microsoft.com/office/drawing/2014/main" id="{A094E650-D683-4077-B8CC-8A016732BD2B}"/>
              </a:ext>
            </a:extLst>
          </p:cNvPr>
          <p:cNvSpPr/>
          <p:nvPr/>
        </p:nvSpPr>
        <p:spPr>
          <a:xfrm>
            <a:off x="7421105" y="4703038"/>
            <a:ext cx="4959457" cy="108489"/>
          </a:xfrm>
          <a:prstGeom prst="parallelogram">
            <a:avLst>
              <a:gd name="adj" fmla="val 80556"/>
            </a:avLst>
          </a:prstGeom>
          <a:solidFill>
            <a:srgbClr val="003F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1B61AB4E-87B5-41B4-9759-DE4CE9B4F88B}"/>
              </a:ext>
            </a:extLst>
          </p:cNvPr>
          <p:cNvSpPr/>
          <p:nvPr/>
        </p:nvSpPr>
        <p:spPr>
          <a:xfrm>
            <a:off x="1403045" y="2588017"/>
            <a:ext cx="9385904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5600" b="1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基于</a:t>
            </a:r>
            <a:r>
              <a:rPr lang="en-US" altLang="zh-CN" sz="5600" b="1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ESP32</a:t>
            </a:r>
            <a:r>
              <a:rPr lang="zh-CN" altLang="en-US" sz="5600" b="1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的智能拐杖系统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26B0991-99FE-40EB-AF49-F10667DF3B27}"/>
              </a:ext>
            </a:extLst>
          </p:cNvPr>
          <p:cNvSpPr txBox="1"/>
          <p:nvPr/>
        </p:nvSpPr>
        <p:spPr>
          <a:xfrm>
            <a:off x="0" y="3715132"/>
            <a:ext cx="12192000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600" b="1" spc="100" dirty="0"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嵌入式系统高级实验中期报告</a:t>
            </a:r>
          </a:p>
          <a:p>
            <a:pPr algn="ctr"/>
            <a:endParaRPr lang="zh-CN" altLang="en-US" sz="2600" b="1" spc="100" dirty="0">
              <a:solidFill>
                <a:schemeClr val="bg1"/>
              </a:solidFill>
              <a:latin typeface="Georgia" panose="02040502050405020303" pitchFamily="18" charset="0"/>
              <a:cs typeface="Arial" panose="020B060402020202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C93B5CA-067F-C5DB-8C5D-813A233F123E}"/>
              </a:ext>
            </a:extLst>
          </p:cNvPr>
          <p:cNvSpPr txBox="1"/>
          <p:nvPr/>
        </p:nvSpPr>
        <p:spPr>
          <a:xfrm>
            <a:off x="2780525" y="5212560"/>
            <a:ext cx="6630941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小组成员：成员A、成员B、成员C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2026 / 8 / 13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295589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071CE3DB-FE1B-4E87-9A35-9E523928E1B1}"/>
              </a:ext>
            </a:extLst>
          </p:cNvPr>
          <p:cNvSpPr/>
          <p:nvPr/>
        </p:nvSpPr>
        <p:spPr>
          <a:xfrm>
            <a:off x="-2" y="0"/>
            <a:ext cx="4432397" cy="6858000"/>
          </a:xfrm>
          <a:prstGeom prst="rect">
            <a:avLst/>
          </a:prstGeom>
          <a:solidFill>
            <a:srgbClr val="003F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DF83304-9D5A-4184-9C97-5A87B6C46C00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42488" y="-132623"/>
            <a:ext cx="3947419" cy="138207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8BD3C300-A1C5-42B2-A7DC-94CC929AE84A}"/>
              </a:ext>
            </a:extLst>
          </p:cNvPr>
          <p:cNvSpPr txBox="1"/>
          <p:nvPr/>
        </p:nvSpPr>
        <p:spPr>
          <a:xfrm>
            <a:off x="1088901" y="2668728"/>
            <a:ext cx="225459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dirty="0">
                <a:solidFill>
                  <a:schemeClr val="bg1"/>
                </a:solidFill>
              </a:rPr>
              <a:t>目 录</a:t>
            </a:r>
            <a:endParaRPr lang="en-US" altLang="zh-CN" sz="5400" dirty="0">
              <a:solidFill>
                <a:schemeClr val="bg1"/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B69D44D-18EE-48D8-A130-60DC30AFE76F}"/>
              </a:ext>
            </a:extLst>
          </p:cNvPr>
          <p:cNvSpPr/>
          <p:nvPr/>
        </p:nvSpPr>
        <p:spPr>
          <a:xfrm>
            <a:off x="1320076" y="3941730"/>
            <a:ext cx="187904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bg1"/>
                </a:solidFill>
                <a:cs typeface="Arial" panose="020B0604020202020204" pitchFamily="34" charset="0"/>
              </a:rPr>
              <a:t>CONTENTS</a:t>
            </a:r>
            <a:endParaRPr lang="zh-CN" altLang="en-US" sz="24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B166AF29-DB5D-4AC7-A82F-E8F7FD23311C}"/>
              </a:ext>
            </a:extLst>
          </p:cNvPr>
          <p:cNvGrpSpPr/>
          <p:nvPr/>
        </p:nvGrpSpPr>
        <p:grpSpPr>
          <a:xfrm>
            <a:off x="820546" y="2927691"/>
            <a:ext cx="254121" cy="405405"/>
            <a:chOff x="872368" y="2932651"/>
            <a:chExt cx="289004" cy="461055"/>
          </a:xfrm>
          <a:solidFill>
            <a:schemeClr val="bg1">
              <a:alpha val="25000"/>
            </a:schemeClr>
          </a:solidFill>
        </p:grpSpPr>
        <p:sp>
          <p:nvSpPr>
            <p:cNvPr id="7" name="梯形 6">
              <a:extLst>
                <a:ext uri="{FF2B5EF4-FFF2-40B4-BE49-F238E27FC236}">
                  <a16:creationId xmlns:a16="http://schemas.microsoft.com/office/drawing/2014/main" id="{AD4E5EDE-1344-4179-A930-CD4230126F71}"/>
                </a:ext>
              </a:extLst>
            </p:cNvPr>
            <p:cNvSpPr/>
            <p:nvPr/>
          </p:nvSpPr>
          <p:spPr>
            <a:xfrm rot="16200000">
              <a:off x="907985" y="3140319"/>
              <a:ext cx="461055" cy="45719"/>
            </a:xfrm>
            <a:prstGeom prst="trapezoid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梯形 7">
              <a:extLst>
                <a:ext uri="{FF2B5EF4-FFF2-40B4-BE49-F238E27FC236}">
                  <a16:creationId xmlns:a16="http://schemas.microsoft.com/office/drawing/2014/main" id="{91CC9F76-FC59-4F27-8213-D7397F848F73}"/>
                </a:ext>
              </a:extLst>
            </p:cNvPr>
            <p:cNvSpPr/>
            <p:nvPr/>
          </p:nvSpPr>
          <p:spPr>
            <a:xfrm rot="16200000">
              <a:off x="865248" y="3140319"/>
              <a:ext cx="298081" cy="45719"/>
            </a:xfrm>
            <a:prstGeom prst="trapezoid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梯形 8">
              <a:extLst>
                <a:ext uri="{FF2B5EF4-FFF2-40B4-BE49-F238E27FC236}">
                  <a16:creationId xmlns:a16="http://schemas.microsoft.com/office/drawing/2014/main" id="{83C69301-3F53-4B75-832C-AF8E78FD6C10}"/>
                </a:ext>
              </a:extLst>
            </p:cNvPr>
            <p:cNvSpPr/>
            <p:nvPr/>
          </p:nvSpPr>
          <p:spPr>
            <a:xfrm rot="16200000">
              <a:off x="801751" y="3140319"/>
              <a:ext cx="186954" cy="45719"/>
            </a:xfrm>
            <a:prstGeom prst="trapezoid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FA30BFE1-800A-4A3F-9FF0-7EA37A9DDD1F}"/>
              </a:ext>
            </a:extLst>
          </p:cNvPr>
          <p:cNvGrpSpPr/>
          <p:nvPr/>
        </p:nvGrpSpPr>
        <p:grpSpPr>
          <a:xfrm flipH="1">
            <a:off x="3311236" y="2927691"/>
            <a:ext cx="254121" cy="405405"/>
            <a:chOff x="872368" y="2932651"/>
            <a:chExt cx="289004" cy="461055"/>
          </a:xfrm>
          <a:solidFill>
            <a:schemeClr val="bg1">
              <a:alpha val="24000"/>
            </a:schemeClr>
          </a:solidFill>
        </p:grpSpPr>
        <p:sp>
          <p:nvSpPr>
            <p:cNvPr id="12" name="梯形 11">
              <a:extLst>
                <a:ext uri="{FF2B5EF4-FFF2-40B4-BE49-F238E27FC236}">
                  <a16:creationId xmlns:a16="http://schemas.microsoft.com/office/drawing/2014/main" id="{B3023C7E-8B12-41BF-8CC3-01EE51D12E14}"/>
                </a:ext>
              </a:extLst>
            </p:cNvPr>
            <p:cNvSpPr/>
            <p:nvPr/>
          </p:nvSpPr>
          <p:spPr>
            <a:xfrm rot="16200000">
              <a:off x="907985" y="3140319"/>
              <a:ext cx="461055" cy="45719"/>
            </a:xfrm>
            <a:prstGeom prst="trapezoid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梯形 12">
              <a:extLst>
                <a:ext uri="{FF2B5EF4-FFF2-40B4-BE49-F238E27FC236}">
                  <a16:creationId xmlns:a16="http://schemas.microsoft.com/office/drawing/2014/main" id="{6C87B380-95E4-44D8-B416-76A42C603F64}"/>
                </a:ext>
              </a:extLst>
            </p:cNvPr>
            <p:cNvSpPr/>
            <p:nvPr/>
          </p:nvSpPr>
          <p:spPr>
            <a:xfrm rot="16200000">
              <a:off x="865248" y="3140319"/>
              <a:ext cx="298081" cy="45719"/>
            </a:xfrm>
            <a:prstGeom prst="trapezoid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梯形 13">
              <a:extLst>
                <a:ext uri="{FF2B5EF4-FFF2-40B4-BE49-F238E27FC236}">
                  <a16:creationId xmlns:a16="http://schemas.microsoft.com/office/drawing/2014/main" id="{0E556A2A-6E1B-46FB-8070-92101EA8A472}"/>
                </a:ext>
              </a:extLst>
            </p:cNvPr>
            <p:cNvSpPr/>
            <p:nvPr/>
          </p:nvSpPr>
          <p:spPr>
            <a:xfrm rot="16200000">
              <a:off x="801751" y="3140319"/>
              <a:ext cx="186954" cy="45719"/>
            </a:xfrm>
            <a:prstGeom prst="trapezoid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5" name="矩形 14">
            <a:extLst>
              <a:ext uri="{FF2B5EF4-FFF2-40B4-BE49-F238E27FC236}">
                <a16:creationId xmlns:a16="http://schemas.microsoft.com/office/drawing/2014/main" id="{B653AA84-AF0C-4F58-994D-6923A04D32F6}"/>
              </a:ext>
            </a:extLst>
          </p:cNvPr>
          <p:cNvSpPr/>
          <p:nvPr/>
        </p:nvSpPr>
        <p:spPr>
          <a:xfrm>
            <a:off x="555838" y="3738315"/>
            <a:ext cx="3320716" cy="45719"/>
          </a:xfrm>
          <a:prstGeom prst="rect">
            <a:avLst/>
          </a:prstGeom>
          <a:solidFill>
            <a:schemeClr val="bg1">
              <a:lumMod val="9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9E37FE1-C168-47BB-999E-E42245EE5D1C}"/>
              </a:ext>
            </a:extLst>
          </p:cNvPr>
          <p:cNvSpPr/>
          <p:nvPr/>
        </p:nvSpPr>
        <p:spPr>
          <a:xfrm>
            <a:off x="-160343" y="1201274"/>
            <a:ext cx="4408441" cy="5899957"/>
          </a:xfrm>
          <a:prstGeom prst="rect">
            <a:avLst/>
          </a:prstGeom>
          <a:blipFill dpi="0" rotWithShape="1">
            <a:blip r:embed="rId21">
              <a:alphaModFix amt="5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F9118F8-6C2D-BD9B-82BF-2777A08F1532}"/>
              </a:ext>
            </a:extLst>
          </p:cNvPr>
          <p:cNvGrpSpPr/>
          <p:nvPr/>
        </p:nvGrpSpPr>
        <p:grpSpPr>
          <a:xfrm>
            <a:off x="4977598" y="1674187"/>
            <a:ext cx="3768224" cy="3217203"/>
            <a:chOff x="4867549" y="1100660"/>
            <a:chExt cx="3768224" cy="3217203"/>
          </a:xfrm>
        </p:grpSpPr>
        <p:grpSp>
          <p:nvGrpSpPr>
            <p:cNvPr id="59" name="组合 58">
              <a:extLst>
                <a:ext uri="{FF2B5EF4-FFF2-40B4-BE49-F238E27FC236}">
                  <a16:creationId xmlns:a16="http://schemas.microsoft.com/office/drawing/2014/main" id="{296420E1-7519-DA35-65FE-364CC5A8DE6E}"/>
                </a:ext>
              </a:extLst>
            </p:cNvPr>
            <p:cNvGrpSpPr/>
            <p:nvPr/>
          </p:nvGrpSpPr>
          <p:grpSpPr>
            <a:xfrm>
              <a:off x="4886572" y="1100660"/>
              <a:ext cx="3738564" cy="913049"/>
              <a:chOff x="5412441" y="1148833"/>
              <a:chExt cx="5673819" cy="913049"/>
            </a:xfrm>
          </p:grpSpPr>
          <p:grpSp>
            <p:nvGrpSpPr>
              <p:cNvPr id="75" name="组合 74">
                <a:extLst>
                  <a:ext uri="{FF2B5EF4-FFF2-40B4-BE49-F238E27FC236}">
                    <a16:creationId xmlns:a16="http://schemas.microsoft.com/office/drawing/2014/main" id="{BDF230BD-C7FE-EDC6-357F-B3A15F950D83}"/>
                  </a:ext>
                </a:extLst>
              </p:cNvPr>
              <p:cNvGrpSpPr/>
              <p:nvPr/>
            </p:nvGrpSpPr>
            <p:grpSpPr>
              <a:xfrm>
                <a:off x="5412441" y="1148833"/>
                <a:ext cx="733232" cy="913049"/>
                <a:chOff x="5412441" y="1148833"/>
                <a:chExt cx="733232" cy="913049"/>
              </a:xfrm>
            </p:grpSpPr>
            <p:sp>
              <p:nvSpPr>
                <p:cNvPr id="77" name="矩形: 对角圆角 76">
                  <a:extLst>
                    <a:ext uri="{FF2B5EF4-FFF2-40B4-BE49-F238E27FC236}">
                      <a16:creationId xmlns:a16="http://schemas.microsoft.com/office/drawing/2014/main" id="{9F096BA8-B96B-FAD9-841C-85149FFD406E}"/>
                    </a:ext>
                  </a:extLst>
                </p:cNvPr>
                <p:cNvSpPr/>
                <p:nvPr>
                  <p:custDataLst>
                    <p:tags r:id="rId17"/>
                  </p:custDataLst>
                </p:nvPr>
              </p:nvSpPr>
              <p:spPr>
                <a:xfrm>
                  <a:off x="5412441" y="1776985"/>
                  <a:ext cx="696286" cy="284897"/>
                </a:xfrm>
                <a:prstGeom prst="round2DiagRect">
                  <a:avLst>
                    <a:gd name="adj1" fmla="val 50000"/>
                    <a:gd name="adj2" fmla="val 0"/>
                  </a:avLst>
                </a:prstGeom>
                <a:gradFill flip="none" rotWithShape="1">
                  <a:gsLst>
                    <a:gs pos="100000">
                      <a:schemeClr val="accent1">
                        <a:lumMod val="0"/>
                        <a:lumOff val="100000"/>
                        <a:alpha val="36000"/>
                      </a:schemeClr>
                    </a:gs>
                    <a:gs pos="0">
                      <a:srgbClr val="003F88"/>
                    </a:gs>
                  </a:gsLst>
                  <a:lin ang="1200000" scaled="0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0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8" name="文本框 77">
                  <a:extLst>
                    <a:ext uri="{FF2B5EF4-FFF2-40B4-BE49-F238E27FC236}">
                      <a16:creationId xmlns:a16="http://schemas.microsoft.com/office/drawing/2014/main" id="{91CBC980-D34E-9287-FCD6-2D0C4644AEDF}"/>
                    </a:ext>
                  </a:extLst>
                </p:cNvPr>
                <p:cNvSpPr txBox="1"/>
                <p:nvPr>
                  <p:custDataLst>
                    <p:tags r:id="rId18"/>
                  </p:custDataLst>
                </p:nvPr>
              </p:nvSpPr>
              <p:spPr>
                <a:xfrm>
                  <a:off x="5449387" y="1148833"/>
                  <a:ext cx="696286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:r>
                    <a:rPr lang="en-US" altLang="zh-CN" sz="3600" b="1" i="1" dirty="0">
                      <a:latin typeface="Arial" panose="020B0604020202020204" pitchFamily="34" charset="0"/>
                      <a:ea typeface="微软雅黑" panose="020B0503020204020204" pitchFamily="34" charset="-122"/>
                      <a:cs typeface="Arial" panose="020B0604020202020204" pitchFamily="34" charset="0"/>
                    </a:rPr>
                    <a:t>1</a:t>
                  </a:r>
                  <a:endParaRPr lang="zh-CN" altLang="en-US" sz="3600" b="1" i="1" dirty="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76" name="文本框 75">
                <a:extLst>
                  <a:ext uri="{FF2B5EF4-FFF2-40B4-BE49-F238E27FC236}">
                    <a16:creationId xmlns:a16="http://schemas.microsoft.com/office/drawing/2014/main" id="{E59F3A96-0792-B143-7BCD-19ECC282A47B}"/>
                  </a:ext>
                </a:extLst>
              </p:cNvPr>
              <p:cNvSpPr txBox="1"/>
              <p:nvPr>
                <p:custDataLst>
                  <p:tags r:id="rId16"/>
                </p:custDataLst>
              </p:nvPr>
            </p:nvSpPr>
            <p:spPr>
              <a:xfrm>
                <a:off x="6388424" y="1321853"/>
                <a:ext cx="469783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zh-CN" altLang="en-US" sz="28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总述</a:t>
                </a:r>
              </a:p>
            </p:txBody>
          </p:sp>
        </p:grpSp>
        <p:grpSp>
          <p:nvGrpSpPr>
            <p:cNvPr id="60" name="组合 59">
              <a:extLst>
                <a:ext uri="{FF2B5EF4-FFF2-40B4-BE49-F238E27FC236}">
                  <a16:creationId xmlns:a16="http://schemas.microsoft.com/office/drawing/2014/main" id="{A218B48B-EE00-6461-750B-6A43339FF058}"/>
                </a:ext>
              </a:extLst>
            </p:cNvPr>
            <p:cNvGrpSpPr/>
            <p:nvPr/>
          </p:nvGrpSpPr>
          <p:grpSpPr>
            <a:xfrm>
              <a:off x="4867549" y="2250503"/>
              <a:ext cx="3768224" cy="947415"/>
              <a:chOff x="5383571" y="1157893"/>
              <a:chExt cx="5718832" cy="947415"/>
            </a:xfrm>
          </p:grpSpPr>
          <p:grpSp>
            <p:nvGrpSpPr>
              <p:cNvPr id="71" name="组合 70">
                <a:extLst>
                  <a:ext uri="{FF2B5EF4-FFF2-40B4-BE49-F238E27FC236}">
                    <a16:creationId xmlns:a16="http://schemas.microsoft.com/office/drawing/2014/main" id="{3EE62A6D-0ABC-24F8-598E-E087A2EDECC1}"/>
                  </a:ext>
                </a:extLst>
              </p:cNvPr>
              <p:cNvGrpSpPr/>
              <p:nvPr/>
            </p:nvGrpSpPr>
            <p:grpSpPr>
              <a:xfrm>
                <a:off x="5383571" y="1157893"/>
                <a:ext cx="802465" cy="947415"/>
                <a:chOff x="5383571" y="1157893"/>
                <a:chExt cx="802465" cy="947415"/>
              </a:xfrm>
            </p:grpSpPr>
            <p:sp>
              <p:nvSpPr>
                <p:cNvPr id="73" name="矩形: 对角圆角 72">
                  <a:extLst>
                    <a:ext uri="{FF2B5EF4-FFF2-40B4-BE49-F238E27FC236}">
                      <a16:creationId xmlns:a16="http://schemas.microsoft.com/office/drawing/2014/main" id="{40DB15CE-DB5F-5CFB-6D5A-3B51BF92D97C}"/>
                    </a:ext>
                  </a:extLst>
                </p:cNvPr>
                <p:cNvSpPr/>
                <p:nvPr>
                  <p:custDataLst>
                    <p:tags r:id="rId14"/>
                  </p:custDataLst>
                </p:nvPr>
              </p:nvSpPr>
              <p:spPr>
                <a:xfrm>
                  <a:off x="5383571" y="1820411"/>
                  <a:ext cx="696286" cy="284897"/>
                </a:xfrm>
                <a:prstGeom prst="round2DiagRect">
                  <a:avLst>
                    <a:gd name="adj1" fmla="val 50000"/>
                    <a:gd name="adj2" fmla="val 0"/>
                  </a:avLst>
                </a:prstGeom>
                <a:gradFill flip="none" rotWithShape="1">
                  <a:gsLst>
                    <a:gs pos="100000">
                      <a:schemeClr val="accent1">
                        <a:lumMod val="0"/>
                        <a:lumOff val="100000"/>
                        <a:alpha val="36000"/>
                      </a:schemeClr>
                    </a:gs>
                    <a:gs pos="0">
                      <a:srgbClr val="003F88"/>
                    </a:gs>
                  </a:gsLst>
                  <a:lin ang="1200000" scaled="0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0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4" name="文本框 73">
                  <a:extLst>
                    <a:ext uri="{FF2B5EF4-FFF2-40B4-BE49-F238E27FC236}">
                      <a16:creationId xmlns:a16="http://schemas.microsoft.com/office/drawing/2014/main" id="{35EE23DD-C7B4-79E8-866B-66425BBD14AC}"/>
                    </a:ext>
                  </a:extLst>
                </p:cNvPr>
                <p:cNvSpPr txBox="1"/>
                <p:nvPr>
                  <p:custDataLst>
                    <p:tags r:id="rId15"/>
                  </p:custDataLst>
                </p:nvPr>
              </p:nvSpPr>
              <p:spPr>
                <a:xfrm>
                  <a:off x="5489750" y="1157893"/>
                  <a:ext cx="696286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:r>
                    <a:rPr lang="en-US" altLang="zh-CN" sz="3600" b="1" i="1" dirty="0">
                      <a:latin typeface="Arial" panose="020B0604020202020204" pitchFamily="34" charset="0"/>
                      <a:ea typeface="微软雅黑" panose="020B0503020204020204" pitchFamily="34" charset="-122"/>
                      <a:cs typeface="Arial" panose="020B0604020202020204" pitchFamily="34" charset="0"/>
                    </a:rPr>
                    <a:t>2</a:t>
                  </a:r>
                  <a:endParaRPr lang="zh-CN" altLang="en-US" sz="3600" b="1" i="1" dirty="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72" name="文本框 71">
                <a:extLst>
                  <a:ext uri="{FF2B5EF4-FFF2-40B4-BE49-F238E27FC236}">
                    <a16:creationId xmlns:a16="http://schemas.microsoft.com/office/drawing/2014/main" id="{6A167B01-41C6-8DBD-0DBE-B23F8B90B505}"/>
                  </a:ext>
                </a:extLst>
              </p:cNvPr>
              <p:cNvSpPr txBox="1"/>
              <p:nvPr>
                <p:custDataLst>
                  <p:tags r:id="rId13"/>
                </p:custDataLst>
              </p:nvPr>
            </p:nvSpPr>
            <p:spPr>
              <a:xfrm>
                <a:off x="6404568" y="1247901"/>
                <a:ext cx="469783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zh-CN" altLang="en-US" sz="28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系统架构</a:t>
                </a:r>
              </a:p>
            </p:txBody>
          </p:sp>
        </p:grpSp>
        <p:grpSp>
          <p:nvGrpSpPr>
            <p:cNvPr id="61" name="组合 60">
              <a:extLst>
                <a:ext uri="{FF2B5EF4-FFF2-40B4-BE49-F238E27FC236}">
                  <a16:creationId xmlns:a16="http://schemas.microsoft.com/office/drawing/2014/main" id="{18D344C4-7682-1F1F-887E-73D4798D24AD}"/>
                </a:ext>
              </a:extLst>
            </p:cNvPr>
            <p:cNvGrpSpPr/>
            <p:nvPr/>
          </p:nvGrpSpPr>
          <p:grpSpPr>
            <a:xfrm>
              <a:off x="4878186" y="3386610"/>
              <a:ext cx="3746950" cy="931253"/>
              <a:chOff x="5399714" y="1249447"/>
              <a:chExt cx="5686546" cy="931253"/>
            </a:xfrm>
          </p:grpSpPr>
          <p:grpSp>
            <p:nvGrpSpPr>
              <p:cNvPr id="67" name="组合 66">
                <a:extLst>
                  <a:ext uri="{FF2B5EF4-FFF2-40B4-BE49-F238E27FC236}">
                    <a16:creationId xmlns:a16="http://schemas.microsoft.com/office/drawing/2014/main" id="{C06939E5-4B0D-0336-4369-2586BB9B7709}"/>
                  </a:ext>
                </a:extLst>
              </p:cNvPr>
              <p:cNvGrpSpPr/>
              <p:nvPr/>
            </p:nvGrpSpPr>
            <p:grpSpPr>
              <a:xfrm>
                <a:off x="5399714" y="1249447"/>
                <a:ext cx="770179" cy="931253"/>
                <a:chOff x="5399714" y="1249447"/>
                <a:chExt cx="770179" cy="931253"/>
              </a:xfrm>
            </p:grpSpPr>
            <p:sp>
              <p:nvSpPr>
                <p:cNvPr id="69" name="矩形: 对角圆角 68">
                  <a:extLst>
                    <a:ext uri="{FF2B5EF4-FFF2-40B4-BE49-F238E27FC236}">
                      <a16:creationId xmlns:a16="http://schemas.microsoft.com/office/drawing/2014/main" id="{88355935-9555-714F-B679-EF799DE0A315}"/>
                    </a:ext>
                  </a:extLst>
                </p:cNvPr>
                <p:cNvSpPr/>
                <p:nvPr>
                  <p:custDataLst>
                    <p:tags r:id="rId11"/>
                  </p:custDataLst>
                </p:nvPr>
              </p:nvSpPr>
              <p:spPr>
                <a:xfrm>
                  <a:off x="5399714" y="1895803"/>
                  <a:ext cx="696286" cy="284897"/>
                </a:xfrm>
                <a:prstGeom prst="round2DiagRect">
                  <a:avLst>
                    <a:gd name="adj1" fmla="val 50000"/>
                    <a:gd name="adj2" fmla="val 0"/>
                  </a:avLst>
                </a:prstGeom>
                <a:gradFill flip="none" rotWithShape="1">
                  <a:gsLst>
                    <a:gs pos="100000">
                      <a:schemeClr val="accent1">
                        <a:lumMod val="0"/>
                        <a:lumOff val="100000"/>
                        <a:alpha val="36000"/>
                      </a:schemeClr>
                    </a:gs>
                    <a:gs pos="0">
                      <a:srgbClr val="003F88"/>
                    </a:gs>
                  </a:gsLst>
                  <a:lin ang="1200000" scaled="0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0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0" name="文本框 69">
                  <a:extLst>
                    <a:ext uri="{FF2B5EF4-FFF2-40B4-BE49-F238E27FC236}">
                      <a16:creationId xmlns:a16="http://schemas.microsoft.com/office/drawing/2014/main" id="{611EA25D-DD35-0272-6824-06190CD32503}"/>
                    </a:ext>
                  </a:extLst>
                </p:cNvPr>
                <p:cNvSpPr txBox="1"/>
                <p:nvPr>
                  <p:custDataLst>
                    <p:tags r:id="rId12"/>
                  </p:custDataLst>
                </p:nvPr>
              </p:nvSpPr>
              <p:spPr>
                <a:xfrm>
                  <a:off x="5473607" y="1249447"/>
                  <a:ext cx="696286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:r>
                    <a:rPr lang="en-US" altLang="zh-CN" sz="3600" b="1" i="1" dirty="0">
                      <a:latin typeface="Arial" panose="020B0604020202020204" pitchFamily="34" charset="0"/>
                      <a:ea typeface="微软雅黑" panose="020B0503020204020204" pitchFamily="34" charset="-122"/>
                      <a:cs typeface="Arial" panose="020B0604020202020204" pitchFamily="34" charset="0"/>
                    </a:rPr>
                    <a:t>3</a:t>
                  </a:r>
                  <a:endParaRPr lang="zh-CN" altLang="en-US" sz="3600" b="1" i="1" dirty="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68" name="文本框 67">
                <a:extLst>
                  <a:ext uri="{FF2B5EF4-FFF2-40B4-BE49-F238E27FC236}">
                    <a16:creationId xmlns:a16="http://schemas.microsoft.com/office/drawing/2014/main" id="{60FC4635-4ECC-7E0D-73CE-2DEBFCCD0EF3}"/>
                  </a:ext>
                </a:extLst>
              </p:cNvPr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6388425" y="1380521"/>
                <a:ext cx="469783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zh-CN" altLang="en-US" sz="28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硬件方案</a:t>
                </a:r>
              </a:p>
            </p:txBody>
          </p:sp>
        </p:grpSp>
      </p:grpSp>
      <p:grpSp>
        <p:nvGrpSpPr>
          <p:cNvPr id="62" name="组合 61">
            <a:extLst>
              <a:ext uri="{FF2B5EF4-FFF2-40B4-BE49-F238E27FC236}">
                <a16:creationId xmlns:a16="http://schemas.microsoft.com/office/drawing/2014/main" id="{BDEC6AEA-07B5-9F71-2FA9-0CC0049E798F}"/>
              </a:ext>
            </a:extLst>
          </p:cNvPr>
          <p:cNvGrpSpPr/>
          <p:nvPr/>
        </p:nvGrpSpPr>
        <p:grpSpPr>
          <a:xfrm>
            <a:off x="8143035" y="1669331"/>
            <a:ext cx="3746950" cy="1085181"/>
            <a:chOff x="5399714" y="1249447"/>
            <a:chExt cx="5686546" cy="1085181"/>
          </a:xfrm>
        </p:grpSpPr>
        <p:grpSp>
          <p:nvGrpSpPr>
            <p:cNvPr id="63" name="组合 62">
              <a:extLst>
                <a:ext uri="{FF2B5EF4-FFF2-40B4-BE49-F238E27FC236}">
                  <a16:creationId xmlns:a16="http://schemas.microsoft.com/office/drawing/2014/main" id="{68385226-9B9D-2BC6-685E-663180F37293}"/>
                </a:ext>
              </a:extLst>
            </p:cNvPr>
            <p:cNvGrpSpPr/>
            <p:nvPr/>
          </p:nvGrpSpPr>
          <p:grpSpPr>
            <a:xfrm>
              <a:off x="5399714" y="1249447"/>
              <a:ext cx="770179" cy="931253"/>
              <a:chOff x="5399714" y="1249447"/>
              <a:chExt cx="770179" cy="931253"/>
            </a:xfrm>
          </p:grpSpPr>
          <p:sp>
            <p:nvSpPr>
              <p:cNvPr id="65" name="矩形: 对角圆角 64">
                <a:extLst>
                  <a:ext uri="{FF2B5EF4-FFF2-40B4-BE49-F238E27FC236}">
                    <a16:creationId xmlns:a16="http://schemas.microsoft.com/office/drawing/2014/main" id="{44CEC47E-E37F-8CE9-E333-48DBF8A2BDE6}"/>
                  </a:ext>
                </a:extLst>
              </p:cNvPr>
              <p:cNvSpPr/>
              <p:nvPr/>
            </p:nvSpPr>
            <p:spPr>
              <a:xfrm>
                <a:off x="5399714" y="1895803"/>
                <a:ext cx="696286" cy="284897"/>
              </a:xfrm>
              <a:prstGeom prst="round2DiagRect">
                <a:avLst>
                  <a:gd name="adj1" fmla="val 50000"/>
                  <a:gd name="adj2" fmla="val 0"/>
                </a:avLst>
              </a:prstGeom>
              <a:gradFill flip="none" rotWithShape="1">
                <a:gsLst>
                  <a:gs pos="100000">
                    <a:schemeClr val="accent1">
                      <a:lumMod val="0"/>
                      <a:lumOff val="100000"/>
                      <a:alpha val="36000"/>
                    </a:schemeClr>
                  </a:gs>
                  <a:gs pos="0">
                    <a:srgbClr val="003F88"/>
                  </a:gs>
                </a:gsLst>
                <a:lin ang="1200000" scaled="0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050">
                  <a:solidFill>
                    <a:schemeClr val="tx1"/>
                  </a:solidFill>
                </a:endParaRPr>
              </a:p>
            </p:txBody>
          </p:sp>
          <p:sp>
            <p:nvSpPr>
              <p:cNvPr id="66" name="文本框 65">
                <a:extLst>
                  <a:ext uri="{FF2B5EF4-FFF2-40B4-BE49-F238E27FC236}">
                    <a16:creationId xmlns:a16="http://schemas.microsoft.com/office/drawing/2014/main" id="{B39BCACB-C7E3-3AB9-7A2A-761EA4B64477}"/>
                  </a:ext>
                </a:extLst>
              </p:cNvPr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5473607" y="1249447"/>
                <a:ext cx="696286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altLang="zh-CN" sz="3600" b="1" i="1" dirty="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4</a:t>
                </a:r>
                <a:endParaRPr lang="zh-CN" altLang="en-US" sz="3600" b="1" i="1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64" name="文本框 63">
              <a:extLst>
                <a:ext uri="{FF2B5EF4-FFF2-40B4-BE49-F238E27FC236}">
                  <a16:creationId xmlns:a16="http://schemas.microsoft.com/office/drawing/2014/main" id="{515398C8-2FBC-1252-79C1-B4AF1E86F6ED}"/>
                </a:ext>
              </a:extLst>
            </p:cNvPr>
            <p:cNvSpPr txBox="1"/>
            <p:nvPr>
              <p:custDataLst>
                <p:tags r:id="rId8"/>
              </p:custDataLst>
            </p:nvPr>
          </p:nvSpPr>
          <p:spPr>
            <a:xfrm>
              <a:off x="6388424" y="1380521"/>
              <a:ext cx="4697836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软件方案</a:t>
              </a:r>
            </a:p>
            <a:p>
              <a:pPr algn="l"/>
              <a:endPara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595BCFAA-7423-445F-6BE5-5496414A6E14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8098661" y="2754512"/>
            <a:ext cx="3791324" cy="2072036"/>
            <a:chOff x="4685252" y="703301"/>
            <a:chExt cx="5753890" cy="2072036"/>
          </a:xfrm>
        </p:grpSpPr>
        <p:grpSp>
          <p:nvGrpSpPr>
            <p:cNvPr id="39" name="组合 38">
              <a:extLst>
                <a:ext uri="{FF2B5EF4-FFF2-40B4-BE49-F238E27FC236}">
                  <a16:creationId xmlns:a16="http://schemas.microsoft.com/office/drawing/2014/main" id="{717966DF-07C6-6868-45D8-4ED599E94E26}"/>
                </a:ext>
              </a:extLst>
            </p:cNvPr>
            <p:cNvGrpSpPr/>
            <p:nvPr/>
          </p:nvGrpSpPr>
          <p:grpSpPr>
            <a:xfrm>
              <a:off x="4752596" y="703301"/>
              <a:ext cx="5686546" cy="931253"/>
              <a:chOff x="5399714" y="1249447"/>
              <a:chExt cx="5686546" cy="931253"/>
            </a:xfrm>
          </p:grpSpPr>
          <p:grpSp>
            <p:nvGrpSpPr>
              <p:cNvPr id="55" name="组合 54">
                <a:extLst>
                  <a:ext uri="{FF2B5EF4-FFF2-40B4-BE49-F238E27FC236}">
                    <a16:creationId xmlns:a16="http://schemas.microsoft.com/office/drawing/2014/main" id="{439716B7-CD5E-CD52-D004-42C029638221}"/>
                  </a:ext>
                </a:extLst>
              </p:cNvPr>
              <p:cNvGrpSpPr/>
              <p:nvPr/>
            </p:nvGrpSpPr>
            <p:grpSpPr>
              <a:xfrm>
                <a:off x="5399714" y="1249447"/>
                <a:ext cx="770179" cy="931253"/>
                <a:chOff x="5399714" y="1249447"/>
                <a:chExt cx="770179" cy="931253"/>
              </a:xfrm>
            </p:grpSpPr>
            <p:sp>
              <p:nvSpPr>
                <p:cNvPr id="57" name="矩形: 对角圆角 56">
                  <a:extLst>
                    <a:ext uri="{FF2B5EF4-FFF2-40B4-BE49-F238E27FC236}">
                      <a16:creationId xmlns:a16="http://schemas.microsoft.com/office/drawing/2014/main" id="{360BCB5F-A9AE-D661-D407-43B293A35466}"/>
                    </a:ext>
                  </a:extLst>
                </p:cNvPr>
                <p:cNvSpPr/>
                <p:nvPr>
                  <p:custDataLst>
                    <p:tags r:id="rId6"/>
                  </p:custDataLst>
                </p:nvPr>
              </p:nvSpPr>
              <p:spPr>
                <a:xfrm>
                  <a:off x="5399714" y="1895803"/>
                  <a:ext cx="696286" cy="284897"/>
                </a:xfrm>
                <a:prstGeom prst="round2DiagRect">
                  <a:avLst>
                    <a:gd name="adj1" fmla="val 50000"/>
                    <a:gd name="adj2" fmla="val 0"/>
                  </a:avLst>
                </a:prstGeom>
                <a:gradFill flip="none" rotWithShape="1">
                  <a:gsLst>
                    <a:gs pos="100000">
                      <a:schemeClr val="accent1">
                        <a:lumMod val="0"/>
                        <a:lumOff val="100000"/>
                        <a:alpha val="36000"/>
                      </a:schemeClr>
                    </a:gs>
                    <a:gs pos="0">
                      <a:srgbClr val="003F88"/>
                    </a:gs>
                  </a:gsLst>
                  <a:lin ang="1200000" scaled="0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0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8" name="文本框 57">
                  <a:extLst>
                    <a:ext uri="{FF2B5EF4-FFF2-40B4-BE49-F238E27FC236}">
                      <a16:creationId xmlns:a16="http://schemas.microsoft.com/office/drawing/2014/main" id="{C19F2E3B-EE5A-CAC1-48DB-B154A41ABDDE}"/>
                    </a:ext>
                  </a:extLst>
                </p:cNvPr>
                <p:cNvSpPr txBox="1"/>
                <p:nvPr>
                  <p:custDataLst>
                    <p:tags r:id="rId7"/>
                  </p:custDataLst>
                </p:nvPr>
              </p:nvSpPr>
              <p:spPr>
                <a:xfrm>
                  <a:off x="5473607" y="1249447"/>
                  <a:ext cx="696286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:r>
                    <a:rPr lang="en-US" altLang="zh-CN" sz="3600" b="1" i="1" dirty="0">
                      <a:latin typeface="Arial" panose="020B0604020202020204" pitchFamily="34" charset="0"/>
                      <a:ea typeface="微软雅黑" panose="020B0503020204020204" pitchFamily="34" charset="-122"/>
                      <a:cs typeface="Arial" panose="020B0604020202020204" pitchFamily="34" charset="0"/>
                    </a:rPr>
                    <a:t>5</a:t>
                  </a:r>
                  <a:endParaRPr lang="zh-CN" altLang="en-US" sz="3600" b="1" i="1" dirty="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56" name="文本框 55">
                <a:extLst>
                  <a:ext uri="{FF2B5EF4-FFF2-40B4-BE49-F238E27FC236}">
                    <a16:creationId xmlns:a16="http://schemas.microsoft.com/office/drawing/2014/main" id="{276B5B0A-E8CA-4838-A54E-E9D71DC4B3E6}"/>
                  </a:ext>
                </a:extLst>
              </p:cNvPr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6388424" y="1380521"/>
                <a:ext cx="469783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zh-CN" altLang="en-US" sz="28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当前成果</a:t>
                </a:r>
              </a:p>
            </p:txBody>
          </p:sp>
        </p:grpSp>
        <p:grpSp>
          <p:nvGrpSpPr>
            <p:cNvPr id="51" name="组合 50">
              <a:extLst>
                <a:ext uri="{FF2B5EF4-FFF2-40B4-BE49-F238E27FC236}">
                  <a16:creationId xmlns:a16="http://schemas.microsoft.com/office/drawing/2014/main" id="{2C2C0140-BE29-A931-A1AD-A8EEF3E4DC4D}"/>
                </a:ext>
              </a:extLst>
            </p:cNvPr>
            <p:cNvGrpSpPr/>
            <p:nvPr/>
          </p:nvGrpSpPr>
          <p:grpSpPr>
            <a:xfrm>
              <a:off x="4685252" y="1879505"/>
              <a:ext cx="763630" cy="895832"/>
              <a:chOff x="5332370" y="1284868"/>
              <a:chExt cx="763630" cy="895832"/>
            </a:xfrm>
          </p:grpSpPr>
          <p:sp>
            <p:nvSpPr>
              <p:cNvPr id="53" name="矩形: 对角圆角 52">
                <a:extLst>
                  <a:ext uri="{FF2B5EF4-FFF2-40B4-BE49-F238E27FC236}">
                    <a16:creationId xmlns:a16="http://schemas.microsoft.com/office/drawing/2014/main" id="{2A4C4E1B-A2C8-9A1F-87ED-A922FF83E343}"/>
                  </a:ext>
                </a:extLst>
              </p:cNvPr>
              <p:cNvSpPr/>
              <p:nvPr>
                <p:custDataLst>
                  <p:tags r:id="rId3"/>
                </p:custDataLst>
              </p:nvPr>
            </p:nvSpPr>
            <p:spPr>
              <a:xfrm>
                <a:off x="5399714" y="1895803"/>
                <a:ext cx="696286" cy="284897"/>
              </a:xfrm>
              <a:prstGeom prst="round2DiagRect">
                <a:avLst>
                  <a:gd name="adj1" fmla="val 50000"/>
                  <a:gd name="adj2" fmla="val 0"/>
                </a:avLst>
              </a:prstGeom>
              <a:gradFill flip="none" rotWithShape="1">
                <a:gsLst>
                  <a:gs pos="100000">
                    <a:schemeClr val="accent1">
                      <a:lumMod val="0"/>
                      <a:lumOff val="100000"/>
                      <a:alpha val="36000"/>
                    </a:schemeClr>
                  </a:gs>
                  <a:gs pos="0">
                    <a:srgbClr val="003F88"/>
                  </a:gs>
                </a:gsLst>
                <a:lin ang="1200000" scaled="0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050">
                  <a:solidFill>
                    <a:schemeClr val="tx1"/>
                  </a:solidFill>
                </a:endParaRPr>
              </a:p>
            </p:txBody>
          </p:sp>
          <p:sp>
            <p:nvSpPr>
              <p:cNvPr id="54" name="文本框 53">
                <a:extLst>
                  <a:ext uri="{FF2B5EF4-FFF2-40B4-BE49-F238E27FC236}">
                    <a16:creationId xmlns:a16="http://schemas.microsoft.com/office/drawing/2014/main" id="{F13E5474-DD50-5488-F2F2-C5B8203CEF2E}"/>
                  </a:ext>
                </a:extLst>
              </p:cNvPr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5332370" y="1284868"/>
                <a:ext cx="696286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altLang="zh-CN" sz="3600" b="1" i="1" dirty="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6</a:t>
                </a:r>
                <a:endParaRPr lang="zh-CN" altLang="en-US" sz="3600" b="1" i="1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48" name="文本框 47">
              <a:extLst>
                <a:ext uri="{FF2B5EF4-FFF2-40B4-BE49-F238E27FC236}">
                  <a16:creationId xmlns:a16="http://schemas.microsoft.com/office/drawing/2014/main" id="{72D5DE53-5562-32E5-F874-15643FF5FEA0}"/>
                </a:ext>
              </a:extLst>
            </p:cNvPr>
            <p:cNvSpPr txBox="1"/>
            <p:nvPr>
              <p:custDataLst>
                <p:tags r:id="rId2"/>
              </p:custDataLst>
            </p:nvPr>
          </p:nvSpPr>
          <p:spPr>
            <a:xfrm>
              <a:off x="5741306" y="1967195"/>
              <a:ext cx="4697836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2800" b="1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下一阶段规划</a:t>
              </a:r>
              <a:endPara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513694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椭圆 67">
            <a:extLst>
              <a:ext uri="{FF2B5EF4-FFF2-40B4-BE49-F238E27FC236}">
                <a16:creationId xmlns:a16="http://schemas.microsoft.com/office/drawing/2014/main" id="{46877AA8-411D-4AA0-B3B0-FEE39681F05D}"/>
              </a:ext>
            </a:extLst>
          </p:cNvPr>
          <p:cNvSpPr/>
          <p:nvPr/>
        </p:nvSpPr>
        <p:spPr>
          <a:xfrm>
            <a:off x="-2227898" y="1141776"/>
            <a:ext cx="4468833" cy="4468833"/>
          </a:xfrm>
          <a:prstGeom prst="ellipse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" name="椭圆 71">
            <a:extLst>
              <a:ext uri="{FF2B5EF4-FFF2-40B4-BE49-F238E27FC236}">
                <a16:creationId xmlns:a16="http://schemas.microsoft.com/office/drawing/2014/main" id="{46877AA8-411D-4AA0-B3B0-FEE39681F05D}"/>
              </a:ext>
            </a:extLst>
          </p:cNvPr>
          <p:cNvSpPr/>
          <p:nvPr/>
        </p:nvSpPr>
        <p:spPr>
          <a:xfrm>
            <a:off x="-3348128" y="7050"/>
            <a:ext cx="6801183" cy="6801183"/>
          </a:xfrm>
          <a:prstGeom prst="ellipse">
            <a:avLst/>
          </a:prstGeom>
          <a:noFill/>
          <a:ln w="190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grpSp>
        <p:nvGrpSpPr>
          <p:cNvPr id="58" name="组合 57">
            <a:extLst>
              <a:ext uri="{FF2B5EF4-FFF2-40B4-BE49-F238E27FC236}">
                <a16:creationId xmlns:a16="http://schemas.microsoft.com/office/drawing/2014/main" id="{1FCE890F-2266-4D51-8D6D-D6AC80E0D06A}"/>
              </a:ext>
            </a:extLst>
          </p:cNvPr>
          <p:cNvGrpSpPr/>
          <p:nvPr/>
        </p:nvGrpSpPr>
        <p:grpSpPr>
          <a:xfrm>
            <a:off x="-1723183" y="1645215"/>
            <a:ext cx="3561488" cy="3561488"/>
            <a:chOff x="3113734" y="1203967"/>
            <a:chExt cx="3561488" cy="3561488"/>
          </a:xfrm>
        </p:grpSpPr>
        <p:sp>
          <p:nvSpPr>
            <p:cNvPr id="59" name="椭圆 58">
              <a:extLst>
                <a:ext uri="{FF2B5EF4-FFF2-40B4-BE49-F238E27FC236}">
                  <a16:creationId xmlns:a16="http://schemas.microsoft.com/office/drawing/2014/main" id="{40ABE50A-EBAB-4BC6-9E9B-289AA5EDF3D8}"/>
                </a:ext>
              </a:extLst>
            </p:cNvPr>
            <p:cNvSpPr/>
            <p:nvPr/>
          </p:nvSpPr>
          <p:spPr>
            <a:xfrm rot="7677188">
              <a:off x="3113734" y="1203967"/>
              <a:ext cx="3561488" cy="3561488"/>
            </a:xfrm>
            <a:prstGeom prst="ellipse">
              <a:avLst/>
            </a:prstGeom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51000">
                  <a:srgbClr val="CFDBDF">
                    <a:alpha val="59000"/>
                  </a:srgbClr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0" name="椭圆 59">
              <a:extLst>
                <a:ext uri="{FF2B5EF4-FFF2-40B4-BE49-F238E27FC236}">
                  <a16:creationId xmlns:a16="http://schemas.microsoft.com/office/drawing/2014/main" id="{511FFD9C-3F39-4B0F-BBC3-8EDD18FED1B1}"/>
                </a:ext>
              </a:extLst>
            </p:cNvPr>
            <p:cNvSpPr/>
            <p:nvPr/>
          </p:nvSpPr>
          <p:spPr>
            <a:xfrm rot="7915019">
              <a:off x="3359185" y="1449419"/>
              <a:ext cx="3070585" cy="3070585"/>
            </a:xfrm>
            <a:prstGeom prst="ellipse">
              <a:avLst/>
            </a:prstGeom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51000">
                  <a:srgbClr val="CFDBDF">
                    <a:alpha val="59000"/>
                  </a:srgbClr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dirty="0"/>
            </a:p>
          </p:txBody>
        </p:sp>
        <p:sp>
          <p:nvSpPr>
            <p:cNvPr id="61" name="椭圆 60">
              <a:extLst>
                <a:ext uri="{FF2B5EF4-FFF2-40B4-BE49-F238E27FC236}">
                  <a16:creationId xmlns:a16="http://schemas.microsoft.com/office/drawing/2014/main" id="{0F643F14-D4C8-4539-941E-3E789A32B3C7}"/>
                </a:ext>
              </a:extLst>
            </p:cNvPr>
            <p:cNvSpPr/>
            <p:nvPr/>
          </p:nvSpPr>
          <p:spPr>
            <a:xfrm rot="7915019">
              <a:off x="3742443" y="1796326"/>
              <a:ext cx="2376770" cy="2376770"/>
            </a:xfrm>
            <a:prstGeom prst="ellipse">
              <a:avLst/>
            </a:prstGeom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51000">
                  <a:srgbClr val="CFDBDF">
                    <a:alpha val="59000"/>
                  </a:srgbClr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椭圆 61">
              <a:extLst>
                <a:ext uri="{FF2B5EF4-FFF2-40B4-BE49-F238E27FC236}">
                  <a16:creationId xmlns:a16="http://schemas.microsoft.com/office/drawing/2014/main" id="{929F3B36-F819-49C4-9644-A9A488A4054E}"/>
                </a:ext>
              </a:extLst>
            </p:cNvPr>
            <p:cNvSpPr/>
            <p:nvPr/>
          </p:nvSpPr>
          <p:spPr>
            <a:xfrm rot="7915019">
              <a:off x="4058337" y="2090247"/>
              <a:ext cx="1788928" cy="1788928"/>
            </a:xfrm>
            <a:prstGeom prst="ellipse">
              <a:avLst/>
            </a:prstGeom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51000">
                  <a:srgbClr val="CFDBDF">
                    <a:alpha val="59000"/>
                  </a:srgbClr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" name="椭圆 62">
              <a:extLst>
                <a:ext uri="{FF2B5EF4-FFF2-40B4-BE49-F238E27FC236}">
                  <a16:creationId xmlns:a16="http://schemas.microsoft.com/office/drawing/2014/main" id="{C1BD2FB1-AE1C-4EFD-8FF8-19F9EC69D0A9}"/>
                </a:ext>
              </a:extLst>
            </p:cNvPr>
            <p:cNvSpPr/>
            <p:nvPr/>
          </p:nvSpPr>
          <p:spPr>
            <a:xfrm rot="7915019">
              <a:off x="4331361" y="2363271"/>
              <a:ext cx="1242880" cy="1242880"/>
            </a:xfrm>
            <a:prstGeom prst="ellipse">
              <a:avLst/>
            </a:prstGeom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51000">
                  <a:srgbClr val="CFDBDF">
                    <a:alpha val="59000"/>
                  </a:srgbClr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80" name="组合 79">
            <a:extLst>
              <a:ext uri="{FF2B5EF4-FFF2-40B4-BE49-F238E27FC236}">
                <a16:creationId xmlns:a16="http://schemas.microsoft.com/office/drawing/2014/main" id="{37829B0B-5A9B-4B9C-B0E1-1CCA02543961}"/>
              </a:ext>
            </a:extLst>
          </p:cNvPr>
          <p:cNvGrpSpPr/>
          <p:nvPr/>
        </p:nvGrpSpPr>
        <p:grpSpPr>
          <a:xfrm>
            <a:off x="-3825568" y="-597906"/>
            <a:ext cx="7818647" cy="7806186"/>
            <a:chOff x="-3825568" y="-597906"/>
            <a:chExt cx="7818647" cy="7806186"/>
          </a:xfrm>
        </p:grpSpPr>
        <p:sp>
          <p:nvSpPr>
            <p:cNvPr id="73" name="椭圆 72">
              <a:extLst>
                <a:ext uri="{FF2B5EF4-FFF2-40B4-BE49-F238E27FC236}">
                  <a16:creationId xmlns:a16="http://schemas.microsoft.com/office/drawing/2014/main" id="{46877AA8-411D-4AA0-B3B0-FEE39681F05D}"/>
                </a:ext>
              </a:extLst>
            </p:cNvPr>
            <p:cNvSpPr/>
            <p:nvPr/>
          </p:nvSpPr>
          <p:spPr>
            <a:xfrm>
              <a:off x="-3825568" y="-597906"/>
              <a:ext cx="7806186" cy="7806186"/>
            </a:xfrm>
            <a:prstGeom prst="ellipse">
              <a:avLst/>
            </a:prstGeom>
            <a:noFill/>
            <a:ln w="19050"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74" name="椭圆 73">
              <a:extLst>
                <a:ext uri="{FF2B5EF4-FFF2-40B4-BE49-F238E27FC236}">
                  <a16:creationId xmlns:a16="http://schemas.microsoft.com/office/drawing/2014/main" id="{499F5F29-E237-4E5E-B5D6-BBD32A0F4ECE}"/>
                </a:ext>
              </a:extLst>
            </p:cNvPr>
            <p:cNvSpPr/>
            <p:nvPr/>
          </p:nvSpPr>
          <p:spPr>
            <a:xfrm>
              <a:off x="3801322" y="4096625"/>
              <a:ext cx="191757" cy="191757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81" name="组合 80">
            <a:extLst>
              <a:ext uri="{FF2B5EF4-FFF2-40B4-BE49-F238E27FC236}">
                <a16:creationId xmlns:a16="http://schemas.microsoft.com/office/drawing/2014/main" id="{053DA0DD-4047-4DC2-A40F-91B394A6AD55}"/>
              </a:ext>
            </a:extLst>
          </p:cNvPr>
          <p:cNvGrpSpPr/>
          <p:nvPr/>
        </p:nvGrpSpPr>
        <p:grpSpPr>
          <a:xfrm>
            <a:off x="-4570914" y="-1201240"/>
            <a:ext cx="9154865" cy="9154865"/>
            <a:chOff x="-4570914" y="-1201240"/>
            <a:chExt cx="9154865" cy="9154865"/>
          </a:xfrm>
        </p:grpSpPr>
        <p:sp>
          <p:nvSpPr>
            <p:cNvPr id="69" name="椭圆 68">
              <a:extLst>
                <a:ext uri="{FF2B5EF4-FFF2-40B4-BE49-F238E27FC236}">
                  <a16:creationId xmlns:a16="http://schemas.microsoft.com/office/drawing/2014/main" id="{1C58B547-CEC9-450F-989C-D21D5ED3DA8D}"/>
                </a:ext>
              </a:extLst>
            </p:cNvPr>
            <p:cNvSpPr/>
            <p:nvPr/>
          </p:nvSpPr>
          <p:spPr>
            <a:xfrm>
              <a:off x="-4570914" y="-1201240"/>
              <a:ext cx="9154865" cy="9154865"/>
            </a:xfrm>
            <a:prstGeom prst="ellipse">
              <a:avLst/>
            </a:prstGeom>
            <a:noFill/>
            <a:ln w="19050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E96C7865-2DFB-48F1-A5FD-F3477B7759D7}"/>
                </a:ext>
              </a:extLst>
            </p:cNvPr>
            <p:cNvSpPr/>
            <p:nvPr/>
          </p:nvSpPr>
          <p:spPr>
            <a:xfrm flipV="1">
              <a:off x="3777407" y="826257"/>
              <a:ext cx="141217" cy="141217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5" name="椭圆 74">
              <a:extLst>
                <a:ext uri="{FF2B5EF4-FFF2-40B4-BE49-F238E27FC236}">
                  <a16:creationId xmlns:a16="http://schemas.microsoft.com/office/drawing/2014/main" id="{142B77D9-3702-45EE-BB9A-40548AFDC8B2}"/>
                </a:ext>
              </a:extLst>
            </p:cNvPr>
            <p:cNvSpPr/>
            <p:nvPr/>
          </p:nvSpPr>
          <p:spPr>
            <a:xfrm>
              <a:off x="3260059" y="6339683"/>
              <a:ext cx="258983" cy="258983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9C0CB23D-E4B8-4E42-B322-22AB33DACB62}"/>
              </a:ext>
            </a:extLst>
          </p:cNvPr>
          <p:cNvGrpSpPr/>
          <p:nvPr/>
        </p:nvGrpSpPr>
        <p:grpSpPr>
          <a:xfrm>
            <a:off x="-2536657" y="833017"/>
            <a:ext cx="5146988" cy="5086350"/>
            <a:chOff x="-2536657" y="833017"/>
            <a:chExt cx="5146988" cy="5086350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7B7EE328-AF60-4DEF-9DE1-23B70D754F2C}"/>
                </a:ext>
              </a:extLst>
            </p:cNvPr>
            <p:cNvSpPr/>
            <p:nvPr/>
          </p:nvSpPr>
          <p:spPr>
            <a:xfrm>
              <a:off x="-2536657" y="833017"/>
              <a:ext cx="5086350" cy="5086350"/>
            </a:xfrm>
            <a:prstGeom prst="ellipse">
              <a:avLst/>
            </a:prstGeom>
            <a:noFill/>
            <a:ln w="19050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椭圆 76">
              <a:extLst>
                <a:ext uri="{FF2B5EF4-FFF2-40B4-BE49-F238E27FC236}">
                  <a16:creationId xmlns:a16="http://schemas.microsoft.com/office/drawing/2014/main" id="{499F5F29-E237-4E5E-B5D6-BBD32A0F4ECE}"/>
                </a:ext>
              </a:extLst>
            </p:cNvPr>
            <p:cNvSpPr/>
            <p:nvPr/>
          </p:nvSpPr>
          <p:spPr>
            <a:xfrm>
              <a:off x="2407661" y="2881021"/>
              <a:ext cx="202670" cy="20267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</p:grp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77B51F40-2ECA-4E72-A26A-6ACB60EE7C2D}"/>
              </a:ext>
            </a:extLst>
          </p:cNvPr>
          <p:cNvGrpSpPr/>
          <p:nvPr/>
        </p:nvGrpSpPr>
        <p:grpSpPr>
          <a:xfrm>
            <a:off x="-2956972" y="412702"/>
            <a:ext cx="5926981" cy="5926981"/>
            <a:chOff x="-2956972" y="412702"/>
            <a:chExt cx="5926981" cy="5926981"/>
          </a:xfrm>
        </p:grpSpPr>
        <p:sp>
          <p:nvSpPr>
            <p:cNvPr id="78" name="椭圆 77">
              <a:extLst>
                <a:ext uri="{FF2B5EF4-FFF2-40B4-BE49-F238E27FC236}">
                  <a16:creationId xmlns:a16="http://schemas.microsoft.com/office/drawing/2014/main" id="{499F5F29-E237-4E5E-B5D6-BBD32A0F4ECE}"/>
                </a:ext>
              </a:extLst>
            </p:cNvPr>
            <p:cNvSpPr/>
            <p:nvPr/>
          </p:nvSpPr>
          <p:spPr>
            <a:xfrm>
              <a:off x="1607992" y="5729314"/>
              <a:ext cx="164117" cy="164117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grpSp>
          <p:nvGrpSpPr>
            <p:cNvPr id="35" name="组合 34">
              <a:extLst>
                <a:ext uri="{FF2B5EF4-FFF2-40B4-BE49-F238E27FC236}">
                  <a16:creationId xmlns:a16="http://schemas.microsoft.com/office/drawing/2014/main" id="{48BF3A13-DCDD-49D5-809B-2EE13734DE6A}"/>
                </a:ext>
              </a:extLst>
            </p:cNvPr>
            <p:cNvGrpSpPr/>
            <p:nvPr/>
          </p:nvGrpSpPr>
          <p:grpSpPr>
            <a:xfrm>
              <a:off x="-2956972" y="412702"/>
              <a:ext cx="5926981" cy="5926981"/>
              <a:chOff x="-2956972" y="412702"/>
              <a:chExt cx="5926981" cy="5926981"/>
            </a:xfrm>
          </p:grpSpPr>
          <p:sp>
            <p:nvSpPr>
              <p:cNvPr id="70" name="椭圆 69">
                <a:extLst>
                  <a:ext uri="{FF2B5EF4-FFF2-40B4-BE49-F238E27FC236}">
                    <a16:creationId xmlns:a16="http://schemas.microsoft.com/office/drawing/2014/main" id="{A2F14075-5B78-4B43-89BE-F84554BAFCB3}"/>
                  </a:ext>
                </a:extLst>
              </p:cNvPr>
              <p:cNvSpPr/>
              <p:nvPr/>
            </p:nvSpPr>
            <p:spPr>
              <a:xfrm>
                <a:off x="-2956972" y="412702"/>
                <a:ext cx="5926981" cy="5926981"/>
              </a:xfrm>
              <a:prstGeom prst="ellipse">
                <a:avLst/>
              </a:prstGeom>
              <a:noFill/>
              <a:ln w="19050"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" name="椭圆 78">
                <a:extLst>
                  <a:ext uri="{FF2B5EF4-FFF2-40B4-BE49-F238E27FC236}">
                    <a16:creationId xmlns:a16="http://schemas.microsoft.com/office/drawing/2014/main" id="{499F5F29-E237-4E5E-B5D6-BBD32A0F4ECE}"/>
                  </a:ext>
                </a:extLst>
              </p:cNvPr>
              <p:cNvSpPr/>
              <p:nvPr/>
            </p:nvSpPr>
            <p:spPr>
              <a:xfrm>
                <a:off x="839721" y="450570"/>
                <a:ext cx="153740" cy="153740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</p:grpSp>
      </p:grpSp>
      <p:pic>
        <p:nvPicPr>
          <p:cNvPr id="2" name="图片 1">
            <a:extLst>
              <a:ext uri="{FF2B5EF4-FFF2-40B4-BE49-F238E27FC236}">
                <a16:creationId xmlns:a16="http://schemas.microsoft.com/office/drawing/2014/main" id="{E7F1342A-5392-472C-9830-206BAB5540AF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-1088155" y="2250815"/>
            <a:ext cx="2790933" cy="2210668"/>
          </a:xfrm>
          <a:prstGeom prst="rect">
            <a:avLst/>
          </a:prstGeom>
        </p:spPr>
      </p:pic>
      <p:grpSp>
        <p:nvGrpSpPr>
          <p:cNvPr id="10" name="组合 9">
            <a:extLst>
              <a:ext uri="{FF2B5EF4-FFF2-40B4-BE49-F238E27FC236}">
                <a16:creationId xmlns:a16="http://schemas.microsoft.com/office/drawing/2014/main" id="{2A1FE6DB-522F-F4DA-A853-18FF2E2C68F0}"/>
              </a:ext>
            </a:extLst>
          </p:cNvPr>
          <p:cNvGrpSpPr/>
          <p:nvPr/>
        </p:nvGrpSpPr>
        <p:grpSpPr>
          <a:xfrm>
            <a:off x="438864" y="368747"/>
            <a:ext cx="5062288" cy="841145"/>
            <a:chOff x="3757353" y="2472892"/>
            <a:chExt cx="5062288" cy="841145"/>
          </a:xfrm>
        </p:grpSpPr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74D7CAFD-4928-FBC9-6129-1A19B7BB1082}"/>
                </a:ext>
              </a:extLst>
            </p:cNvPr>
            <p:cNvSpPr/>
            <p:nvPr/>
          </p:nvSpPr>
          <p:spPr>
            <a:xfrm>
              <a:off x="3757353" y="2603655"/>
              <a:ext cx="1420191" cy="58110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accent2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05682664-7595-3F08-BCA3-5BE6E29DA135}"/>
                </a:ext>
              </a:extLst>
            </p:cNvPr>
            <p:cNvSpPr txBox="1"/>
            <p:nvPr/>
          </p:nvSpPr>
          <p:spPr>
            <a:xfrm>
              <a:off x="4022118" y="2483040"/>
              <a:ext cx="89066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4800" dirty="0">
                  <a:solidFill>
                    <a:srgbClr val="003F88"/>
                  </a:solidFill>
                  <a:effectLst>
                    <a:outerShdw blurRad="38100" dist="38100" dir="2700000" algn="tl" rotWithShape="0">
                      <a:schemeClr val="accent5">
                        <a:lumMod val="75000"/>
                        <a:alpha val="51000"/>
                      </a:schemeClr>
                    </a:outerShdw>
                  </a:effectLst>
                  <a:latin typeface="Impact" panose="020B0806030902050204" pitchFamily="34" charset="0"/>
                </a:rPr>
                <a:t>01</a:t>
              </a:r>
              <a:endParaRPr lang="zh-CN" altLang="en-US" sz="4800" dirty="0">
                <a:solidFill>
                  <a:srgbClr val="003F88"/>
                </a:solidFill>
                <a:effectLst>
                  <a:outerShdw blurRad="38100" dist="38100" dir="2700000" algn="tl" rotWithShape="0">
                    <a:schemeClr val="accent5">
                      <a:lumMod val="75000"/>
                      <a:alpha val="51000"/>
                    </a:schemeClr>
                  </a:outerShdw>
                </a:effectLst>
                <a:latin typeface="Impact" panose="020B0806030902050204" pitchFamily="34" charset="0"/>
              </a:endParaRPr>
            </a:p>
          </p:txBody>
        </p:sp>
        <p:sp>
          <p:nvSpPr>
            <p:cNvPr id="14" name="文本占位符 9">
              <a:extLst>
                <a:ext uri="{FF2B5EF4-FFF2-40B4-BE49-F238E27FC236}">
                  <a16:creationId xmlns:a16="http://schemas.microsoft.com/office/drawing/2014/main" id="{CF1E5466-8BB8-C4D1-A177-2FABB7E8FCAE}"/>
                </a:ext>
              </a:extLst>
            </p:cNvPr>
            <p:cNvSpPr txBox="1">
              <a:spLocks/>
            </p:cNvSpPr>
            <p:nvPr/>
          </p:nvSpPr>
          <p:spPr>
            <a:xfrm>
              <a:off x="5450911" y="2472892"/>
              <a:ext cx="3368730" cy="822325"/>
            </a:xfrm>
            <a:prstGeom prst="rect">
              <a:avLst/>
            </a:prstGeom>
            <a:ln>
              <a:noFill/>
            </a:ln>
          </p:spPr>
          <p:txBody>
            <a:bodyPr vert="horz" lIns="91440" tIns="45720" rIns="91440" bIns="45720" rtlCol="0" anchor="ctr">
              <a:noAutofit/>
            </a:bodyPr>
            <a:lstStyle>
              <a:defPPr>
                <a:defRPr lang="zh-CN"/>
              </a:defPPr>
              <a:lvl1pPr marL="0" indent="0" algn="dist" defTabSz="914400" rtl="0" eaLnBrk="1" latinLnBrk="0" hangingPunct="1">
                <a:buNone/>
                <a:defRPr sz="8000" b="1" kern="1200">
                  <a:solidFill>
                    <a:srgbClr val="002060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zh-CN" altLang="en-US" sz="4400" spc="400" dirty="0">
                  <a:solidFill>
                    <a:srgbClr val="003F88"/>
                  </a:solidFill>
                  <a:effectLst>
                    <a:outerShdw blurRad="12700" dist="38100" dir="3600000" sx="102000" sy="102000" algn="tl" rotWithShape="0">
                      <a:schemeClr val="accent5">
                        <a:lumMod val="75000"/>
                        <a:alpha val="30000"/>
                      </a:schemeClr>
                    </a:outerShdw>
                  </a:effectLst>
                </a:rPr>
                <a:t>总述</a:t>
              </a:r>
            </a:p>
          </p:txBody>
        </p:sp>
      </p:grpSp>
      <p:sp>
        <p:nvSpPr>
          <p:cNvPr id="16" name="文本框 15">
            <a:extLst>
              <a:ext uri="{FF2B5EF4-FFF2-40B4-BE49-F238E27FC236}">
                <a16:creationId xmlns:a16="http://schemas.microsoft.com/office/drawing/2014/main" id="{26FF6A40-39B9-EE8B-CCDA-61E19D06F0FB}"/>
              </a:ext>
            </a:extLst>
          </p:cNvPr>
          <p:cNvSpPr txBox="1"/>
          <p:nvPr/>
        </p:nvSpPr>
        <p:spPr>
          <a:xfrm>
            <a:off x="839721" y="1337992"/>
            <a:ext cx="11093199" cy="4654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zh-CN" altLang="zh-CN" sz="2000" dirty="0"/>
              <a:t>截至中期，SmartCane 已在 ESP 32-S 3-CAM 单主控上完成从传感器驱动到远程监控的全链路集成，已完成的主要工作包括：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sz="2000" b="1" dirty="0"/>
              <a:t>传感器层</a:t>
            </a:r>
            <a:r>
              <a:rPr lang="zh-CN" altLang="zh-CN" sz="2000" dirty="0"/>
              <a:t>：HC-SR 04 超声波非阻塞测距与三级避障、BH 1750 照度检测与自动照明、JY 901 S 姿态采集与组合规则式跌倒检测、ATGM 336 H GPS 定位与最后有效位置保存</a:t>
            </a:r>
            <a:r>
              <a:rPr lang="zh-CN" altLang="en-US" sz="2000" dirty="0"/>
              <a:t>。</a:t>
            </a:r>
            <a:endParaRPr lang="zh-CN" altLang="zh-CN" sz="20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sz="2000" b="1" dirty="0"/>
              <a:t>调度层</a:t>
            </a:r>
            <a:r>
              <a:rPr lang="zh-CN" altLang="zh-CN" sz="2000" dirty="0"/>
              <a:t>：双核 FreeRTOS 将传感器/决策/执行放在 Core 1，网络/遥测放在 Core 0，任务间通过队列传递数据而非互相操作硬件</a:t>
            </a:r>
            <a:r>
              <a:rPr lang="zh-CN" altLang="en-US" sz="2000" dirty="0"/>
              <a:t>。</a:t>
            </a:r>
            <a:endParaRPr lang="zh-CN" altLang="zh-CN" sz="20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sz="2000" b="1" dirty="0"/>
              <a:t>控制层</a:t>
            </a:r>
            <a:r>
              <a:rPr lang="zh-CN" altLang="zh-CN" sz="2000" dirty="0"/>
              <a:t>：分级告警状态机实现 SOS/FALL 锁存与近障分级，蜂鸣器和 LED 以非阻塞节奏输出</a:t>
            </a:r>
            <a:r>
              <a:rPr lang="zh-CN" altLang="en-US" sz="2000" dirty="0"/>
              <a:t>。</a:t>
            </a:r>
            <a:endParaRPr lang="zh-CN" altLang="zh-CN" sz="20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sz="2000" b="1" dirty="0"/>
              <a:t>网络层</a:t>
            </a:r>
            <a:r>
              <a:rPr lang="zh-CN" altLang="zh-CN" sz="2000" dirty="0"/>
              <a:t>：OV 2640 摄像头提供 MJPEG 图传与单帧抓拍，Wi-Fi 在路由器和热点模式间自动切换</a:t>
            </a:r>
            <a:r>
              <a:rPr lang="zh-CN" altLang="en-US" sz="2000" dirty="0"/>
              <a:t>。</a:t>
            </a:r>
            <a:endParaRPr lang="zh-CN" altLang="zh-CN" sz="20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sz="2000" b="1" dirty="0"/>
              <a:t>上位机</a:t>
            </a:r>
            <a:r>
              <a:rPr lang="zh-CN" altLang="zh-CN" sz="2000" dirty="0"/>
              <a:t>：SC 1 串口协议以 5 Hz JSON 遥测发布状态，Windows 上位机同时承载串口监控、Wi-Fi 图传和 GPS 矢量地图三条数据链路</a:t>
            </a:r>
            <a:r>
              <a:rPr lang="zh-CN" altLang="en-US" sz="2000" dirty="0"/>
              <a:t>。</a:t>
            </a:r>
            <a:endParaRPr lang="zh-CN" altLang="zh-CN" sz="2000" dirty="0"/>
          </a:p>
        </p:txBody>
      </p:sp>
    </p:spTree>
    <p:extLst>
      <p:ext uri="{BB962C8B-B14F-4D97-AF65-F5344CB8AC3E}">
        <p14:creationId xmlns:p14="http://schemas.microsoft.com/office/powerpoint/2010/main" val="22290906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DD0E7411-EFC8-4009-A22F-AE54C44AD5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9268" y="277013"/>
            <a:ext cx="2045209" cy="568113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19D6AA81-90FA-82DC-1C56-2CC63BEB75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528" y="845126"/>
            <a:ext cx="11980944" cy="5399621"/>
          </a:xfrm>
          <a:prstGeom prst="rect">
            <a:avLst/>
          </a:prstGeom>
        </p:spPr>
      </p:pic>
      <p:grpSp>
        <p:nvGrpSpPr>
          <p:cNvPr id="11" name="组合 10">
            <a:extLst>
              <a:ext uri="{FF2B5EF4-FFF2-40B4-BE49-F238E27FC236}">
                <a16:creationId xmlns:a16="http://schemas.microsoft.com/office/drawing/2014/main" id="{4A328118-D2CC-BFE5-6419-88DC048E0356}"/>
              </a:ext>
            </a:extLst>
          </p:cNvPr>
          <p:cNvGrpSpPr/>
          <p:nvPr/>
        </p:nvGrpSpPr>
        <p:grpSpPr>
          <a:xfrm>
            <a:off x="535911" y="403565"/>
            <a:ext cx="5062288" cy="841145"/>
            <a:chOff x="3757353" y="2472892"/>
            <a:chExt cx="5062288" cy="841145"/>
          </a:xfrm>
        </p:grpSpPr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B0ECB6CA-0595-BD55-E976-AD721EDF45CD}"/>
                </a:ext>
              </a:extLst>
            </p:cNvPr>
            <p:cNvSpPr/>
            <p:nvPr/>
          </p:nvSpPr>
          <p:spPr>
            <a:xfrm>
              <a:off x="3757353" y="2603655"/>
              <a:ext cx="1420191" cy="58110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accent2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D2D129B3-CBD3-784E-93C8-DFE9065D3345}"/>
                </a:ext>
              </a:extLst>
            </p:cNvPr>
            <p:cNvSpPr txBox="1"/>
            <p:nvPr/>
          </p:nvSpPr>
          <p:spPr>
            <a:xfrm>
              <a:off x="4022118" y="2483040"/>
              <a:ext cx="89066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4800" dirty="0">
                  <a:solidFill>
                    <a:srgbClr val="003F88"/>
                  </a:solidFill>
                  <a:effectLst>
                    <a:outerShdw blurRad="38100" dist="38100" dir="2700000" algn="tl" rotWithShape="0">
                      <a:schemeClr val="accent5">
                        <a:lumMod val="75000"/>
                        <a:alpha val="51000"/>
                      </a:schemeClr>
                    </a:outerShdw>
                  </a:effectLst>
                  <a:latin typeface="Impact" panose="020B0806030902050204" pitchFamily="34" charset="0"/>
                </a:rPr>
                <a:t>02</a:t>
              </a:r>
              <a:endParaRPr lang="zh-CN" altLang="en-US" sz="4800" dirty="0">
                <a:solidFill>
                  <a:srgbClr val="003F88"/>
                </a:solidFill>
                <a:effectLst>
                  <a:outerShdw blurRad="38100" dist="38100" dir="2700000" algn="tl" rotWithShape="0">
                    <a:schemeClr val="accent5">
                      <a:lumMod val="75000"/>
                      <a:alpha val="51000"/>
                    </a:schemeClr>
                  </a:outerShdw>
                </a:effectLst>
                <a:latin typeface="Impact" panose="020B0806030902050204" pitchFamily="34" charset="0"/>
              </a:endParaRPr>
            </a:p>
          </p:txBody>
        </p:sp>
        <p:sp>
          <p:nvSpPr>
            <p:cNvPr id="14" name="文本占位符 9">
              <a:extLst>
                <a:ext uri="{FF2B5EF4-FFF2-40B4-BE49-F238E27FC236}">
                  <a16:creationId xmlns:a16="http://schemas.microsoft.com/office/drawing/2014/main" id="{C427A372-D036-A6F2-CBD8-770D58CFF202}"/>
                </a:ext>
              </a:extLst>
            </p:cNvPr>
            <p:cNvSpPr txBox="1">
              <a:spLocks/>
            </p:cNvSpPr>
            <p:nvPr/>
          </p:nvSpPr>
          <p:spPr>
            <a:xfrm>
              <a:off x="5450911" y="2472892"/>
              <a:ext cx="3368730" cy="822325"/>
            </a:xfrm>
            <a:prstGeom prst="rect">
              <a:avLst/>
            </a:prstGeom>
            <a:ln>
              <a:noFill/>
            </a:ln>
          </p:spPr>
          <p:txBody>
            <a:bodyPr vert="horz" lIns="91440" tIns="45720" rIns="91440" bIns="45720" rtlCol="0" anchor="ctr">
              <a:noAutofit/>
            </a:bodyPr>
            <a:lstStyle>
              <a:defPPr>
                <a:defRPr lang="zh-CN"/>
              </a:defPPr>
              <a:lvl1pPr marL="0" indent="0" algn="dist" defTabSz="914400" rtl="0" eaLnBrk="1" latinLnBrk="0" hangingPunct="1">
                <a:buNone/>
                <a:defRPr sz="8000" b="1" kern="1200">
                  <a:solidFill>
                    <a:srgbClr val="002060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zh-CN" altLang="en-US" sz="4400" spc="400" dirty="0">
                  <a:solidFill>
                    <a:srgbClr val="003F88"/>
                  </a:solidFill>
                  <a:effectLst>
                    <a:outerShdw blurRad="12700" dist="38100" dir="3600000" sx="102000" sy="102000" algn="tl" rotWithShape="0">
                      <a:schemeClr val="accent5">
                        <a:lumMod val="75000"/>
                        <a:alpha val="30000"/>
                      </a:schemeClr>
                    </a:outerShdw>
                  </a:effectLst>
                </a:rPr>
                <a:t>系统架构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535595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文本框 23">
            <a:extLst>
              <a:ext uri="{FF2B5EF4-FFF2-40B4-BE49-F238E27FC236}">
                <a16:creationId xmlns:a16="http://schemas.microsoft.com/office/drawing/2014/main" id="{F9DA83BD-C9C8-45CA-86D5-C6B1FAF77FD4}"/>
              </a:ext>
            </a:extLst>
          </p:cNvPr>
          <p:cNvSpPr txBox="1"/>
          <p:nvPr/>
        </p:nvSpPr>
        <p:spPr>
          <a:xfrm>
            <a:off x="1970389" y="1338823"/>
            <a:ext cx="33687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i="1" dirty="0">
                <a:solidFill>
                  <a:srgbClr val="003F8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各分层职责</a:t>
            </a:r>
            <a:endParaRPr lang="zh-CN" altLang="en-US" sz="3200" b="1" i="1" dirty="0">
              <a:solidFill>
                <a:srgbClr val="003F88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5863F4AF-90CD-752A-209B-DE045E0506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9023361"/>
              </p:ext>
            </p:extLst>
          </p:nvPr>
        </p:nvGraphicFramePr>
        <p:xfrm>
          <a:off x="682250" y="2181018"/>
          <a:ext cx="5557175" cy="4055918"/>
        </p:xfrm>
        <a:graphic>
          <a:graphicData uri="http://schemas.openxmlformats.org/drawingml/2006/table">
            <a:tbl>
              <a:tblPr/>
              <a:tblGrid>
                <a:gridCol w="1156931">
                  <a:extLst>
                    <a:ext uri="{9D8B030D-6E8A-4147-A177-3AD203B41FA5}">
                      <a16:colId xmlns:a16="http://schemas.microsoft.com/office/drawing/2014/main" val="2861144316"/>
                    </a:ext>
                  </a:extLst>
                </a:gridCol>
                <a:gridCol w="4400244">
                  <a:extLst>
                    <a:ext uri="{9D8B030D-6E8A-4147-A177-3AD203B41FA5}">
                      <a16:colId xmlns:a16="http://schemas.microsoft.com/office/drawing/2014/main" val="450712688"/>
                    </a:ext>
                  </a:extLst>
                </a:gridCol>
              </a:tblGrid>
              <a:tr h="470742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zh-CN" altLang="en-US" sz="2000" b="1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层级</a:t>
                      </a:r>
                    </a:p>
                  </a:txBody>
                  <a:tcPr marL="82101" marR="82101" marT="41050" marB="41050"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571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zh-CN" altLang="en-US" sz="2000" b="1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职责</a:t>
                      </a:r>
                    </a:p>
                  </a:txBody>
                  <a:tcPr marL="82101" marR="82101" marT="41050" marB="41050" anchor="ctr">
                    <a:lnL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7371709"/>
                  </a:ext>
                </a:extLst>
              </a:tr>
              <a:tr h="49131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800" dirty="0">
                          <a:latin typeface="+mn-ea"/>
                          <a:ea typeface="+mn-ea"/>
                        </a:rPr>
                        <a:t>入口层</a:t>
                      </a:r>
                    </a:p>
                  </a:txBody>
                  <a:tcPr marL="82101" marR="82101" marT="41050" marB="41050"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800" dirty="0">
                          <a:latin typeface="+mn-ea"/>
                          <a:ea typeface="+mn-ea"/>
                        </a:rPr>
                        <a:t>提供 setup() 和 loop()</a:t>
                      </a:r>
                    </a:p>
                  </a:txBody>
                  <a:tcPr marL="82101" marR="82101" marT="41050" marB="41050"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7716256"/>
                  </a:ext>
                </a:extLst>
              </a:tr>
              <a:tr h="53921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800" dirty="0"/>
                        <a:t>应用层</a:t>
                      </a:r>
                    </a:p>
                  </a:txBody>
                  <a:tcPr marL="82101" marR="82101" marT="41050" marB="41050"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800" dirty="0"/>
                        <a:t>初始化、周期调度、模块协作、状态发布</a:t>
                      </a:r>
                    </a:p>
                  </a:txBody>
                  <a:tcPr marL="82101" marR="82101" marT="41050" marB="41050"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4887546"/>
                  </a:ext>
                </a:extLst>
              </a:tr>
              <a:tr h="5894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800" dirty="0"/>
                        <a:t>配置层</a:t>
                      </a:r>
                    </a:p>
                  </a:txBody>
                  <a:tcPr marL="82101" marR="82101" marT="41050" marB="41050"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800" dirty="0"/>
                        <a:t>引脚、波特率、Wi-Fi、阈值和周期参数</a:t>
                      </a:r>
                    </a:p>
                  </a:txBody>
                  <a:tcPr marL="82101" marR="82101" marT="41050" marB="41050"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3279789"/>
                  </a:ext>
                </a:extLst>
              </a:tr>
              <a:tr h="49131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800" dirty="0"/>
                        <a:t>控制层</a:t>
                      </a:r>
                    </a:p>
                  </a:txBody>
                  <a:tcPr marL="82101" marR="82101" marT="41050" marB="41050"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800" dirty="0"/>
                        <a:t>跌倒检测和分级告警状态机</a:t>
                      </a:r>
                    </a:p>
                  </a:txBody>
                  <a:tcPr marL="82101" marR="82101" marT="41050" marB="41050"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4407902"/>
                  </a:ext>
                </a:extLst>
              </a:tr>
              <a:tr h="49131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800"/>
                        <a:t>驱动层</a:t>
                      </a:r>
                    </a:p>
                  </a:txBody>
                  <a:tcPr marL="82101" marR="82101" marT="41050" marB="41050"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800" dirty="0"/>
                        <a:t>设备协议、采样、校验、GPIO 输出</a:t>
                      </a:r>
                    </a:p>
                  </a:txBody>
                  <a:tcPr marL="82101" marR="82101" marT="41050" marB="41050"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880698"/>
                  </a:ext>
                </a:extLst>
              </a:tr>
              <a:tr h="49131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800"/>
                        <a:t>模型层</a:t>
                      </a:r>
                    </a:p>
                  </a:txBody>
                  <a:tcPr marL="82101" marR="82101" marT="41050" marB="41050"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800" dirty="0"/>
                        <a:t>模块间共享的数据结构和枚举</a:t>
                      </a:r>
                    </a:p>
                  </a:txBody>
                  <a:tcPr marL="82101" marR="82101" marT="41050" marB="41050"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3055651"/>
                  </a:ext>
                </a:extLst>
              </a:tr>
              <a:tr h="49131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800"/>
                        <a:t>服务层</a:t>
                      </a:r>
                    </a:p>
                  </a:txBody>
                  <a:tcPr marL="82101" marR="82101" marT="41050" marB="41050"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800" dirty="0"/>
                        <a:t>Wi-Fi、摄像头、HTTP、网页和 API</a:t>
                      </a:r>
                    </a:p>
                  </a:txBody>
                  <a:tcPr marL="82101" marR="82101" marT="41050" marB="41050"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4370489"/>
                  </a:ext>
                </a:extLst>
              </a:tr>
            </a:tbl>
          </a:graphicData>
        </a:graphic>
      </p:graphicFrame>
      <p:sp>
        <p:nvSpPr>
          <p:cNvPr id="9" name="文本框 8">
            <a:extLst>
              <a:ext uri="{FF2B5EF4-FFF2-40B4-BE49-F238E27FC236}">
                <a16:creationId xmlns:a16="http://schemas.microsoft.com/office/drawing/2014/main" id="{0BC5D0E2-8841-F396-45FF-A3571E1A392B}"/>
              </a:ext>
            </a:extLst>
          </p:cNvPr>
          <p:cNvSpPr txBox="1"/>
          <p:nvPr/>
        </p:nvSpPr>
        <p:spPr>
          <a:xfrm>
            <a:off x="7775171" y="1338823"/>
            <a:ext cx="33687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i="1" dirty="0">
                <a:solidFill>
                  <a:srgbClr val="003F8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双入口设计</a:t>
            </a:r>
            <a:endParaRPr lang="zh-CN" altLang="en-US" sz="3200" b="1" i="1" dirty="0">
              <a:solidFill>
                <a:srgbClr val="003F88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5BBF1C8D-4664-D374-AF4A-29529A2C951D}"/>
              </a:ext>
            </a:extLst>
          </p:cNvPr>
          <p:cNvGrpSpPr/>
          <p:nvPr/>
        </p:nvGrpSpPr>
        <p:grpSpPr>
          <a:xfrm>
            <a:off x="6377248" y="2779424"/>
            <a:ext cx="5557174" cy="2739753"/>
            <a:chOff x="6510253" y="2897076"/>
            <a:chExt cx="5440680" cy="3108485"/>
          </a:xfrm>
        </p:grpSpPr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45238EE7-2E82-4B30-DCFC-91458C13F0E6}"/>
                </a:ext>
              </a:extLst>
            </p:cNvPr>
            <p:cNvSpPr/>
            <p:nvPr/>
          </p:nvSpPr>
          <p:spPr>
            <a:xfrm>
              <a:off x="6510253" y="2897076"/>
              <a:ext cx="5440680" cy="3108485"/>
            </a:xfrm>
            <a:prstGeom prst="rect">
              <a:avLst/>
            </a:prstGeom>
            <a:noFill/>
            <a:ln w="28575">
              <a:solidFill>
                <a:srgbClr val="003F88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+mn-ea"/>
              </a:endParaRPr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589E050F-737F-1763-3682-4349DFB0DF9D}"/>
                </a:ext>
              </a:extLst>
            </p:cNvPr>
            <p:cNvSpPr txBox="1"/>
            <p:nvPr/>
          </p:nvSpPr>
          <p:spPr>
            <a:xfrm>
              <a:off x="6591080" y="2968700"/>
              <a:ext cx="5279026" cy="296523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zh-CN" dirty="0">
                  <a:latin typeface="+mn-ea"/>
                </a:rPr>
                <a:t>Arduino IDE 使用根目录 SmartCane.ino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zh-CN" dirty="0">
                  <a:latin typeface="+mn-ea"/>
                </a:rPr>
                <a:t>PlatformIO 使用 src/main.cpp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zh-CN" dirty="0">
                  <a:latin typeface="+mn-ea"/>
                </a:rPr>
                <a:t>通过 SMARTCANE_PLATFORMIO 宏和 build_src_filter 互斥，一次构建只启用一个入口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zh-CN" dirty="0">
                  <a:latin typeface="+mn-ea"/>
                </a:rPr>
                <a:t>两个入口最终都只做：setup() 调用 app.begin()，loop() 调用 app.update()</a:t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7F4994E4-678C-C1C3-6815-C5547CDE296F}"/>
              </a:ext>
            </a:extLst>
          </p:cNvPr>
          <p:cNvGrpSpPr/>
          <p:nvPr/>
        </p:nvGrpSpPr>
        <p:grpSpPr>
          <a:xfrm>
            <a:off x="276831" y="259080"/>
            <a:ext cx="5062288" cy="841145"/>
            <a:chOff x="3757353" y="2472892"/>
            <a:chExt cx="5062288" cy="841145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9530AAC6-A16C-B815-BB52-B7E38CAE43E8}"/>
                </a:ext>
              </a:extLst>
            </p:cNvPr>
            <p:cNvSpPr/>
            <p:nvPr/>
          </p:nvSpPr>
          <p:spPr>
            <a:xfrm>
              <a:off x="3757353" y="2603655"/>
              <a:ext cx="1420191" cy="58110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accent2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52F5E3E3-3763-A427-430A-D49941E8180A}"/>
                </a:ext>
              </a:extLst>
            </p:cNvPr>
            <p:cNvSpPr txBox="1"/>
            <p:nvPr/>
          </p:nvSpPr>
          <p:spPr>
            <a:xfrm>
              <a:off x="4022118" y="2483040"/>
              <a:ext cx="89066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4800" dirty="0">
                  <a:solidFill>
                    <a:srgbClr val="003F88"/>
                  </a:solidFill>
                  <a:effectLst>
                    <a:outerShdw blurRad="38100" dist="38100" dir="2700000" algn="tl" rotWithShape="0">
                      <a:schemeClr val="accent5">
                        <a:lumMod val="75000"/>
                        <a:alpha val="51000"/>
                      </a:schemeClr>
                    </a:outerShdw>
                  </a:effectLst>
                  <a:latin typeface="Impact" panose="020B0806030902050204" pitchFamily="34" charset="0"/>
                </a:rPr>
                <a:t>02</a:t>
              </a:r>
              <a:endParaRPr lang="zh-CN" altLang="en-US" sz="4800" dirty="0">
                <a:solidFill>
                  <a:srgbClr val="003F88"/>
                </a:solidFill>
                <a:effectLst>
                  <a:outerShdw blurRad="38100" dist="38100" dir="2700000" algn="tl" rotWithShape="0">
                    <a:schemeClr val="accent5">
                      <a:lumMod val="75000"/>
                      <a:alpha val="51000"/>
                    </a:schemeClr>
                  </a:outerShdw>
                </a:effectLst>
                <a:latin typeface="Impact" panose="020B0806030902050204" pitchFamily="34" charset="0"/>
              </a:endParaRPr>
            </a:p>
          </p:txBody>
        </p:sp>
        <p:sp>
          <p:nvSpPr>
            <p:cNvPr id="17" name="文本占位符 9">
              <a:extLst>
                <a:ext uri="{FF2B5EF4-FFF2-40B4-BE49-F238E27FC236}">
                  <a16:creationId xmlns:a16="http://schemas.microsoft.com/office/drawing/2014/main" id="{66D938AA-7F95-6C00-672F-5B0D4B6CD0A2}"/>
                </a:ext>
              </a:extLst>
            </p:cNvPr>
            <p:cNvSpPr txBox="1">
              <a:spLocks/>
            </p:cNvSpPr>
            <p:nvPr/>
          </p:nvSpPr>
          <p:spPr>
            <a:xfrm>
              <a:off x="5450911" y="2472892"/>
              <a:ext cx="3368730" cy="822325"/>
            </a:xfrm>
            <a:prstGeom prst="rect">
              <a:avLst/>
            </a:prstGeom>
            <a:ln>
              <a:noFill/>
            </a:ln>
          </p:spPr>
          <p:txBody>
            <a:bodyPr vert="horz" lIns="91440" tIns="45720" rIns="91440" bIns="45720" rtlCol="0" anchor="ctr">
              <a:noAutofit/>
            </a:bodyPr>
            <a:lstStyle>
              <a:defPPr>
                <a:defRPr lang="zh-CN"/>
              </a:defPPr>
              <a:lvl1pPr marL="0" indent="0" algn="dist" defTabSz="914400" rtl="0" eaLnBrk="1" latinLnBrk="0" hangingPunct="1">
                <a:buNone/>
                <a:defRPr sz="8000" b="1" kern="1200">
                  <a:solidFill>
                    <a:srgbClr val="002060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zh-CN" altLang="en-US" sz="4400" spc="400" dirty="0">
                  <a:solidFill>
                    <a:srgbClr val="003F88"/>
                  </a:solidFill>
                  <a:effectLst>
                    <a:outerShdw blurRad="12700" dist="38100" dir="3600000" sx="102000" sy="102000" algn="tl" rotWithShape="0">
                      <a:schemeClr val="accent5">
                        <a:lumMod val="75000"/>
                        <a:alpha val="30000"/>
                      </a:schemeClr>
                    </a:outerShdw>
                  </a:effectLst>
                </a:rPr>
                <a:t>系统架构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778669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4BF23540-CB8B-48C8-8168-105854BC70F8}"/>
              </a:ext>
            </a:extLst>
          </p:cNvPr>
          <p:cNvCxnSpPr>
            <a:cxnSpLocks/>
          </p:cNvCxnSpPr>
          <p:nvPr/>
        </p:nvCxnSpPr>
        <p:spPr>
          <a:xfrm>
            <a:off x="-1369314" y="1543505"/>
            <a:ext cx="12192000" cy="0"/>
          </a:xfrm>
          <a:prstGeom prst="straightConnector1">
            <a:avLst/>
          </a:prstGeom>
          <a:ln w="5715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D36152AB-246F-4CFC-A742-C7A8917E172E}"/>
              </a:ext>
            </a:extLst>
          </p:cNvPr>
          <p:cNvGrpSpPr/>
          <p:nvPr/>
        </p:nvGrpSpPr>
        <p:grpSpPr>
          <a:xfrm>
            <a:off x="-55241" y="5102845"/>
            <a:ext cx="12478977" cy="1955678"/>
            <a:chOff x="0" y="5107371"/>
            <a:chExt cx="12452726" cy="1958184"/>
          </a:xfrm>
        </p:grpSpPr>
        <p:pic>
          <p:nvPicPr>
            <p:cNvPr id="22" name="图片 21">
              <a:extLst>
                <a:ext uri="{FF2B5EF4-FFF2-40B4-BE49-F238E27FC236}">
                  <a16:creationId xmlns:a16="http://schemas.microsoft.com/office/drawing/2014/main" id="{79FC3777-F69F-46FB-8626-B547DB3D0B9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DA8276"/>
                </a:clrFrom>
                <a:clrTo>
                  <a:srgbClr val="DA8276">
                    <a:alpha val="0"/>
                  </a:srgbClr>
                </a:clrTo>
              </a:clrChange>
              <a:duotone>
                <a:prstClr val="black"/>
                <a:srgbClr val="003E87">
                  <a:tint val="45000"/>
                  <a:satMod val="400000"/>
                </a:srgb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81492" y="5294438"/>
              <a:ext cx="2771234" cy="1582057"/>
            </a:xfrm>
            <a:prstGeom prst="rect">
              <a:avLst/>
            </a:prstGeom>
          </p:spPr>
        </p:pic>
        <p:pic>
          <p:nvPicPr>
            <p:cNvPr id="23" name="图片 22">
              <a:extLst>
                <a:ext uri="{FF2B5EF4-FFF2-40B4-BE49-F238E27FC236}">
                  <a16:creationId xmlns:a16="http://schemas.microsoft.com/office/drawing/2014/main" id="{BD4D19EC-8800-452B-8C1E-AC2341C4C34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clrChange>
                <a:clrFrom>
                  <a:srgbClr val="F7E5C1"/>
                </a:clrFrom>
                <a:clrTo>
                  <a:srgbClr val="F7E5C1">
                    <a:alpha val="0"/>
                  </a:srgbClr>
                </a:clrTo>
              </a:clrChange>
              <a:duotone>
                <a:prstClr val="black"/>
                <a:srgbClr val="003E87">
                  <a:tint val="45000"/>
                  <a:satMod val="400000"/>
                </a:srgb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5107371"/>
              <a:ext cx="3570418" cy="1774075"/>
            </a:xfrm>
            <a:prstGeom prst="rect">
              <a:avLst/>
            </a:prstGeom>
          </p:spPr>
        </p:pic>
        <p:pic>
          <p:nvPicPr>
            <p:cNvPr id="24" name="图片 23">
              <a:extLst>
                <a:ext uri="{FF2B5EF4-FFF2-40B4-BE49-F238E27FC236}">
                  <a16:creationId xmlns:a16="http://schemas.microsoft.com/office/drawing/2014/main" id="{6F04904B-A7E2-40A0-B299-21D30A84AB1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E6E8E9"/>
                </a:clrFrom>
                <a:clrTo>
                  <a:srgbClr val="E6E8E9">
                    <a:alpha val="0"/>
                  </a:srgbClr>
                </a:clrTo>
              </a:clrChange>
              <a:duotone>
                <a:prstClr val="black"/>
                <a:srgbClr val="003E87">
                  <a:tint val="45000"/>
                  <a:satMod val="400000"/>
                </a:srgb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94374" y="6014537"/>
              <a:ext cx="2801522" cy="866909"/>
            </a:xfrm>
            <a:prstGeom prst="rect">
              <a:avLst/>
            </a:prstGeom>
          </p:spPr>
        </p:pic>
        <p:pic>
          <p:nvPicPr>
            <p:cNvPr id="25" name="图片 24">
              <a:extLst>
                <a:ext uri="{FF2B5EF4-FFF2-40B4-BE49-F238E27FC236}">
                  <a16:creationId xmlns:a16="http://schemas.microsoft.com/office/drawing/2014/main" id="{E587E8A7-C30F-49A5-BC67-3AC2E41F5D2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clrChange>
                <a:clrFrom>
                  <a:srgbClr val="C9DD76"/>
                </a:clrFrom>
                <a:clrTo>
                  <a:srgbClr val="C9DD76">
                    <a:alpha val="0"/>
                  </a:srgbClr>
                </a:clrTo>
              </a:clrChange>
              <a:duotone>
                <a:prstClr val="black"/>
                <a:srgbClr val="003E87">
                  <a:tint val="45000"/>
                  <a:satMod val="400000"/>
                </a:srgb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69219" y="5487733"/>
              <a:ext cx="851371" cy="1393805"/>
            </a:xfrm>
            <a:prstGeom prst="rect">
              <a:avLst/>
            </a:prstGeom>
          </p:spPr>
        </p:pic>
        <p:pic>
          <p:nvPicPr>
            <p:cNvPr id="26" name="图片 25">
              <a:extLst>
                <a:ext uri="{FF2B5EF4-FFF2-40B4-BE49-F238E27FC236}">
                  <a16:creationId xmlns:a16="http://schemas.microsoft.com/office/drawing/2014/main" id="{5423DE19-B9F8-45D2-A84E-C5DBD82EDFA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clrChange>
                <a:clrFrom>
                  <a:srgbClr val="E2DFEE"/>
                </a:clrFrom>
                <a:clrTo>
                  <a:srgbClr val="E2DFEE">
                    <a:alpha val="0"/>
                  </a:srgbClr>
                </a:clrTo>
              </a:clrChange>
              <a:duotone>
                <a:prstClr val="black"/>
                <a:srgbClr val="003E87">
                  <a:tint val="45000"/>
                  <a:satMod val="400000"/>
                </a:srgb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15545" y="5857803"/>
              <a:ext cx="3301589" cy="1023643"/>
            </a:xfrm>
            <a:prstGeom prst="rect">
              <a:avLst/>
            </a:prstGeom>
          </p:spPr>
        </p:pic>
        <p:pic>
          <p:nvPicPr>
            <p:cNvPr id="27" name="图片 26">
              <a:extLst>
                <a:ext uri="{FF2B5EF4-FFF2-40B4-BE49-F238E27FC236}">
                  <a16:creationId xmlns:a16="http://schemas.microsoft.com/office/drawing/2014/main" id="{FE12D2C9-E5E8-4BBB-AE7A-21D940B285B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clrChange>
                <a:clrFrom>
                  <a:srgbClr val="CA9191"/>
                </a:clrFrom>
                <a:clrTo>
                  <a:srgbClr val="CA9191">
                    <a:alpha val="0"/>
                  </a:srgbClr>
                </a:clrTo>
              </a:clrChange>
              <a:duotone>
                <a:prstClr val="black"/>
                <a:srgbClr val="003E87">
                  <a:tint val="45000"/>
                  <a:satMod val="400000"/>
                </a:srgb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85810" y="5563058"/>
              <a:ext cx="2313046" cy="1408570"/>
            </a:xfrm>
            <a:prstGeom prst="rect">
              <a:avLst/>
            </a:prstGeom>
          </p:spPr>
        </p:pic>
        <p:pic>
          <p:nvPicPr>
            <p:cNvPr id="28" name="图片 27">
              <a:extLst>
                <a:ext uri="{FF2B5EF4-FFF2-40B4-BE49-F238E27FC236}">
                  <a16:creationId xmlns:a16="http://schemas.microsoft.com/office/drawing/2014/main" id="{2C2EF78C-97FE-4166-8587-DC02BF7EAF1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clrChange>
                <a:clrFrom>
                  <a:srgbClr val="D0E7D6"/>
                </a:clrFrom>
                <a:clrTo>
                  <a:srgbClr val="D0E7D6">
                    <a:alpha val="0"/>
                  </a:srgbClr>
                </a:clrTo>
              </a:clrChange>
              <a:duotone>
                <a:prstClr val="black"/>
                <a:srgbClr val="003E87">
                  <a:tint val="45000"/>
                  <a:satMod val="400000"/>
                </a:srgb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955006" y="5382047"/>
              <a:ext cx="1524257" cy="1683508"/>
            </a:xfrm>
            <a:prstGeom prst="rect">
              <a:avLst/>
            </a:prstGeom>
          </p:spPr>
        </p:pic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3FE46EFF-7EFC-C1A6-3D3F-B7CABCD444BC}"/>
              </a:ext>
            </a:extLst>
          </p:cNvPr>
          <p:cNvSpPr txBox="1"/>
          <p:nvPr/>
        </p:nvSpPr>
        <p:spPr>
          <a:xfrm>
            <a:off x="506185" y="1590584"/>
            <a:ext cx="11829902" cy="33807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dirty="0">
                <a:latin typeface="+mn-ea"/>
              </a:rPr>
              <a:t>主控：GOOUUU ESP 32-S 3-CAM 开发板，双核 ESP 32-S 3 处理器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dirty="0">
                <a:latin typeface="+mn-ea"/>
              </a:rPr>
              <a:t>Flash：8 MB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dirty="0">
                <a:latin typeface="+mn-ea"/>
              </a:rPr>
              <a:t>PSRAM：OPI PSRAM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dirty="0">
                <a:latin typeface="+mn-ea"/>
              </a:rPr>
              <a:t>分区表：min_spiffs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dirty="0">
                <a:latin typeface="+mn-ea"/>
              </a:rPr>
              <a:t>调试串口：115200 波特率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dirty="0">
                <a:latin typeface="+mn-ea"/>
              </a:rPr>
              <a:t>相机引脚由板卡原理图固定占用 GPIO 4～18 中的多个引脚，不可再分配给外围模块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dirty="0">
                <a:latin typeface="+mn-ea"/>
              </a:rPr>
              <a:t>BoardConfig.h 中的静态断言会阻止外围 I 2 C SDA 与相机 SCCB SDA 被配置成同一引脚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dirty="0">
                <a:latin typeface="+mn-ea"/>
              </a:rPr>
              <a:t>因 Windows 版 ESP 32 链接器对中文路径兼容性不稳定，platformio.ini 已把构建目录放到系统临时目录</a:t>
            </a:r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6E97DBCA-D234-9E1B-AF0B-90E64045ACFC}"/>
              </a:ext>
            </a:extLst>
          </p:cNvPr>
          <p:cNvGrpSpPr/>
          <p:nvPr/>
        </p:nvGrpSpPr>
        <p:grpSpPr>
          <a:xfrm>
            <a:off x="535911" y="403565"/>
            <a:ext cx="9910202" cy="841145"/>
            <a:chOff x="3757353" y="2472892"/>
            <a:chExt cx="9910202" cy="841145"/>
          </a:xfrm>
        </p:grpSpPr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565425AA-14FB-5342-EE72-390A892A3DAB}"/>
                </a:ext>
              </a:extLst>
            </p:cNvPr>
            <p:cNvSpPr/>
            <p:nvPr/>
          </p:nvSpPr>
          <p:spPr>
            <a:xfrm>
              <a:off x="3757353" y="2603655"/>
              <a:ext cx="1420191" cy="58110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accent2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276FD8F7-B652-6DE5-C927-49518BC09665}"/>
                </a:ext>
              </a:extLst>
            </p:cNvPr>
            <p:cNvSpPr txBox="1"/>
            <p:nvPr/>
          </p:nvSpPr>
          <p:spPr>
            <a:xfrm>
              <a:off x="4022118" y="2483040"/>
              <a:ext cx="89066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4800" dirty="0">
                  <a:solidFill>
                    <a:srgbClr val="003F88"/>
                  </a:solidFill>
                  <a:effectLst>
                    <a:outerShdw blurRad="38100" dist="38100" dir="2700000" algn="tl" rotWithShape="0">
                      <a:schemeClr val="accent5">
                        <a:lumMod val="75000"/>
                        <a:alpha val="51000"/>
                      </a:schemeClr>
                    </a:outerShdw>
                  </a:effectLst>
                  <a:latin typeface="Impact" panose="020B0806030902050204" pitchFamily="34" charset="0"/>
                </a:rPr>
                <a:t>03</a:t>
              </a:r>
              <a:endParaRPr lang="zh-CN" altLang="en-US" sz="4800" dirty="0">
                <a:solidFill>
                  <a:srgbClr val="003F88"/>
                </a:solidFill>
                <a:effectLst>
                  <a:outerShdw blurRad="38100" dist="38100" dir="2700000" algn="tl" rotWithShape="0">
                    <a:schemeClr val="accent5">
                      <a:lumMod val="75000"/>
                      <a:alpha val="51000"/>
                    </a:schemeClr>
                  </a:outerShdw>
                </a:effectLst>
                <a:latin typeface="Impact" panose="020B0806030902050204" pitchFamily="34" charset="0"/>
              </a:endParaRPr>
            </a:p>
          </p:txBody>
        </p:sp>
        <p:sp>
          <p:nvSpPr>
            <p:cNvPr id="20" name="文本占位符 9">
              <a:extLst>
                <a:ext uri="{FF2B5EF4-FFF2-40B4-BE49-F238E27FC236}">
                  <a16:creationId xmlns:a16="http://schemas.microsoft.com/office/drawing/2014/main" id="{8971E77C-ABE6-9225-5B89-2FBC2ED664E5}"/>
                </a:ext>
              </a:extLst>
            </p:cNvPr>
            <p:cNvSpPr txBox="1">
              <a:spLocks/>
            </p:cNvSpPr>
            <p:nvPr/>
          </p:nvSpPr>
          <p:spPr>
            <a:xfrm>
              <a:off x="5450911" y="2472892"/>
              <a:ext cx="8216644" cy="822325"/>
            </a:xfrm>
            <a:prstGeom prst="rect">
              <a:avLst/>
            </a:prstGeom>
            <a:ln>
              <a:noFill/>
            </a:ln>
          </p:spPr>
          <p:txBody>
            <a:bodyPr vert="horz" lIns="91440" tIns="45720" rIns="91440" bIns="45720" rtlCol="0" anchor="ctr">
              <a:noAutofit/>
            </a:bodyPr>
            <a:lstStyle>
              <a:defPPr>
                <a:defRPr lang="zh-CN"/>
              </a:defPPr>
              <a:lvl1pPr marL="0" indent="0" algn="dist" defTabSz="914400" rtl="0" eaLnBrk="1" latinLnBrk="0" hangingPunct="1">
                <a:buNone/>
                <a:defRPr sz="8000" b="1" kern="1200">
                  <a:solidFill>
                    <a:srgbClr val="002060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zh-CN" altLang="en-US" sz="4400" spc="400" dirty="0">
                  <a:solidFill>
                    <a:srgbClr val="003F88"/>
                  </a:solidFill>
                  <a:effectLst>
                    <a:outerShdw blurRad="12700" dist="38100" dir="3600000" sx="102000" sy="102000" algn="tl" rotWithShape="0">
                      <a:schemeClr val="accent5">
                        <a:lumMod val="75000"/>
                        <a:alpha val="30000"/>
                      </a:schemeClr>
                    </a:outerShdw>
                  </a:effectLst>
                </a:rPr>
                <a:t>硬件方案</a:t>
              </a:r>
              <a:r>
                <a:rPr lang="en-US" altLang="zh-CN" sz="4400" spc="400" dirty="0">
                  <a:solidFill>
                    <a:srgbClr val="003F88"/>
                  </a:solidFill>
                  <a:effectLst>
                    <a:outerShdw blurRad="12700" dist="38100" dir="3600000" sx="102000" sy="102000" algn="tl" rotWithShape="0">
                      <a:schemeClr val="accent5">
                        <a:lumMod val="75000"/>
                        <a:alpha val="30000"/>
                      </a:schemeClr>
                    </a:outerShdw>
                  </a:effectLst>
                </a:rPr>
                <a:t>-</a:t>
              </a:r>
              <a:r>
                <a:rPr lang="zh-CN" altLang="en-US" sz="3600" spc="400" dirty="0">
                  <a:solidFill>
                    <a:srgbClr val="003F88"/>
                  </a:solidFill>
                  <a:effectLst>
                    <a:outerShdw blurRad="12700" dist="38100" dir="3600000" sx="102000" sy="102000" algn="tl" rotWithShape="0">
                      <a:schemeClr val="accent5">
                        <a:lumMod val="75000"/>
                        <a:alpha val="30000"/>
                      </a:schemeClr>
                    </a:outerShdw>
                  </a:effectLst>
                </a:rPr>
                <a:t>主控与构建配置✅</a:t>
              </a:r>
              <a:endParaRPr lang="zh-CN" altLang="en-US" sz="4400" spc="400" dirty="0">
                <a:solidFill>
                  <a:srgbClr val="003F88"/>
                </a:solidFill>
                <a:effectLst>
                  <a:outerShdw blurRad="12700" dist="38100" dir="3600000" sx="102000" sy="102000" algn="tl" rotWithShape="0">
                    <a:schemeClr val="accent5">
                      <a:lumMod val="75000"/>
                      <a:alpha val="30000"/>
                    </a:schemeClr>
                  </a:outerShd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08192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5E83E0D1-12C2-44EE-A6F5-FC14F5F9DE0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644" r="19087"/>
          <a:stretch/>
        </p:blipFill>
        <p:spPr>
          <a:xfrm>
            <a:off x="644585" y="2142144"/>
            <a:ext cx="11758614" cy="4002519"/>
          </a:xfrm>
          <a:prstGeom prst="rect">
            <a:avLst/>
          </a:prstGeom>
        </p:spPr>
      </p:pic>
      <p:grpSp>
        <p:nvGrpSpPr>
          <p:cNvPr id="3" name="组合 2">
            <a:extLst>
              <a:ext uri="{FF2B5EF4-FFF2-40B4-BE49-F238E27FC236}">
                <a16:creationId xmlns:a16="http://schemas.microsoft.com/office/drawing/2014/main" id="{932C4169-5DB0-8CE8-F7EF-DFDCBE2B2906}"/>
              </a:ext>
            </a:extLst>
          </p:cNvPr>
          <p:cNvGrpSpPr/>
          <p:nvPr/>
        </p:nvGrpSpPr>
        <p:grpSpPr>
          <a:xfrm>
            <a:off x="535911" y="403565"/>
            <a:ext cx="9537728" cy="841145"/>
            <a:chOff x="3757353" y="2472892"/>
            <a:chExt cx="9537728" cy="841145"/>
          </a:xfrm>
        </p:grpSpPr>
        <p:sp>
          <p:nvSpPr>
            <p:cNvPr id="5" name="椭圆 4">
              <a:extLst>
                <a:ext uri="{FF2B5EF4-FFF2-40B4-BE49-F238E27FC236}">
                  <a16:creationId xmlns:a16="http://schemas.microsoft.com/office/drawing/2014/main" id="{E7E034EC-D9E5-E9BE-6EE3-282E469CA511}"/>
                </a:ext>
              </a:extLst>
            </p:cNvPr>
            <p:cNvSpPr/>
            <p:nvPr/>
          </p:nvSpPr>
          <p:spPr>
            <a:xfrm>
              <a:off x="3757353" y="2603655"/>
              <a:ext cx="1420191" cy="58110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accent2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CE54D246-FB88-F256-BE60-2B781971FDE6}"/>
                </a:ext>
              </a:extLst>
            </p:cNvPr>
            <p:cNvSpPr txBox="1"/>
            <p:nvPr/>
          </p:nvSpPr>
          <p:spPr>
            <a:xfrm>
              <a:off x="4022118" y="2483040"/>
              <a:ext cx="89066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4800" dirty="0">
                  <a:solidFill>
                    <a:srgbClr val="003F88"/>
                  </a:solidFill>
                  <a:effectLst>
                    <a:outerShdw blurRad="38100" dist="38100" dir="2700000" algn="tl" rotWithShape="0">
                      <a:schemeClr val="accent5">
                        <a:lumMod val="75000"/>
                        <a:alpha val="51000"/>
                      </a:schemeClr>
                    </a:outerShdw>
                  </a:effectLst>
                  <a:latin typeface="Impact" panose="020B0806030902050204" pitchFamily="34" charset="0"/>
                </a:rPr>
                <a:t>03</a:t>
              </a:r>
              <a:endParaRPr lang="zh-CN" altLang="en-US" sz="4800" dirty="0">
                <a:solidFill>
                  <a:srgbClr val="003F88"/>
                </a:solidFill>
                <a:effectLst>
                  <a:outerShdw blurRad="38100" dist="38100" dir="2700000" algn="tl" rotWithShape="0">
                    <a:schemeClr val="accent5">
                      <a:lumMod val="75000"/>
                      <a:alpha val="51000"/>
                    </a:schemeClr>
                  </a:outerShdw>
                </a:effectLst>
                <a:latin typeface="Impact" panose="020B0806030902050204" pitchFamily="34" charset="0"/>
              </a:endParaRPr>
            </a:p>
          </p:txBody>
        </p:sp>
        <p:sp>
          <p:nvSpPr>
            <p:cNvPr id="7" name="文本占位符 9">
              <a:extLst>
                <a:ext uri="{FF2B5EF4-FFF2-40B4-BE49-F238E27FC236}">
                  <a16:creationId xmlns:a16="http://schemas.microsoft.com/office/drawing/2014/main" id="{E4CB5C5C-B9E9-B40A-6D8F-14736B33FC18}"/>
                </a:ext>
              </a:extLst>
            </p:cNvPr>
            <p:cNvSpPr txBox="1">
              <a:spLocks/>
            </p:cNvSpPr>
            <p:nvPr/>
          </p:nvSpPr>
          <p:spPr>
            <a:xfrm>
              <a:off x="5450910" y="2472892"/>
              <a:ext cx="7844171" cy="822325"/>
            </a:xfrm>
            <a:prstGeom prst="rect">
              <a:avLst/>
            </a:prstGeom>
            <a:ln>
              <a:noFill/>
            </a:ln>
          </p:spPr>
          <p:txBody>
            <a:bodyPr vert="horz" lIns="91440" tIns="45720" rIns="91440" bIns="45720" rtlCol="0" anchor="ctr">
              <a:noAutofit/>
            </a:bodyPr>
            <a:lstStyle>
              <a:defPPr>
                <a:defRPr lang="zh-CN"/>
              </a:defPPr>
              <a:lvl1pPr marL="0" indent="0" algn="dist" defTabSz="914400" rtl="0" eaLnBrk="1" latinLnBrk="0" hangingPunct="1">
                <a:buNone/>
                <a:defRPr sz="8000" b="1" kern="1200">
                  <a:solidFill>
                    <a:srgbClr val="002060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zh-CN" altLang="en-US" sz="4400" spc="400" dirty="0">
                  <a:solidFill>
                    <a:srgbClr val="003F88"/>
                  </a:solidFill>
                  <a:effectLst>
                    <a:outerShdw blurRad="12700" dist="38100" dir="3600000" sx="102000" sy="102000" algn="tl" rotWithShape="0">
                      <a:schemeClr val="accent5">
                        <a:lumMod val="75000"/>
                        <a:alpha val="30000"/>
                      </a:schemeClr>
                    </a:outerShdw>
                  </a:effectLst>
                </a:rPr>
                <a:t>硬件方案</a:t>
              </a:r>
              <a:r>
                <a:rPr lang="en-US" altLang="zh-CN" sz="4400" spc="400" dirty="0">
                  <a:solidFill>
                    <a:srgbClr val="003F88"/>
                  </a:solidFill>
                  <a:effectLst>
                    <a:outerShdw blurRad="12700" dist="38100" dir="3600000" sx="102000" sy="102000" algn="tl" rotWithShape="0">
                      <a:schemeClr val="accent5">
                        <a:lumMod val="75000"/>
                        <a:alpha val="30000"/>
                      </a:schemeClr>
                    </a:outerShdw>
                  </a:effectLst>
                </a:rPr>
                <a:t>-</a:t>
              </a:r>
              <a:r>
                <a:rPr lang="zh-CN" altLang="en-US" sz="3600" spc="400" dirty="0">
                  <a:solidFill>
                    <a:srgbClr val="003F88"/>
                  </a:solidFill>
                  <a:effectLst>
                    <a:outerShdw blurRad="12700" dist="38100" dir="3600000" sx="102000" sy="102000" algn="tl" rotWithShape="0">
                      <a:schemeClr val="accent5">
                        <a:lumMod val="75000"/>
                        <a:alpha val="30000"/>
                      </a:schemeClr>
                    </a:outerShdw>
                  </a:effectLst>
                </a:rPr>
                <a:t>传感器与执行器✅</a:t>
              </a:r>
              <a:endParaRPr lang="zh-CN" altLang="en-US" sz="4400" spc="400" dirty="0">
                <a:solidFill>
                  <a:srgbClr val="003F88"/>
                </a:solidFill>
                <a:effectLst>
                  <a:outerShdw blurRad="12700" dist="38100" dir="3600000" sx="102000" sy="102000" algn="tl" rotWithShape="0">
                    <a:schemeClr val="accent5">
                      <a:lumMod val="75000"/>
                      <a:alpha val="30000"/>
                    </a:schemeClr>
                  </a:outerShdw>
                </a:effectLst>
              </a:endParaRPr>
            </a:p>
          </p:txBody>
        </p:sp>
      </p:grp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5ADB65AA-9700-054C-0B4D-DB0920575B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0190938"/>
              </p:ext>
            </p:extLst>
          </p:nvPr>
        </p:nvGraphicFramePr>
        <p:xfrm>
          <a:off x="1956102" y="2031690"/>
          <a:ext cx="8048106" cy="3669272"/>
        </p:xfrm>
        <a:graphic>
          <a:graphicData uri="http://schemas.openxmlformats.org/drawingml/2006/table">
            <a:tbl>
              <a:tblPr/>
              <a:tblGrid>
                <a:gridCol w="2162695">
                  <a:extLst>
                    <a:ext uri="{9D8B030D-6E8A-4147-A177-3AD203B41FA5}">
                      <a16:colId xmlns:a16="http://schemas.microsoft.com/office/drawing/2014/main" val="614603968"/>
                    </a:ext>
                  </a:extLst>
                </a:gridCol>
                <a:gridCol w="5885411">
                  <a:extLst>
                    <a:ext uri="{9D8B030D-6E8A-4147-A177-3AD203B41FA5}">
                      <a16:colId xmlns:a16="http://schemas.microsoft.com/office/drawing/2014/main" val="1831449509"/>
                    </a:ext>
                  </a:extLst>
                </a:gridCol>
              </a:tblGrid>
              <a:tr h="48798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b="1" u="none" dirty="0">
                          <a:solidFill>
                            <a:srgbClr val="002060"/>
                          </a:solidFill>
                        </a:rPr>
                        <a:t>驱动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571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b="1" u="none" dirty="0">
                          <a:solidFill>
                            <a:srgbClr val="002060"/>
                          </a:solidFill>
                        </a:rPr>
                        <a:t>实现要点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571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15406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dirty="0">
                          <a:latin typeface="+mn-ea"/>
                          <a:ea typeface="+mn-ea"/>
                        </a:rPr>
                        <a:t>HC-SR04 (I2C)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571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dirty="0">
                          <a:latin typeface="+mn-ea"/>
                          <a:ea typeface="+mn-ea"/>
                        </a:rPr>
                        <a:t>写 0x01 → 等 130 ms → 读 24 位微米值；非阻塞触发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571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28616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>
                          <a:latin typeface="+mn-ea"/>
                          <a:ea typeface="+mn-ea"/>
                        </a:rPr>
                        <a:t>JY901S (IMU)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dirty="0">
                          <a:latin typeface="+mn-ea"/>
                          <a:ea typeface="+mn-ea"/>
                        </a:rPr>
                        <a:t>解析 0x55 帧，输出加速度/角速度/欧拉角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93006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>
                          <a:latin typeface="+mn-ea"/>
                          <a:ea typeface="+mn-ea"/>
                        </a:rPr>
                        <a:t>ATGM336H (GPS)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>
                          <a:latin typeface="+mn-ea"/>
                          <a:ea typeface="+mn-ea"/>
                        </a:rPr>
                        <a:t>校验 NMEA RMC/GGA，保留最后有效位置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66861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>
                          <a:latin typeface="+mn-ea"/>
                          <a:ea typeface="+mn-ea"/>
                        </a:rPr>
                        <a:t>BH1750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>
                          <a:latin typeface="+mn-ea"/>
                          <a:ea typeface="+mn-ea"/>
                        </a:rPr>
                        <a:t>自动识别 0x23/0x5C 双地址，高分辨率模式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71554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>
                          <a:latin typeface="+mn-ea"/>
                          <a:ea typeface="+mn-ea"/>
                        </a:rPr>
                        <a:t>SSD1306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>
                          <a:latin typeface="+mn-ea"/>
                          <a:ea typeface="+mn-ea"/>
                        </a:rPr>
                        <a:t>自带轻量显示驱动和英数字体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32198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>
                          <a:latin typeface="+mn-ea"/>
                          <a:ea typeface="+mn-ea"/>
                        </a:rPr>
                        <a:t>SOS 按键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>
                          <a:latin typeface="+mn-ea"/>
                          <a:ea typeface="+mn-ea"/>
                        </a:rPr>
                        <a:t>30 ms 消抖，边沿触发，长按不重复入队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37660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>
                          <a:latin typeface="+mn-ea"/>
                          <a:ea typeface="+mn-ea"/>
                        </a:rPr>
                        <a:t>蜂鸣器 / LED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dirty="0">
                          <a:latin typeface="+mn-ea"/>
                          <a:ea typeface="+mn-ea"/>
                        </a:rPr>
                        <a:t>MOS 驱动，非阻塞节奏控制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78499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698305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>
            <a:extLst>
              <a:ext uri="{FF2B5EF4-FFF2-40B4-BE49-F238E27FC236}">
                <a16:creationId xmlns:a16="http://schemas.microsoft.com/office/drawing/2014/main" id="{87986716-C1BD-0017-55CD-74383DB135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3" y="2335876"/>
            <a:ext cx="4293510" cy="3076239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4C86976A-5C77-4CC0-9FBD-C452B78E6F3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9268" y="277013"/>
            <a:ext cx="2045209" cy="568113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1A895E13-6B87-4FD5-BEDB-7359E7723455}"/>
              </a:ext>
            </a:extLst>
          </p:cNvPr>
          <p:cNvSpPr txBox="1"/>
          <p:nvPr/>
        </p:nvSpPr>
        <p:spPr>
          <a:xfrm>
            <a:off x="466881" y="1252176"/>
            <a:ext cx="10006992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spc="200" dirty="0"/>
              <a:t>工程已完成双核 </a:t>
            </a:r>
            <a:r>
              <a:rPr lang="en-US" altLang="zh-CN" sz="2000" b="1" spc="200" dirty="0" err="1"/>
              <a:t>FreeRTOS</a:t>
            </a:r>
            <a:r>
              <a:rPr lang="en-US" altLang="zh-CN" sz="2000" b="1" spc="200" dirty="0"/>
              <a:t> </a:t>
            </a:r>
            <a:r>
              <a:rPr lang="zh-CN" altLang="en-US" sz="2000" b="1" spc="200" dirty="0"/>
              <a:t>任务划分： 关键规则</a:t>
            </a:r>
            <a:r>
              <a:rPr lang="zh-CN" altLang="en-US" sz="2400" b="1" spc="200" dirty="0"/>
              <a:t>：</a:t>
            </a:r>
            <a:endParaRPr lang="en-US" altLang="zh-CN" sz="2400" b="1" spc="2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pc="200" dirty="0"/>
              <a:t>Core 1 </a:t>
            </a:r>
            <a:r>
              <a:rPr lang="zh-CN" altLang="en-US" spc="200" dirty="0"/>
              <a:t>负责传感器</a:t>
            </a:r>
            <a:r>
              <a:rPr lang="en-US" altLang="zh-CN" spc="200" dirty="0"/>
              <a:t>/</a:t>
            </a:r>
            <a:r>
              <a:rPr lang="zh-CN" altLang="en-US" spc="200" dirty="0"/>
              <a:t>决策</a:t>
            </a:r>
            <a:r>
              <a:rPr lang="en-US" altLang="zh-CN" spc="200" dirty="0"/>
              <a:t>/</a:t>
            </a:r>
            <a:r>
              <a:rPr lang="zh-CN" altLang="en-US" spc="200" dirty="0"/>
              <a:t>执行</a:t>
            </a:r>
            <a:endParaRPr lang="en-US" altLang="zh-CN" spc="2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pc="200" dirty="0"/>
              <a:t>Core 0 </a:t>
            </a:r>
            <a:r>
              <a:rPr lang="zh-CN" altLang="en-US" spc="200" dirty="0"/>
              <a:t>负责网络</a:t>
            </a:r>
            <a:r>
              <a:rPr lang="en-US" altLang="zh-CN" spc="200" dirty="0"/>
              <a:t>/</a:t>
            </a:r>
            <a:r>
              <a:rPr lang="zh-CN" altLang="en-US" spc="200" dirty="0"/>
              <a:t>遥测，任务间通过队列传递数据。</a:t>
            </a:r>
            <a:endParaRPr lang="en-US" altLang="zh-CN" spc="200" dirty="0"/>
          </a:p>
          <a:p>
            <a:pPr algn="ctr"/>
            <a:endParaRPr lang="zh-CN" altLang="en-US" sz="2400" b="1" spc="200" dirty="0"/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9FDC2DC9-19EF-8168-B1F1-605E818962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7644499"/>
              </p:ext>
            </p:extLst>
          </p:nvPr>
        </p:nvGraphicFramePr>
        <p:xfrm>
          <a:off x="404988" y="2944737"/>
          <a:ext cx="7018277" cy="3220503"/>
        </p:xfrm>
        <a:graphic>
          <a:graphicData uri="http://schemas.openxmlformats.org/drawingml/2006/table">
            <a:tbl>
              <a:tblPr/>
              <a:tblGrid>
                <a:gridCol w="2119886">
                  <a:extLst>
                    <a:ext uri="{9D8B030D-6E8A-4147-A177-3AD203B41FA5}">
                      <a16:colId xmlns:a16="http://schemas.microsoft.com/office/drawing/2014/main" val="308465866"/>
                    </a:ext>
                  </a:extLst>
                </a:gridCol>
                <a:gridCol w="954819">
                  <a:extLst>
                    <a:ext uri="{9D8B030D-6E8A-4147-A177-3AD203B41FA5}">
                      <a16:colId xmlns:a16="http://schemas.microsoft.com/office/drawing/2014/main" val="3714627605"/>
                    </a:ext>
                  </a:extLst>
                </a:gridCol>
                <a:gridCol w="3943572">
                  <a:extLst>
                    <a:ext uri="{9D8B030D-6E8A-4147-A177-3AD203B41FA5}">
                      <a16:colId xmlns:a16="http://schemas.microsoft.com/office/drawing/2014/main" val="2316884312"/>
                    </a:ext>
                  </a:extLst>
                </a:gridCol>
              </a:tblGrid>
              <a:tr h="49368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b="1" dirty="0">
                          <a:solidFill>
                            <a:srgbClr val="002060"/>
                          </a:solidFill>
                        </a:rPr>
                        <a:t>任务</a:t>
                      </a: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b="1" dirty="0">
                          <a:solidFill>
                            <a:srgbClr val="002060"/>
                          </a:solidFill>
                        </a:rPr>
                        <a:t>核心</a:t>
                      </a: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b="1" dirty="0">
                          <a:solidFill>
                            <a:srgbClr val="002060"/>
                          </a:solidFill>
                        </a:rPr>
                        <a:t>职责</a:t>
                      </a: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55019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>
                          <a:latin typeface="+mn-ea"/>
                          <a:ea typeface="+mn-ea"/>
                        </a:rPr>
                        <a:t>SensorTask</a:t>
                      </a: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>
                          <a:latin typeface="+mn-ea"/>
                          <a:ea typeface="+mn-ea"/>
                        </a:rPr>
                        <a:t>Core 1</a:t>
                      </a: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dirty="0">
                          <a:latin typeface="+mn-ea"/>
                          <a:ea typeface="+mn-ea"/>
                        </a:rPr>
                        <a:t>采样全部传感器，生成原始快照</a:t>
                      </a: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40979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>
                          <a:latin typeface="+mn-ea"/>
                          <a:ea typeface="+mn-ea"/>
                        </a:rPr>
                        <a:t>DecisionTask</a:t>
                      </a: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>
                          <a:latin typeface="+mn-ea"/>
                          <a:ea typeface="+mn-ea"/>
                        </a:rPr>
                        <a:t>Core 1</a:t>
                      </a: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dirty="0">
                          <a:latin typeface="+mn-ea"/>
                          <a:ea typeface="+mn-ea"/>
                        </a:rPr>
                        <a:t>跌倒检测与状态机决策</a:t>
                      </a: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62216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>
                          <a:latin typeface="+mn-ea"/>
                          <a:ea typeface="+mn-ea"/>
                        </a:rPr>
                        <a:t>ActuatorTask</a:t>
                      </a: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>
                          <a:latin typeface="+mn-ea"/>
                          <a:ea typeface="+mn-ea"/>
                        </a:rPr>
                        <a:t>Core 1</a:t>
                      </a: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dirty="0">
                          <a:latin typeface="+mn-ea"/>
                          <a:ea typeface="+mn-ea"/>
                        </a:rPr>
                        <a:t>蜂鸣</a:t>
                      </a:r>
                      <a:r>
                        <a:rPr lang="zh-CN">
                          <a:latin typeface="+mn-ea"/>
                          <a:ea typeface="+mn-ea"/>
                        </a:rPr>
                        <a:t>器、</a:t>
                      </a:r>
                      <a:r>
                        <a:rPr lang="en-US">
                          <a:latin typeface="+mn-ea"/>
                          <a:ea typeface="+mn-ea"/>
                        </a:rPr>
                        <a:t>LED</a:t>
                      </a:r>
                      <a:r>
                        <a:rPr lang="zh-CN">
                          <a:latin typeface="+mn-ea"/>
                          <a:ea typeface="+mn-ea"/>
                        </a:rPr>
                        <a:t>、</a:t>
                      </a:r>
                      <a:r>
                        <a:rPr lang="en-US">
                          <a:latin typeface="+mn-ea"/>
                          <a:ea typeface="+mn-ea"/>
                        </a:rPr>
                        <a:t>OLED </a:t>
                      </a:r>
                      <a:r>
                        <a:rPr lang="zh-CN">
                          <a:latin typeface="+mn-ea"/>
                          <a:ea typeface="+mn-ea"/>
                        </a:rPr>
                        <a:t>的</a:t>
                      </a:r>
                      <a:r>
                        <a:rPr lang="zh-CN" dirty="0">
                          <a:latin typeface="+mn-ea"/>
                          <a:ea typeface="+mn-ea"/>
                        </a:rPr>
                        <a:t>唯一写入者</a:t>
                      </a: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17522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>
                          <a:latin typeface="+mn-ea"/>
                          <a:ea typeface="+mn-ea"/>
                        </a:rPr>
                        <a:t>NetworkTask</a:t>
                      </a: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>
                          <a:latin typeface="+mn-ea"/>
                          <a:ea typeface="+mn-ea"/>
                        </a:rPr>
                        <a:t>Core 0</a:t>
                      </a: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>
                          <a:latin typeface="+mn-ea"/>
                          <a:ea typeface="+mn-ea"/>
                        </a:rPr>
                        <a:t>Wi-Fi </a:t>
                      </a:r>
                      <a:r>
                        <a:rPr lang="zh-CN">
                          <a:latin typeface="+mn-ea"/>
                          <a:ea typeface="+mn-ea"/>
                        </a:rPr>
                        <a:t>重连与状态发布</a:t>
                      </a: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03574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dirty="0">
                          <a:latin typeface="+mn-ea"/>
                          <a:ea typeface="+mn-ea"/>
                        </a:rPr>
                        <a:t>TelemetryTask</a:t>
                      </a: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>
                          <a:latin typeface="+mn-ea"/>
                          <a:ea typeface="+mn-ea"/>
                        </a:rPr>
                        <a:t>Core 0</a:t>
                      </a: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>
                          <a:latin typeface="+mn-ea"/>
                          <a:ea typeface="+mn-ea"/>
                        </a:rPr>
                        <a:t>SC 1 </a:t>
                      </a:r>
                      <a:r>
                        <a:rPr lang="zh-CN">
                          <a:latin typeface="+mn-ea"/>
                          <a:ea typeface="+mn-ea"/>
                        </a:rPr>
                        <a:t>串</a:t>
                      </a:r>
                      <a:r>
                        <a:rPr lang="zh-CN" dirty="0">
                          <a:latin typeface="+mn-ea"/>
                          <a:ea typeface="+mn-ea"/>
                        </a:rPr>
                        <a:t>口遥测</a:t>
                      </a: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4185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dirty="0">
                          <a:latin typeface="+mn-ea"/>
                          <a:ea typeface="+mn-ea"/>
                        </a:rPr>
                        <a:t>摄像头/HTTP</a:t>
                      </a: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>
                          <a:latin typeface="+mn-ea"/>
                          <a:ea typeface="+mn-ea"/>
                        </a:rPr>
                        <a:t>默认</a:t>
                      </a: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dirty="0">
                          <a:latin typeface="+mn-ea"/>
                          <a:ea typeface="+mn-ea"/>
                        </a:rPr>
                        <a:t>MJPEG </a:t>
                      </a:r>
                      <a:r>
                        <a:rPr lang="zh-CN" dirty="0">
                          <a:latin typeface="+mn-ea"/>
                          <a:ea typeface="+mn-ea"/>
                        </a:rPr>
                        <a:t>流与网页请求</a:t>
                      </a: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3846318"/>
                  </a:ext>
                </a:extLst>
              </a:tr>
            </a:tbl>
          </a:graphicData>
        </a:graphic>
      </p:graphicFrame>
      <p:sp>
        <p:nvSpPr>
          <p:cNvPr id="14" name="文本框 13">
            <a:extLst>
              <a:ext uri="{FF2B5EF4-FFF2-40B4-BE49-F238E27FC236}">
                <a16:creationId xmlns:a16="http://schemas.microsoft.com/office/drawing/2014/main" id="{F364E5E4-2928-CCBD-BA33-A1E18E2F8448}"/>
              </a:ext>
            </a:extLst>
          </p:cNvPr>
          <p:cNvSpPr txBox="1"/>
          <p:nvPr/>
        </p:nvSpPr>
        <p:spPr>
          <a:xfrm>
            <a:off x="7812986" y="2525835"/>
            <a:ext cx="4161491" cy="25359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zh-CN" dirty="0"/>
              <a:t>只有 SensorTask 读传感器，只有 ActuatorTask 写执行器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zh-CN" dirty="0"/>
              <a:t>DecisionTask 只读快照、只输出命令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zh-CN" dirty="0"/>
              <a:t>HTTP 回调只入队，不直接改状态机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zh-CN" dirty="0"/>
              <a:t>队列满时返回 503 / SC1 ERR</a:t>
            </a:r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AB29C6C4-AC94-5B29-4B23-A3E189418418}"/>
              </a:ext>
            </a:extLst>
          </p:cNvPr>
          <p:cNvGrpSpPr/>
          <p:nvPr/>
        </p:nvGrpSpPr>
        <p:grpSpPr>
          <a:xfrm>
            <a:off x="312995" y="249202"/>
            <a:ext cx="11301244" cy="841145"/>
            <a:chOff x="3757353" y="2472892"/>
            <a:chExt cx="11301244" cy="841145"/>
          </a:xfrm>
        </p:grpSpPr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87C1BB8B-E67F-C69A-5585-DE95D4E5CECC}"/>
                </a:ext>
              </a:extLst>
            </p:cNvPr>
            <p:cNvSpPr/>
            <p:nvPr/>
          </p:nvSpPr>
          <p:spPr>
            <a:xfrm>
              <a:off x="3757353" y="2603655"/>
              <a:ext cx="1420191" cy="58110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accent2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CAA86A88-47F9-CC04-2B15-2ED9CCC5CD79}"/>
                </a:ext>
              </a:extLst>
            </p:cNvPr>
            <p:cNvSpPr txBox="1"/>
            <p:nvPr/>
          </p:nvSpPr>
          <p:spPr>
            <a:xfrm>
              <a:off x="4022118" y="2483040"/>
              <a:ext cx="89066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4800" dirty="0">
                  <a:solidFill>
                    <a:srgbClr val="003F88"/>
                  </a:solidFill>
                  <a:effectLst>
                    <a:outerShdw blurRad="38100" dist="38100" dir="2700000" algn="tl" rotWithShape="0">
                      <a:schemeClr val="accent5">
                        <a:lumMod val="75000"/>
                        <a:alpha val="51000"/>
                      </a:schemeClr>
                    </a:outerShdw>
                  </a:effectLst>
                  <a:latin typeface="Impact" panose="020B0806030902050204" pitchFamily="34" charset="0"/>
                </a:rPr>
                <a:t>04</a:t>
              </a:r>
              <a:endParaRPr lang="zh-CN" altLang="en-US" sz="4800" dirty="0">
                <a:solidFill>
                  <a:srgbClr val="003F88"/>
                </a:solidFill>
                <a:effectLst>
                  <a:outerShdw blurRad="38100" dist="38100" dir="2700000" algn="tl" rotWithShape="0">
                    <a:schemeClr val="accent5">
                      <a:lumMod val="75000"/>
                      <a:alpha val="51000"/>
                    </a:schemeClr>
                  </a:outerShdw>
                </a:effectLst>
                <a:latin typeface="Impact" panose="020B0806030902050204" pitchFamily="34" charset="0"/>
              </a:endParaRPr>
            </a:p>
          </p:txBody>
        </p:sp>
        <p:sp>
          <p:nvSpPr>
            <p:cNvPr id="19" name="文本占位符 9">
              <a:extLst>
                <a:ext uri="{FF2B5EF4-FFF2-40B4-BE49-F238E27FC236}">
                  <a16:creationId xmlns:a16="http://schemas.microsoft.com/office/drawing/2014/main" id="{EFAC82D7-1788-879F-3A2A-C95F8EEE14C7}"/>
                </a:ext>
              </a:extLst>
            </p:cNvPr>
            <p:cNvSpPr txBox="1">
              <a:spLocks/>
            </p:cNvSpPr>
            <p:nvPr/>
          </p:nvSpPr>
          <p:spPr>
            <a:xfrm>
              <a:off x="5450910" y="2472892"/>
              <a:ext cx="9607687" cy="822325"/>
            </a:xfrm>
            <a:prstGeom prst="rect">
              <a:avLst/>
            </a:prstGeom>
            <a:ln>
              <a:noFill/>
            </a:ln>
          </p:spPr>
          <p:txBody>
            <a:bodyPr vert="horz" lIns="91440" tIns="45720" rIns="91440" bIns="45720" rtlCol="0" anchor="ctr">
              <a:noAutofit/>
            </a:bodyPr>
            <a:lstStyle>
              <a:defPPr>
                <a:defRPr lang="zh-CN"/>
              </a:defPPr>
              <a:lvl1pPr marL="0" indent="0" algn="dist" defTabSz="914400" rtl="0" eaLnBrk="1" latinLnBrk="0" hangingPunct="1">
                <a:buNone/>
                <a:defRPr sz="8000" b="1" kern="1200">
                  <a:solidFill>
                    <a:srgbClr val="002060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zh-CN" altLang="en-US" sz="4400" spc="400" dirty="0">
                  <a:solidFill>
                    <a:srgbClr val="003F88"/>
                  </a:solidFill>
                  <a:effectLst>
                    <a:outerShdw blurRad="12700" dist="38100" dir="3600000" sx="102000" sy="102000" algn="tl" rotWithShape="0">
                      <a:schemeClr val="accent5">
                        <a:lumMod val="75000"/>
                        <a:alpha val="30000"/>
                      </a:schemeClr>
                    </a:outerShdw>
                  </a:effectLst>
                </a:rPr>
                <a:t>软件方案</a:t>
              </a:r>
              <a:r>
                <a:rPr lang="en-US" altLang="zh-CN" sz="4400" spc="400" dirty="0">
                  <a:solidFill>
                    <a:srgbClr val="003F88"/>
                  </a:solidFill>
                  <a:effectLst>
                    <a:outerShdw blurRad="12700" dist="38100" dir="3600000" sx="102000" sy="102000" algn="tl" rotWithShape="0">
                      <a:schemeClr val="accent5">
                        <a:lumMod val="75000"/>
                        <a:alpha val="30000"/>
                      </a:schemeClr>
                    </a:outerShdw>
                  </a:effectLst>
                </a:rPr>
                <a:t>-</a:t>
              </a:r>
              <a:r>
                <a:rPr lang="zh-CN" altLang="en-US" sz="3600" spc="400" dirty="0">
                  <a:solidFill>
                    <a:srgbClr val="003F88"/>
                  </a:solidFill>
                  <a:effectLst>
                    <a:outerShdw blurRad="12700" dist="38100" dir="3600000" sx="102000" sy="102000" algn="tl" rotWithShape="0">
                      <a:schemeClr val="accent5">
                        <a:lumMod val="75000"/>
                        <a:alpha val="30000"/>
                      </a:schemeClr>
                    </a:outerShdw>
                  </a:effectLst>
                </a:rPr>
                <a:t>双核调度✅</a:t>
              </a:r>
              <a:endParaRPr lang="zh-CN" altLang="en-US" sz="4400" spc="400" dirty="0">
                <a:solidFill>
                  <a:srgbClr val="003F88"/>
                </a:solidFill>
                <a:effectLst>
                  <a:outerShdw blurRad="12700" dist="38100" dir="3600000" sx="102000" sy="102000" algn="tl" rotWithShape="0">
                    <a:schemeClr val="accent5">
                      <a:lumMod val="75000"/>
                      <a:alpha val="30000"/>
                    </a:schemeClr>
                  </a:outerShd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475867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肘形连接符 22">
            <a:extLst>
              <a:ext uri="{FF2B5EF4-FFF2-40B4-BE49-F238E27FC236}">
                <a16:creationId xmlns:a16="http://schemas.microsoft.com/office/drawing/2014/main" id="{BC8CA9BB-BC20-4D4B-8467-9D1ECC98E723}"/>
              </a:ext>
            </a:extLst>
          </p:cNvPr>
          <p:cNvCxnSpPr>
            <a:cxnSpLocks/>
          </p:cNvCxnSpPr>
          <p:nvPr>
            <p:custDataLst>
              <p:tags r:id="rId1"/>
            </p:custDataLst>
          </p:nvPr>
        </p:nvCxnSpPr>
        <p:spPr>
          <a:xfrm rot="5400000" flipH="1" flipV="1">
            <a:off x="1903503" y="2106947"/>
            <a:ext cx="2506018" cy="1709724"/>
          </a:xfrm>
          <a:prstGeom prst="bentConnector2">
            <a:avLst/>
          </a:prstGeom>
          <a:ln w="19050" cap="rnd">
            <a:solidFill>
              <a:srgbClr val="003F88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肘形连接符 26">
            <a:extLst>
              <a:ext uri="{FF2B5EF4-FFF2-40B4-BE49-F238E27FC236}">
                <a16:creationId xmlns:a16="http://schemas.microsoft.com/office/drawing/2014/main" id="{2D622000-2463-4845-BFCF-D9128D1547F7}"/>
              </a:ext>
            </a:extLst>
          </p:cNvPr>
          <p:cNvCxnSpPr>
            <a:cxnSpLocks/>
            <a:endCxn id="12" idx="2"/>
          </p:cNvCxnSpPr>
          <p:nvPr>
            <p:custDataLst>
              <p:tags r:id="rId2"/>
            </p:custDataLst>
          </p:nvPr>
        </p:nvCxnSpPr>
        <p:spPr>
          <a:xfrm flipV="1">
            <a:off x="2004051" y="2869087"/>
            <a:ext cx="2654362" cy="1589948"/>
          </a:xfrm>
          <a:prstGeom prst="bentConnector3">
            <a:avLst>
              <a:gd name="adj1" fmla="val 50000"/>
            </a:avLst>
          </a:prstGeom>
          <a:ln w="19050">
            <a:solidFill>
              <a:srgbClr val="003F88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4" name="肘形连接符 23">
            <a:extLst>
              <a:ext uri="{FF2B5EF4-FFF2-40B4-BE49-F238E27FC236}">
                <a16:creationId xmlns:a16="http://schemas.microsoft.com/office/drawing/2014/main" id="{CBD2489E-0703-477E-B056-D2BA63BC722D}"/>
              </a:ext>
            </a:extLst>
          </p:cNvPr>
          <p:cNvCxnSpPr>
            <a:cxnSpLocks/>
            <a:endCxn id="14" idx="2"/>
          </p:cNvCxnSpPr>
          <p:nvPr>
            <p:custDataLst>
              <p:tags r:id="rId3"/>
            </p:custDataLst>
          </p:nvPr>
        </p:nvCxnSpPr>
        <p:spPr>
          <a:xfrm>
            <a:off x="2291949" y="3813646"/>
            <a:ext cx="1975316" cy="1561011"/>
          </a:xfrm>
          <a:prstGeom prst="bentConnector3">
            <a:avLst>
              <a:gd name="adj1" fmla="val 50000"/>
            </a:avLst>
          </a:prstGeom>
          <a:ln w="19050">
            <a:solidFill>
              <a:srgbClr val="003F88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 11">
            <a:extLst>
              <a:ext uri="{FF2B5EF4-FFF2-40B4-BE49-F238E27FC236}">
                <a16:creationId xmlns:a16="http://schemas.microsoft.com/office/drawing/2014/main" id="{670845B5-D74C-4936-B234-3CF5F4B2900C}"/>
              </a:ext>
            </a:extLst>
          </p:cNvPr>
          <p:cNvGrpSpPr/>
          <p:nvPr>
            <p:custDataLst>
              <p:tags r:id="rId4"/>
            </p:custDataLst>
          </p:nvPr>
        </p:nvGrpSpPr>
        <p:grpSpPr bwMode="auto">
          <a:xfrm>
            <a:off x="798187" y="2429132"/>
            <a:ext cx="2649893" cy="2649893"/>
            <a:chOff x="0" y="0"/>
            <a:chExt cx="1232" cy="1232"/>
          </a:xfrm>
        </p:grpSpPr>
        <p:sp>
          <p:nvSpPr>
            <p:cNvPr id="7" name="Freeform 3">
              <a:extLst>
                <a:ext uri="{FF2B5EF4-FFF2-40B4-BE49-F238E27FC236}">
                  <a16:creationId xmlns:a16="http://schemas.microsoft.com/office/drawing/2014/main" id="{D51F45B8-D116-4221-8773-F3D2BCEA3E2B}"/>
                </a:ext>
              </a:extLst>
            </p:cNvPr>
            <p:cNvSpPr>
              <a:spLocks noEditPoints="1"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432" y="432"/>
              <a:ext cx="368" cy="368"/>
            </a:xfrm>
            <a:custGeom>
              <a:avLst/>
              <a:gdLst>
                <a:gd name="T0" fmla="*/ 0 w 368"/>
                <a:gd name="T1" fmla="*/ 184 h 368"/>
                <a:gd name="T2" fmla="*/ 4 w 368"/>
                <a:gd name="T3" fmla="*/ 222 h 368"/>
                <a:gd name="T4" fmla="*/ 14 w 368"/>
                <a:gd name="T5" fmla="*/ 256 h 368"/>
                <a:gd name="T6" fmla="*/ 32 w 368"/>
                <a:gd name="T7" fmla="*/ 286 h 368"/>
                <a:gd name="T8" fmla="*/ 54 w 368"/>
                <a:gd name="T9" fmla="*/ 314 h 368"/>
                <a:gd name="T10" fmla="*/ 82 w 368"/>
                <a:gd name="T11" fmla="*/ 336 h 368"/>
                <a:gd name="T12" fmla="*/ 112 w 368"/>
                <a:gd name="T13" fmla="*/ 354 h 368"/>
                <a:gd name="T14" fmla="*/ 146 w 368"/>
                <a:gd name="T15" fmla="*/ 364 h 368"/>
                <a:gd name="T16" fmla="*/ 184 w 368"/>
                <a:gd name="T17" fmla="*/ 368 h 368"/>
                <a:gd name="T18" fmla="*/ 222 w 368"/>
                <a:gd name="T19" fmla="*/ 364 h 368"/>
                <a:gd name="T20" fmla="*/ 256 w 368"/>
                <a:gd name="T21" fmla="*/ 354 h 368"/>
                <a:gd name="T22" fmla="*/ 286 w 368"/>
                <a:gd name="T23" fmla="*/ 336 h 368"/>
                <a:gd name="T24" fmla="*/ 314 w 368"/>
                <a:gd name="T25" fmla="*/ 314 h 368"/>
                <a:gd name="T26" fmla="*/ 336 w 368"/>
                <a:gd name="T27" fmla="*/ 286 h 368"/>
                <a:gd name="T28" fmla="*/ 354 w 368"/>
                <a:gd name="T29" fmla="*/ 256 h 368"/>
                <a:gd name="T30" fmla="*/ 364 w 368"/>
                <a:gd name="T31" fmla="*/ 222 h 368"/>
                <a:gd name="T32" fmla="*/ 368 w 368"/>
                <a:gd name="T33" fmla="*/ 184 h 368"/>
                <a:gd name="T34" fmla="*/ 364 w 368"/>
                <a:gd name="T35" fmla="*/ 146 h 368"/>
                <a:gd name="T36" fmla="*/ 354 w 368"/>
                <a:gd name="T37" fmla="*/ 112 h 368"/>
                <a:gd name="T38" fmla="*/ 336 w 368"/>
                <a:gd name="T39" fmla="*/ 82 h 368"/>
                <a:gd name="T40" fmla="*/ 314 w 368"/>
                <a:gd name="T41" fmla="*/ 54 h 368"/>
                <a:gd name="T42" fmla="*/ 286 w 368"/>
                <a:gd name="T43" fmla="*/ 32 h 368"/>
                <a:gd name="T44" fmla="*/ 256 w 368"/>
                <a:gd name="T45" fmla="*/ 14 h 368"/>
                <a:gd name="T46" fmla="*/ 222 w 368"/>
                <a:gd name="T47" fmla="*/ 4 h 368"/>
                <a:gd name="T48" fmla="*/ 184 w 368"/>
                <a:gd name="T49" fmla="*/ 0 h 368"/>
                <a:gd name="T50" fmla="*/ 146 w 368"/>
                <a:gd name="T51" fmla="*/ 4 h 368"/>
                <a:gd name="T52" fmla="*/ 112 w 368"/>
                <a:gd name="T53" fmla="*/ 14 h 368"/>
                <a:gd name="T54" fmla="*/ 82 w 368"/>
                <a:gd name="T55" fmla="*/ 32 h 368"/>
                <a:gd name="T56" fmla="*/ 54 w 368"/>
                <a:gd name="T57" fmla="*/ 54 h 368"/>
                <a:gd name="T58" fmla="*/ 32 w 368"/>
                <a:gd name="T59" fmla="*/ 82 h 368"/>
                <a:gd name="T60" fmla="*/ 14 w 368"/>
                <a:gd name="T61" fmla="*/ 112 h 368"/>
                <a:gd name="T62" fmla="*/ 4 w 368"/>
                <a:gd name="T63" fmla="*/ 146 h 368"/>
                <a:gd name="T64" fmla="*/ 0 w 368"/>
                <a:gd name="T65" fmla="*/ 184 h 368"/>
                <a:gd name="T66" fmla="*/ 80 w 368"/>
                <a:gd name="T67" fmla="*/ 184 h 368"/>
                <a:gd name="T68" fmla="*/ 88 w 368"/>
                <a:gd name="T69" fmla="*/ 144 h 368"/>
                <a:gd name="T70" fmla="*/ 110 w 368"/>
                <a:gd name="T71" fmla="*/ 110 h 368"/>
                <a:gd name="T72" fmla="*/ 144 w 368"/>
                <a:gd name="T73" fmla="*/ 88 h 368"/>
                <a:gd name="T74" fmla="*/ 184 w 368"/>
                <a:gd name="T75" fmla="*/ 80 h 368"/>
                <a:gd name="T76" fmla="*/ 224 w 368"/>
                <a:gd name="T77" fmla="*/ 88 h 368"/>
                <a:gd name="T78" fmla="*/ 258 w 368"/>
                <a:gd name="T79" fmla="*/ 110 h 368"/>
                <a:gd name="T80" fmla="*/ 280 w 368"/>
                <a:gd name="T81" fmla="*/ 144 h 368"/>
                <a:gd name="T82" fmla="*/ 288 w 368"/>
                <a:gd name="T83" fmla="*/ 184 h 368"/>
                <a:gd name="T84" fmla="*/ 280 w 368"/>
                <a:gd name="T85" fmla="*/ 224 h 368"/>
                <a:gd name="T86" fmla="*/ 258 w 368"/>
                <a:gd name="T87" fmla="*/ 258 h 368"/>
                <a:gd name="T88" fmla="*/ 224 w 368"/>
                <a:gd name="T89" fmla="*/ 280 h 368"/>
                <a:gd name="T90" fmla="*/ 184 w 368"/>
                <a:gd name="T91" fmla="*/ 288 h 368"/>
                <a:gd name="T92" fmla="*/ 144 w 368"/>
                <a:gd name="T93" fmla="*/ 280 h 368"/>
                <a:gd name="T94" fmla="*/ 110 w 368"/>
                <a:gd name="T95" fmla="*/ 258 h 368"/>
                <a:gd name="T96" fmla="*/ 88 w 368"/>
                <a:gd name="T97" fmla="*/ 224 h 368"/>
                <a:gd name="T98" fmla="*/ 80 w 368"/>
                <a:gd name="T99" fmla="*/ 184 h 368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368"/>
                <a:gd name="T151" fmla="*/ 0 h 368"/>
                <a:gd name="T152" fmla="*/ 368 w 368"/>
                <a:gd name="T153" fmla="*/ 368 h 368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368" h="368">
                  <a:moveTo>
                    <a:pt x="0" y="184"/>
                  </a:moveTo>
                  <a:lnTo>
                    <a:pt x="0" y="184"/>
                  </a:lnTo>
                  <a:lnTo>
                    <a:pt x="0" y="202"/>
                  </a:lnTo>
                  <a:lnTo>
                    <a:pt x="4" y="222"/>
                  </a:lnTo>
                  <a:lnTo>
                    <a:pt x="8" y="238"/>
                  </a:lnTo>
                  <a:lnTo>
                    <a:pt x="14" y="256"/>
                  </a:lnTo>
                  <a:lnTo>
                    <a:pt x="22" y="272"/>
                  </a:lnTo>
                  <a:lnTo>
                    <a:pt x="32" y="286"/>
                  </a:lnTo>
                  <a:lnTo>
                    <a:pt x="42" y="300"/>
                  </a:lnTo>
                  <a:lnTo>
                    <a:pt x="54" y="314"/>
                  </a:lnTo>
                  <a:lnTo>
                    <a:pt x="68" y="326"/>
                  </a:lnTo>
                  <a:lnTo>
                    <a:pt x="82" y="336"/>
                  </a:lnTo>
                  <a:lnTo>
                    <a:pt x="96" y="346"/>
                  </a:lnTo>
                  <a:lnTo>
                    <a:pt x="112" y="354"/>
                  </a:lnTo>
                  <a:lnTo>
                    <a:pt x="130" y="360"/>
                  </a:lnTo>
                  <a:lnTo>
                    <a:pt x="146" y="364"/>
                  </a:lnTo>
                  <a:lnTo>
                    <a:pt x="166" y="368"/>
                  </a:lnTo>
                  <a:lnTo>
                    <a:pt x="184" y="368"/>
                  </a:lnTo>
                  <a:lnTo>
                    <a:pt x="202" y="368"/>
                  </a:lnTo>
                  <a:lnTo>
                    <a:pt x="222" y="364"/>
                  </a:lnTo>
                  <a:lnTo>
                    <a:pt x="238" y="360"/>
                  </a:lnTo>
                  <a:lnTo>
                    <a:pt x="256" y="354"/>
                  </a:lnTo>
                  <a:lnTo>
                    <a:pt x="272" y="346"/>
                  </a:lnTo>
                  <a:lnTo>
                    <a:pt x="286" y="336"/>
                  </a:lnTo>
                  <a:lnTo>
                    <a:pt x="300" y="326"/>
                  </a:lnTo>
                  <a:lnTo>
                    <a:pt x="314" y="314"/>
                  </a:lnTo>
                  <a:lnTo>
                    <a:pt x="326" y="300"/>
                  </a:lnTo>
                  <a:lnTo>
                    <a:pt x="336" y="286"/>
                  </a:lnTo>
                  <a:lnTo>
                    <a:pt x="346" y="272"/>
                  </a:lnTo>
                  <a:lnTo>
                    <a:pt x="354" y="256"/>
                  </a:lnTo>
                  <a:lnTo>
                    <a:pt x="360" y="238"/>
                  </a:lnTo>
                  <a:lnTo>
                    <a:pt x="364" y="222"/>
                  </a:lnTo>
                  <a:lnTo>
                    <a:pt x="368" y="202"/>
                  </a:lnTo>
                  <a:lnTo>
                    <a:pt x="368" y="184"/>
                  </a:lnTo>
                  <a:lnTo>
                    <a:pt x="368" y="166"/>
                  </a:lnTo>
                  <a:lnTo>
                    <a:pt x="364" y="146"/>
                  </a:lnTo>
                  <a:lnTo>
                    <a:pt x="360" y="130"/>
                  </a:lnTo>
                  <a:lnTo>
                    <a:pt x="354" y="112"/>
                  </a:lnTo>
                  <a:lnTo>
                    <a:pt x="346" y="96"/>
                  </a:lnTo>
                  <a:lnTo>
                    <a:pt x="336" y="82"/>
                  </a:lnTo>
                  <a:lnTo>
                    <a:pt x="326" y="68"/>
                  </a:lnTo>
                  <a:lnTo>
                    <a:pt x="314" y="54"/>
                  </a:lnTo>
                  <a:lnTo>
                    <a:pt x="300" y="42"/>
                  </a:lnTo>
                  <a:lnTo>
                    <a:pt x="286" y="32"/>
                  </a:lnTo>
                  <a:lnTo>
                    <a:pt x="272" y="22"/>
                  </a:lnTo>
                  <a:lnTo>
                    <a:pt x="256" y="14"/>
                  </a:lnTo>
                  <a:lnTo>
                    <a:pt x="238" y="8"/>
                  </a:lnTo>
                  <a:lnTo>
                    <a:pt x="222" y="4"/>
                  </a:lnTo>
                  <a:lnTo>
                    <a:pt x="202" y="0"/>
                  </a:lnTo>
                  <a:lnTo>
                    <a:pt x="184" y="0"/>
                  </a:lnTo>
                  <a:lnTo>
                    <a:pt x="166" y="0"/>
                  </a:lnTo>
                  <a:lnTo>
                    <a:pt x="146" y="4"/>
                  </a:lnTo>
                  <a:lnTo>
                    <a:pt x="130" y="8"/>
                  </a:lnTo>
                  <a:lnTo>
                    <a:pt x="112" y="14"/>
                  </a:lnTo>
                  <a:lnTo>
                    <a:pt x="96" y="22"/>
                  </a:lnTo>
                  <a:lnTo>
                    <a:pt x="82" y="32"/>
                  </a:lnTo>
                  <a:lnTo>
                    <a:pt x="68" y="42"/>
                  </a:lnTo>
                  <a:lnTo>
                    <a:pt x="54" y="54"/>
                  </a:lnTo>
                  <a:lnTo>
                    <a:pt x="42" y="68"/>
                  </a:lnTo>
                  <a:lnTo>
                    <a:pt x="32" y="82"/>
                  </a:lnTo>
                  <a:lnTo>
                    <a:pt x="22" y="96"/>
                  </a:lnTo>
                  <a:lnTo>
                    <a:pt x="14" y="112"/>
                  </a:lnTo>
                  <a:lnTo>
                    <a:pt x="8" y="130"/>
                  </a:lnTo>
                  <a:lnTo>
                    <a:pt x="4" y="146"/>
                  </a:lnTo>
                  <a:lnTo>
                    <a:pt x="0" y="166"/>
                  </a:lnTo>
                  <a:lnTo>
                    <a:pt x="0" y="184"/>
                  </a:lnTo>
                  <a:close/>
                  <a:moveTo>
                    <a:pt x="80" y="184"/>
                  </a:moveTo>
                  <a:lnTo>
                    <a:pt x="80" y="184"/>
                  </a:lnTo>
                  <a:lnTo>
                    <a:pt x="82" y="164"/>
                  </a:lnTo>
                  <a:lnTo>
                    <a:pt x="88" y="144"/>
                  </a:lnTo>
                  <a:lnTo>
                    <a:pt x="98" y="126"/>
                  </a:lnTo>
                  <a:lnTo>
                    <a:pt x="110" y="110"/>
                  </a:lnTo>
                  <a:lnTo>
                    <a:pt x="126" y="98"/>
                  </a:lnTo>
                  <a:lnTo>
                    <a:pt x="144" y="88"/>
                  </a:lnTo>
                  <a:lnTo>
                    <a:pt x="164" y="82"/>
                  </a:lnTo>
                  <a:lnTo>
                    <a:pt x="184" y="80"/>
                  </a:lnTo>
                  <a:lnTo>
                    <a:pt x="204" y="82"/>
                  </a:lnTo>
                  <a:lnTo>
                    <a:pt x="224" y="88"/>
                  </a:lnTo>
                  <a:lnTo>
                    <a:pt x="242" y="98"/>
                  </a:lnTo>
                  <a:lnTo>
                    <a:pt x="258" y="110"/>
                  </a:lnTo>
                  <a:lnTo>
                    <a:pt x="270" y="126"/>
                  </a:lnTo>
                  <a:lnTo>
                    <a:pt x="280" y="144"/>
                  </a:lnTo>
                  <a:lnTo>
                    <a:pt x="286" y="164"/>
                  </a:lnTo>
                  <a:lnTo>
                    <a:pt x="288" y="184"/>
                  </a:lnTo>
                  <a:lnTo>
                    <a:pt x="286" y="204"/>
                  </a:lnTo>
                  <a:lnTo>
                    <a:pt x="280" y="224"/>
                  </a:lnTo>
                  <a:lnTo>
                    <a:pt x="270" y="242"/>
                  </a:lnTo>
                  <a:lnTo>
                    <a:pt x="258" y="258"/>
                  </a:lnTo>
                  <a:lnTo>
                    <a:pt x="242" y="270"/>
                  </a:lnTo>
                  <a:lnTo>
                    <a:pt x="224" y="280"/>
                  </a:lnTo>
                  <a:lnTo>
                    <a:pt x="204" y="286"/>
                  </a:lnTo>
                  <a:lnTo>
                    <a:pt x="184" y="288"/>
                  </a:lnTo>
                  <a:lnTo>
                    <a:pt x="164" y="286"/>
                  </a:lnTo>
                  <a:lnTo>
                    <a:pt x="144" y="280"/>
                  </a:lnTo>
                  <a:lnTo>
                    <a:pt x="126" y="270"/>
                  </a:lnTo>
                  <a:lnTo>
                    <a:pt x="110" y="258"/>
                  </a:lnTo>
                  <a:lnTo>
                    <a:pt x="98" y="242"/>
                  </a:lnTo>
                  <a:lnTo>
                    <a:pt x="88" y="224"/>
                  </a:lnTo>
                  <a:lnTo>
                    <a:pt x="82" y="204"/>
                  </a:lnTo>
                  <a:lnTo>
                    <a:pt x="80" y="184"/>
                  </a:lnTo>
                  <a:close/>
                </a:path>
              </a:pathLst>
            </a:custGeom>
            <a:solidFill>
              <a:srgbClr val="003F88"/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defTabSz="316230"/>
              <a:endParaRPr lang="zh-CN" altLang="zh-CN" sz="1245">
                <a:solidFill>
                  <a:srgbClr val="000000"/>
                </a:solidFill>
                <a:sym typeface="宋体" panose="02010600030101010101" pitchFamily="2" charset="-122"/>
              </a:endParaRPr>
            </a:p>
          </p:txBody>
        </p:sp>
        <p:sp>
          <p:nvSpPr>
            <p:cNvPr id="8" name="Freeform 4">
              <a:extLst>
                <a:ext uri="{FF2B5EF4-FFF2-40B4-BE49-F238E27FC236}">
                  <a16:creationId xmlns:a16="http://schemas.microsoft.com/office/drawing/2014/main" id="{A4F47384-FEBD-4405-A9E6-32CE4678AD58}"/>
                </a:ext>
              </a:extLst>
            </p:cNvPr>
            <p:cNvSpPr>
              <a:spLocks noEditPoints="1"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288" y="288"/>
              <a:ext cx="656" cy="656"/>
            </a:xfrm>
            <a:custGeom>
              <a:avLst/>
              <a:gdLst>
                <a:gd name="T0" fmla="*/ 2 w 656"/>
                <a:gd name="T1" fmla="*/ 362 h 656"/>
                <a:gd name="T2" fmla="*/ 26 w 656"/>
                <a:gd name="T3" fmla="*/ 456 h 656"/>
                <a:gd name="T4" fmla="*/ 74 w 656"/>
                <a:gd name="T5" fmla="*/ 536 h 656"/>
                <a:gd name="T6" fmla="*/ 144 w 656"/>
                <a:gd name="T7" fmla="*/ 600 h 656"/>
                <a:gd name="T8" fmla="*/ 230 w 656"/>
                <a:gd name="T9" fmla="*/ 642 h 656"/>
                <a:gd name="T10" fmla="*/ 328 w 656"/>
                <a:gd name="T11" fmla="*/ 656 h 656"/>
                <a:gd name="T12" fmla="*/ 426 w 656"/>
                <a:gd name="T13" fmla="*/ 642 h 656"/>
                <a:gd name="T14" fmla="*/ 512 w 656"/>
                <a:gd name="T15" fmla="*/ 600 h 656"/>
                <a:gd name="T16" fmla="*/ 582 w 656"/>
                <a:gd name="T17" fmla="*/ 536 h 656"/>
                <a:gd name="T18" fmla="*/ 630 w 656"/>
                <a:gd name="T19" fmla="*/ 456 h 656"/>
                <a:gd name="T20" fmla="*/ 654 w 656"/>
                <a:gd name="T21" fmla="*/ 362 h 656"/>
                <a:gd name="T22" fmla="*/ 650 w 656"/>
                <a:gd name="T23" fmla="*/ 262 h 656"/>
                <a:gd name="T24" fmla="*/ 616 w 656"/>
                <a:gd name="T25" fmla="*/ 172 h 656"/>
                <a:gd name="T26" fmla="*/ 560 w 656"/>
                <a:gd name="T27" fmla="*/ 96 h 656"/>
                <a:gd name="T28" fmla="*/ 484 w 656"/>
                <a:gd name="T29" fmla="*/ 40 h 656"/>
                <a:gd name="T30" fmla="*/ 394 w 656"/>
                <a:gd name="T31" fmla="*/ 6 h 656"/>
                <a:gd name="T32" fmla="*/ 294 w 656"/>
                <a:gd name="T33" fmla="*/ 2 h 656"/>
                <a:gd name="T34" fmla="*/ 200 w 656"/>
                <a:gd name="T35" fmla="*/ 26 h 656"/>
                <a:gd name="T36" fmla="*/ 120 w 656"/>
                <a:gd name="T37" fmla="*/ 74 h 656"/>
                <a:gd name="T38" fmla="*/ 56 w 656"/>
                <a:gd name="T39" fmla="*/ 144 h 656"/>
                <a:gd name="T40" fmla="*/ 14 w 656"/>
                <a:gd name="T41" fmla="*/ 230 h 656"/>
                <a:gd name="T42" fmla="*/ 0 w 656"/>
                <a:gd name="T43" fmla="*/ 328 h 656"/>
                <a:gd name="T44" fmla="*/ 82 w 656"/>
                <a:gd name="T45" fmla="*/ 302 h 656"/>
                <a:gd name="T46" fmla="*/ 100 w 656"/>
                <a:gd name="T47" fmla="*/ 232 h 656"/>
                <a:gd name="T48" fmla="*/ 136 w 656"/>
                <a:gd name="T49" fmla="*/ 170 h 656"/>
                <a:gd name="T50" fmla="*/ 190 w 656"/>
                <a:gd name="T51" fmla="*/ 122 h 656"/>
                <a:gd name="T52" fmla="*/ 254 w 656"/>
                <a:gd name="T53" fmla="*/ 92 h 656"/>
                <a:gd name="T54" fmla="*/ 328 w 656"/>
                <a:gd name="T55" fmla="*/ 80 h 656"/>
                <a:gd name="T56" fmla="*/ 402 w 656"/>
                <a:gd name="T57" fmla="*/ 92 h 656"/>
                <a:gd name="T58" fmla="*/ 466 w 656"/>
                <a:gd name="T59" fmla="*/ 122 h 656"/>
                <a:gd name="T60" fmla="*/ 520 w 656"/>
                <a:gd name="T61" fmla="*/ 170 h 656"/>
                <a:gd name="T62" fmla="*/ 556 w 656"/>
                <a:gd name="T63" fmla="*/ 232 h 656"/>
                <a:gd name="T64" fmla="*/ 574 w 656"/>
                <a:gd name="T65" fmla="*/ 302 h 656"/>
                <a:gd name="T66" fmla="*/ 570 w 656"/>
                <a:gd name="T67" fmla="*/ 378 h 656"/>
                <a:gd name="T68" fmla="*/ 546 w 656"/>
                <a:gd name="T69" fmla="*/ 446 h 656"/>
                <a:gd name="T70" fmla="*/ 504 w 656"/>
                <a:gd name="T71" fmla="*/ 504 h 656"/>
                <a:gd name="T72" fmla="*/ 446 w 656"/>
                <a:gd name="T73" fmla="*/ 546 h 656"/>
                <a:gd name="T74" fmla="*/ 378 w 656"/>
                <a:gd name="T75" fmla="*/ 570 h 656"/>
                <a:gd name="T76" fmla="*/ 302 w 656"/>
                <a:gd name="T77" fmla="*/ 574 h 656"/>
                <a:gd name="T78" fmla="*/ 232 w 656"/>
                <a:gd name="T79" fmla="*/ 556 h 656"/>
                <a:gd name="T80" fmla="*/ 170 w 656"/>
                <a:gd name="T81" fmla="*/ 520 h 656"/>
                <a:gd name="T82" fmla="*/ 122 w 656"/>
                <a:gd name="T83" fmla="*/ 466 h 656"/>
                <a:gd name="T84" fmla="*/ 92 w 656"/>
                <a:gd name="T85" fmla="*/ 402 h 656"/>
                <a:gd name="T86" fmla="*/ 80 w 656"/>
                <a:gd name="T87" fmla="*/ 328 h 65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656"/>
                <a:gd name="T133" fmla="*/ 0 h 656"/>
                <a:gd name="T134" fmla="*/ 656 w 656"/>
                <a:gd name="T135" fmla="*/ 656 h 65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656" h="656">
                  <a:moveTo>
                    <a:pt x="0" y="328"/>
                  </a:moveTo>
                  <a:lnTo>
                    <a:pt x="0" y="328"/>
                  </a:lnTo>
                  <a:lnTo>
                    <a:pt x="2" y="362"/>
                  </a:lnTo>
                  <a:lnTo>
                    <a:pt x="6" y="394"/>
                  </a:lnTo>
                  <a:lnTo>
                    <a:pt x="14" y="426"/>
                  </a:lnTo>
                  <a:lnTo>
                    <a:pt x="26" y="456"/>
                  </a:lnTo>
                  <a:lnTo>
                    <a:pt x="40" y="484"/>
                  </a:lnTo>
                  <a:lnTo>
                    <a:pt x="56" y="512"/>
                  </a:lnTo>
                  <a:lnTo>
                    <a:pt x="74" y="536"/>
                  </a:lnTo>
                  <a:lnTo>
                    <a:pt x="96" y="560"/>
                  </a:lnTo>
                  <a:lnTo>
                    <a:pt x="120" y="582"/>
                  </a:lnTo>
                  <a:lnTo>
                    <a:pt x="144" y="600"/>
                  </a:lnTo>
                  <a:lnTo>
                    <a:pt x="172" y="616"/>
                  </a:lnTo>
                  <a:lnTo>
                    <a:pt x="200" y="630"/>
                  </a:lnTo>
                  <a:lnTo>
                    <a:pt x="230" y="642"/>
                  </a:lnTo>
                  <a:lnTo>
                    <a:pt x="262" y="650"/>
                  </a:lnTo>
                  <a:lnTo>
                    <a:pt x="294" y="654"/>
                  </a:lnTo>
                  <a:lnTo>
                    <a:pt x="328" y="656"/>
                  </a:lnTo>
                  <a:lnTo>
                    <a:pt x="362" y="654"/>
                  </a:lnTo>
                  <a:lnTo>
                    <a:pt x="394" y="650"/>
                  </a:lnTo>
                  <a:lnTo>
                    <a:pt x="426" y="642"/>
                  </a:lnTo>
                  <a:lnTo>
                    <a:pt x="456" y="630"/>
                  </a:lnTo>
                  <a:lnTo>
                    <a:pt x="484" y="616"/>
                  </a:lnTo>
                  <a:lnTo>
                    <a:pt x="512" y="600"/>
                  </a:lnTo>
                  <a:lnTo>
                    <a:pt x="536" y="582"/>
                  </a:lnTo>
                  <a:lnTo>
                    <a:pt x="560" y="560"/>
                  </a:lnTo>
                  <a:lnTo>
                    <a:pt x="582" y="536"/>
                  </a:lnTo>
                  <a:lnTo>
                    <a:pt x="600" y="512"/>
                  </a:lnTo>
                  <a:lnTo>
                    <a:pt x="616" y="484"/>
                  </a:lnTo>
                  <a:lnTo>
                    <a:pt x="630" y="456"/>
                  </a:lnTo>
                  <a:lnTo>
                    <a:pt x="642" y="426"/>
                  </a:lnTo>
                  <a:lnTo>
                    <a:pt x="650" y="394"/>
                  </a:lnTo>
                  <a:lnTo>
                    <a:pt x="654" y="362"/>
                  </a:lnTo>
                  <a:lnTo>
                    <a:pt x="656" y="328"/>
                  </a:lnTo>
                  <a:lnTo>
                    <a:pt x="654" y="294"/>
                  </a:lnTo>
                  <a:lnTo>
                    <a:pt x="650" y="262"/>
                  </a:lnTo>
                  <a:lnTo>
                    <a:pt x="642" y="230"/>
                  </a:lnTo>
                  <a:lnTo>
                    <a:pt x="630" y="200"/>
                  </a:lnTo>
                  <a:lnTo>
                    <a:pt x="616" y="172"/>
                  </a:lnTo>
                  <a:lnTo>
                    <a:pt x="600" y="144"/>
                  </a:lnTo>
                  <a:lnTo>
                    <a:pt x="582" y="120"/>
                  </a:lnTo>
                  <a:lnTo>
                    <a:pt x="560" y="96"/>
                  </a:lnTo>
                  <a:lnTo>
                    <a:pt x="536" y="74"/>
                  </a:lnTo>
                  <a:lnTo>
                    <a:pt x="512" y="56"/>
                  </a:lnTo>
                  <a:lnTo>
                    <a:pt x="484" y="40"/>
                  </a:lnTo>
                  <a:lnTo>
                    <a:pt x="456" y="26"/>
                  </a:lnTo>
                  <a:lnTo>
                    <a:pt x="426" y="14"/>
                  </a:lnTo>
                  <a:lnTo>
                    <a:pt x="394" y="6"/>
                  </a:lnTo>
                  <a:lnTo>
                    <a:pt x="362" y="2"/>
                  </a:lnTo>
                  <a:lnTo>
                    <a:pt x="328" y="0"/>
                  </a:lnTo>
                  <a:lnTo>
                    <a:pt x="294" y="2"/>
                  </a:lnTo>
                  <a:lnTo>
                    <a:pt x="262" y="6"/>
                  </a:lnTo>
                  <a:lnTo>
                    <a:pt x="230" y="14"/>
                  </a:lnTo>
                  <a:lnTo>
                    <a:pt x="200" y="26"/>
                  </a:lnTo>
                  <a:lnTo>
                    <a:pt x="172" y="40"/>
                  </a:lnTo>
                  <a:lnTo>
                    <a:pt x="144" y="56"/>
                  </a:lnTo>
                  <a:lnTo>
                    <a:pt x="120" y="74"/>
                  </a:lnTo>
                  <a:lnTo>
                    <a:pt x="96" y="96"/>
                  </a:lnTo>
                  <a:lnTo>
                    <a:pt x="74" y="120"/>
                  </a:lnTo>
                  <a:lnTo>
                    <a:pt x="56" y="144"/>
                  </a:lnTo>
                  <a:lnTo>
                    <a:pt x="40" y="172"/>
                  </a:lnTo>
                  <a:lnTo>
                    <a:pt x="26" y="200"/>
                  </a:lnTo>
                  <a:lnTo>
                    <a:pt x="14" y="230"/>
                  </a:lnTo>
                  <a:lnTo>
                    <a:pt x="6" y="262"/>
                  </a:lnTo>
                  <a:lnTo>
                    <a:pt x="2" y="294"/>
                  </a:lnTo>
                  <a:lnTo>
                    <a:pt x="0" y="328"/>
                  </a:lnTo>
                  <a:close/>
                  <a:moveTo>
                    <a:pt x="80" y="328"/>
                  </a:moveTo>
                  <a:lnTo>
                    <a:pt x="80" y="328"/>
                  </a:lnTo>
                  <a:lnTo>
                    <a:pt x="82" y="302"/>
                  </a:lnTo>
                  <a:lnTo>
                    <a:pt x="86" y="278"/>
                  </a:lnTo>
                  <a:lnTo>
                    <a:pt x="92" y="254"/>
                  </a:lnTo>
                  <a:lnTo>
                    <a:pt x="100" y="232"/>
                  </a:lnTo>
                  <a:lnTo>
                    <a:pt x="110" y="210"/>
                  </a:lnTo>
                  <a:lnTo>
                    <a:pt x="122" y="190"/>
                  </a:lnTo>
                  <a:lnTo>
                    <a:pt x="136" y="170"/>
                  </a:lnTo>
                  <a:lnTo>
                    <a:pt x="152" y="152"/>
                  </a:lnTo>
                  <a:lnTo>
                    <a:pt x="170" y="136"/>
                  </a:lnTo>
                  <a:lnTo>
                    <a:pt x="190" y="122"/>
                  </a:lnTo>
                  <a:lnTo>
                    <a:pt x="210" y="110"/>
                  </a:lnTo>
                  <a:lnTo>
                    <a:pt x="232" y="100"/>
                  </a:lnTo>
                  <a:lnTo>
                    <a:pt x="254" y="92"/>
                  </a:lnTo>
                  <a:lnTo>
                    <a:pt x="278" y="86"/>
                  </a:lnTo>
                  <a:lnTo>
                    <a:pt x="302" y="82"/>
                  </a:lnTo>
                  <a:lnTo>
                    <a:pt x="328" y="80"/>
                  </a:lnTo>
                  <a:lnTo>
                    <a:pt x="354" y="82"/>
                  </a:lnTo>
                  <a:lnTo>
                    <a:pt x="378" y="86"/>
                  </a:lnTo>
                  <a:lnTo>
                    <a:pt x="402" y="92"/>
                  </a:lnTo>
                  <a:lnTo>
                    <a:pt x="424" y="100"/>
                  </a:lnTo>
                  <a:lnTo>
                    <a:pt x="446" y="110"/>
                  </a:lnTo>
                  <a:lnTo>
                    <a:pt x="466" y="122"/>
                  </a:lnTo>
                  <a:lnTo>
                    <a:pt x="486" y="136"/>
                  </a:lnTo>
                  <a:lnTo>
                    <a:pt x="504" y="152"/>
                  </a:lnTo>
                  <a:lnTo>
                    <a:pt x="520" y="170"/>
                  </a:lnTo>
                  <a:lnTo>
                    <a:pt x="534" y="190"/>
                  </a:lnTo>
                  <a:lnTo>
                    <a:pt x="546" y="210"/>
                  </a:lnTo>
                  <a:lnTo>
                    <a:pt x="556" y="232"/>
                  </a:lnTo>
                  <a:lnTo>
                    <a:pt x="564" y="254"/>
                  </a:lnTo>
                  <a:lnTo>
                    <a:pt x="570" y="278"/>
                  </a:lnTo>
                  <a:lnTo>
                    <a:pt x="574" y="302"/>
                  </a:lnTo>
                  <a:lnTo>
                    <a:pt x="576" y="328"/>
                  </a:lnTo>
                  <a:lnTo>
                    <a:pt x="574" y="354"/>
                  </a:lnTo>
                  <a:lnTo>
                    <a:pt x="570" y="378"/>
                  </a:lnTo>
                  <a:lnTo>
                    <a:pt x="564" y="402"/>
                  </a:lnTo>
                  <a:lnTo>
                    <a:pt x="556" y="424"/>
                  </a:lnTo>
                  <a:lnTo>
                    <a:pt x="546" y="446"/>
                  </a:lnTo>
                  <a:lnTo>
                    <a:pt x="534" y="466"/>
                  </a:lnTo>
                  <a:lnTo>
                    <a:pt x="520" y="486"/>
                  </a:lnTo>
                  <a:lnTo>
                    <a:pt x="504" y="504"/>
                  </a:lnTo>
                  <a:lnTo>
                    <a:pt x="486" y="520"/>
                  </a:lnTo>
                  <a:lnTo>
                    <a:pt x="466" y="534"/>
                  </a:lnTo>
                  <a:lnTo>
                    <a:pt x="446" y="546"/>
                  </a:lnTo>
                  <a:lnTo>
                    <a:pt x="424" y="556"/>
                  </a:lnTo>
                  <a:lnTo>
                    <a:pt x="402" y="564"/>
                  </a:lnTo>
                  <a:lnTo>
                    <a:pt x="378" y="570"/>
                  </a:lnTo>
                  <a:lnTo>
                    <a:pt x="354" y="574"/>
                  </a:lnTo>
                  <a:lnTo>
                    <a:pt x="328" y="576"/>
                  </a:lnTo>
                  <a:lnTo>
                    <a:pt x="302" y="574"/>
                  </a:lnTo>
                  <a:lnTo>
                    <a:pt x="278" y="570"/>
                  </a:lnTo>
                  <a:lnTo>
                    <a:pt x="254" y="564"/>
                  </a:lnTo>
                  <a:lnTo>
                    <a:pt x="232" y="556"/>
                  </a:lnTo>
                  <a:lnTo>
                    <a:pt x="210" y="546"/>
                  </a:lnTo>
                  <a:lnTo>
                    <a:pt x="190" y="534"/>
                  </a:lnTo>
                  <a:lnTo>
                    <a:pt x="170" y="520"/>
                  </a:lnTo>
                  <a:lnTo>
                    <a:pt x="152" y="504"/>
                  </a:lnTo>
                  <a:lnTo>
                    <a:pt x="136" y="486"/>
                  </a:lnTo>
                  <a:lnTo>
                    <a:pt x="122" y="466"/>
                  </a:lnTo>
                  <a:lnTo>
                    <a:pt x="110" y="446"/>
                  </a:lnTo>
                  <a:lnTo>
                    <a:pt x="100" y="424"/>
                  </a:lnTo>
                  <a:lnTo>
                    <a:pt x="92" y="402"/>
                  </a:lnTo>
                  <a:lnTo>
                    <a:pt x="86" y="378"/>
                  </a:lnTo>
                  <a:lnTo>
                    <a:pt x="82" y="354"/>
                  </a:lnTo>
                  <a:lnTo>
                    <a:pt x="80" y="328"/>
                  </a:lnTo>
                  <a:close/>
                </a:path>
              </a:pathLst>
            </a:custGeom>
            <a:solidFill>
              <a:srgbClr val="404040">
                <a:alpha val="28999"/>
              </a:srgbClr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defTabSz="316230"/>
              <a:endParaRPr lang="zh-CN" altLang="zh-CN" sz="1245">
                <a:solidFill>
                  <a:srgbClr val="000000"/>
                </a:solidFill>
                <a:sym typeface="宋体" panose="02010600030101010101" pitchFamily="2" charset="-122"/>
              </a:endParaRPr>
            </a:p>
          </p:txBody>
        </p:sp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47141D0A-6F79-485B-804F-D053F3217800}"/>
                </a:ext>
              </a:extLst>
            </p:cNvPr>
            <p:cNvSpPr>
              <a:spLocks noEditPoints="1"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144" y="144"/>
              <a:ext cx="944" cy="944"/>
            </a:xfrm>
            <a:custGeom>
              <a:avLst/>
              <a:gdLst>
                <a:gd name="T0" fmla="*/ 0 w 944"/>
                <a:gd name="T1" fmla="*/ 496 h 944"/>
                <a:gd name="T2" fmla="*/ 10 w 944"/>
                <a:gd name="T3" fmla="*/ 568 h 944"/>
                <a:gd name="T4" fmla="*/ 58 w 944"/>
                <a:gd name="T5" fmla="*/ 696 h 944"/>
                <a:gd name="T6" fmla="*/ 138 w 944"/>
                <a:gd name="T7" fmla="*/ 806 h 944"/>
                <a:gd name="T8" fmla="*/ 248 w 944"/>
                <a:gd name="T9" fmla="*/ 886 h 944"/>
                <a:gd name="T10" fmla="*/ 376 w 944"/>
                <a:gd name="T11" fmla="*/ 934 h 944"/>
                <a:gd name="T12" fmla="*/ 448 w 944"/>
                <a:gd name="T13" fmla="*/ 944 h 944"/>
                <a:gd name="T14" fmla="*/ 520 w 944"/>
                <a:gd name="T15" fmla="*/ 942 h 944"/>
                <a:gd name="T16" fmla="*/ 612 w 944"/>
                <a:gd name="T17" fmla="*/ 922 h 944"/>
                <a:gd name="T18" fmla="*/ 736 w 944"/>
                <a:gd name="T19" fmla="*/ 864 h 944"/>
                <a:gd name="T20" fmla="*/ 836 w 944"/>
                <a:gd name="T21" fmla="*/ 772 h 944"/>
                <a:gd name="T22" fmla="*/ 906 w 944"/>
                <a:gd name="T23" fmla="*/ 656 h 944"/>
                <a:gd name="T24" fmla="*/ 938 w 944"/>
                <a:gd name="T25" fmla="*/ 544 h 944"/>
                <a:gd name="T26" fmla="*/ 944 w 944"/>
                <a:gd name="T27" fmla="*/ 472 h 944"/>
                <a:gd name="T28" fmla="*/ 938 w 944"/>
                <a:gd name="T29" fmla="*/ 400 h 944"/>
                <a:gd name="T30" fmla="*/ 906 w 944"/>
                <a:gd name="T31" fmla="*/ 288 h 944"/>
                <a:gd name="T32" fmla="*/ 836 w 944"/>
                <a:gd name="T33" fmla="*/ 172 h 944"/>
                <a:gd name="T34" fmla="*/ 736 w 944"/>
                <a:gd name="T35" fmla="*/ 80 h 944"/>
                <a:gd name="T36" fmla="*/ 612 w 944"/>
                <a:gd name="T37" fmla="*/ 22 h 944"/>
                <a:gd name="T38" fmla="*/ 520 w 944"/>
                <a:gd name="T39" fmla="*/ 2 h 944"/>
                <a:gd name="T40" fmla="*/ 448 w 944"/>
                <a:gd name="T41" fmla="*/ 0 h 944"/>
                <a:gd name="T42" fmla="*/ 376 w 944"/>
                <a:gd name="T43" fmla="*/ 10 h 944"/>
                <a:gd name="T44" fmla="*/ 248 w 944"/>
                <a:gd name="T45" fmla="*/ 58 h 944"/>
                <a:gd name="T46" fmla="*/ 138 w 944"/>
                <a:gd name="T47" fmla="*/ 138 h 944"/>
                <a:gd name="T48" fmla="*/ 58 w 944"/>
                <a:gd name="T49" fmla="*/ 248 h 944"/>
                <a:gd name="T50" fmla="*/ 10 w 944"/>
                <a:gd name="T51" fmla="*/ 376 h 944"/>
                <a:gd name="T52" fmla="*/ 0 w 944"/>
                <a:gd name="T53" fmla="*/ 448 h 944"/>
                <a:gd name="T54" fmla="*/ 80 w 944"/>
                <a:gd name="T55" fmla="*/ 472 h 944"/>
                <a:gd name="T56" fmla="*/ 98 w 944"/>
                <a:gd name="T57" fmla="*/ 356 h 944"/>
                <a:gd name="T58" fmla="*/ 148 w 944"/>
                <a:gd name="T59" fmla="*/ 252 h 944"/>
                <a:gd name="T60" fmla="*/ 222 w 944"/>
                <a:gd name="T61" fmla="*/ 170 h 944"/>
                <a:gd name="T62" fmla="*/ 320 w 944"/>
                <a:gd name="T63" fmla="*/ 110 h 944"/>
                <a:gd name="T64" fmla="*/ 432 w 944"/>
                <a:gd name="T65" fmla="*/ 82 h 944"/>
                <a:gd name="T66" fmla="*/ 550 w 944"/>
                <a:gd name="T67" fmla="*/ 88 h 944"/>
                <a:gd name="T68" fmla="*/ 658 w 944"/>
                <a:gd name="T69" fmla="*/ 128 h 944"/>
                <a:gd name="T70" fmla="*/ 750 w 944"/>
                <a:gd name="T71" fmla="*/ 194 h 944"/>
                <a:gd name="T72" fmla="*/ 816 w 944"/>
                <a:gd name="T73" fmla="*/ 286 h 944"/>
                <a:gd name="T74" fmla="*/ 856 w 944"/>
                <a:gd name="T75" fmla="*/ 394 h 944"/>
                <a:gd name="T76" fmla="*/ 862 w 944"/>
                <a:gd name="T77" fmla="*/ 512 h 944"/>
                <a:gd name="T78" fmla="*/ 834 w 944"/>
                <a:gd name="T79" fmla="*/ 624 h 944"/>
                <a:gd name="T80" fmla="*/ 774 w 944"/>
                <a:gd name="T81" fmla="*/ 722 h 944"/>
                <a:gd name="T82" fmla="*/ 692 w 944"/>
                <a:gd name="T83" fmla="*/ 796 h 944"/>
                <a:gd name="T84" fmla="*/ 588 w 944"/>
                <a:gd name="T85" fmla="*/ 846 h 944"/>
                <a:gd name="T86" fmla="*/ 472 w 944"/>
                <a:gd name="T87" fmla="*/ 864 h 944"/>
                <a:gd name="T88" fmla="*/ 356 w 944"/>
                <a:gd name="T89" fmla="*/ 846 h 944"/>
                <a:gd name="T90" fmla="*/ 252 w 944"/>
                <a:gd name="T91" fmla="*/ 796 h 944"/>
                <a:gd name="T92" fmla="*/ 170 w 944"/>
                <a:gd name="T93" fmla="*/ 722 h 944"/>
                <a:gd name="T94" fmla="*/ 110 w 944"/>
                <a:gd name="T95" fmla="*/ 624 h 944"/>
                <a:gd name="T96" fmla="*/ 82 w 944"/>
                <a:gd name="T97" fmla="*/ 512 h 944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944"/>
                <a:gd name="T148" fmla="*/ 0 h 944"/>
                <a:gd name="T149" fmla="*/ 944 w 944"/>
                <a:gd name="T150" fmla="*/ 944 h 944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944" h="944">
                  <a:moveTo>
                    <a:pt x="0" y="472"/>
                  </a:moveTo>
                  <a:lnTo>
                    <a:pt x="0" y="472"/>
                  </a:lnTo>
                  <a:lnTo>
                    <a:pt x="0" y="496"/>
                  </a:lnTo>
                  <a:lnTo>
                    <a:pt x="2" y="520"/>
                  </a:lnTo>
                  <a:lnTo>
                    <a:pt x="6" y="544"/>
                  </a:lnTo>
                  <a:lnTo>
                    <a:pt x="10" y="568"/>
                  </a:lnTo>
                  <a:lnTo>
                    <a:pt x="22" y="612"/>
                  </a:lnTo>
                  <a:lnTo>
                    <a:pt x="38" y="656"/>
                  </a:lnTo>
                  <a:lnTo>
                    <a:pt x="58" y="696"/>
                  </a:lnTo>
                  <a:lnTo>
                    <a:pt x="80" y="736"/>
                  </a:lnTo>
                  <a:lnTo>
                    <a:pt x="108" y="772"/>
                  </a:lnTo>
                  <a:lnTo>
                    <a:pt x="138" y="806"/>
                  </a:lnTo>
                  <a:lnTo>
                    <a:pt x="172" y="836"/>
                  </a:lnTo>
                  <a:lnTo>
                    <a:pt x="208" y="864"/>
                  </a:lnTo>
                  <a:lnTo>
                    <a:pt x="248" y="886"/>
                  </a:lnTo>
                  <a:lnTo>
                    <a:pt x="288" y="906"/>
                  </a:lnTo>
                  <a:lnTo>
                    <a:pt x="332" y="922"/>
                  </a:lnTo>
                  <a:lnTo>
                    <a:pt x="376" y="934"/>
                  </a:lnTo>
                  <a:lnTo>
                    <a:pt x="400" y="938"/>
                  </a:lnTo>
                  <a:lnTo>
                    <a:pt x="424" y="942"/>
                  </a:lnTo>
                  <a:lnTo>
                    <a:pt x="448" y="944"/>
                  </a:lnTo>
                  <a:lnTo>
                    <a:pt x="472" y="944"/>
                  </a:lnTo>
                  <a:lnTo>
                    <a:pt x="496" y="944"/>
                  </a:lnTo>
                  <a:lnTo>
                    <a:pt x="520" y="942"/>
                  </a:lnTo>
                  <a:lnTo>
                    <a:pt x="544" y="938"/>
                  </a:lnTo>
                  <a:lnTo>
                    <a:pt x="568" y="934"/>
                  </a:lnTo>
                  <a:lnTo>
                    <a:pt x="612" y="922"/>
                  </a:lnTo>
                  <a:lnTo>
                    <a:pt x="656" y="906"/>
                  </a:lnTo>
                  <a:lnTo>
                    <a:pt x="696" y="886"/>
                  </a:lnTo>
                  <a:lnTo>
                    <a:pt x="736" y="864"/>
                  </a:lnTo>
                  <a:lnTo>
                    <a:pt x="772" y="836"/>
                  </a:lnTo>
                  <a:lnTo>
                    <a:pt x="806" y="806"/>
                  </a:lnTo>
                  <a:lnTo>
                    <a:pt x="836" y="772"/>
                  </a:lnTo>
                  <a:lnTo>
                    <a:pt x="864" y="736"/>
                  </a:lnTo>
                  <a:lnTo>
                    <a:pt x="886" y="696"/>
                  </a:lnTo>
                  <a:lnTo>
                    <a:pt x="906" y="656"/>
                  </a:lnTo>
                  <a:lnTo>
                    <a:pt x="922" y="612"/>
                  </a:lnTo>
                  <a:lnTo>
                    <a:pt x="934" y="568"/>
                  </a:lnTo>
                  <a:lnTo>
                    <a:pt x="938" y="544"/>
                  </a:lnTo>
                  <a:lnTo>
                    <a:pt x="942" y="520"/>
                  </a:lnTo>
                  <a:lnTo>
                    <a:pt x="944" y="496"/>
                  </a:lnTo>
                  <a:lnTo>
                    <a:pt x="944" y="472"/>
                  </a:lnTo>
                  <a:lnTo>
                    <a:pt x="944" y="448"/>
                  </a:lnTo>
                  <a:lnTo>
                    <a:pt x="942" y="424"/>
                  </a:lnTo>
                  <a:lnTo>
                    <a:pt x="938" y="400"/>
                  </a:lnTo>
                  <a:lnTo>
                    <a:pt x="934" y="376"/>
                  </a:lnTo>
                  <a:lnTo>
                    <a:pt x="922" y="332"/>
                  </a:lnTo>
                  <a:lnTo>
                    <a:pt x="906" y="288"/>
                  </a:lnTo>
                  <a:lnTo>
                    <a:pt x="886" y="248"/>
                  </a:lnTo>
                  <a:lnTo>
                    <a:pt x="864" y="208"/>
                  </a:lnTo>
                  <a:lnTo>
                    <a:pt x="836" y="172"/>
                  </a:lnTo>
                  <a:lnTo>
                    <a:pt x="806" y="138"/>
                  </a:lnTo>
                  <a:lnTo>
                    <a:pt x="772" y="108"/>
                  </a:lnTo>
                  <a:lnTo>
                    <a:pt x="736" y="80"/>
                  </a:lnTo>
                  <a:lnTo>
                    <a:pt x="696" y="58"/>
                  </a:lnTo>
                  <a:lnTo>
                    <a:pt x="656" y="38"/>
                  </a:lnTo>
                  <a:lnTo>
                    <a:pt x="612" y="22"/>
                  </a:lnTo>
                  <a:lnTo>
                    <a:pt x="568" y="10"/>
                  </a:lnTo>
                  <a:lnTo>
                    <a:pt x="544" y="6"/>
                  </a:lnTo>
                  <a:lnTo>
                    <a:pt x="520" y="2"/>
                  </a:lnTo>
                  <a:lnTo>
                    <a:pt x="496" y="0"/>
                  </a:lnTo>
                  <a:lnTo>
                    <a:pt x="472" y="0"/>
                  </a:lnTo>
                  <a:lnTo>
                    <a:pt x="448" y="0"/>
                  </a:lnTo>
                  <a:lnTo>
                    <a:pt x="424" y="2"/>
                  </a:lnTo>
                  <a:lnTo>
                    <a:pt x="400" y="6"/>
                  </a:lnTo>
                  <a:lnTo>
                    <a:pt x="376" y="10"/>
                  </a:lnTo>
                  <a:lnTo>
                    <a:pt x="332" y="22"/>
                  </a:lnTo>
                  <a:lnTo>
                    <a:pt x="288" y="38"/>
                  </a:lnTo>
                  <a:lnTo>
                    <a:pt x="248" y="58"/>
                  </a:lnTo>
                  <a:lnTo>
                    <a:pt x="208" y="80"/>
                  </a:lnTo>
                  <a:lnTo>
                    <a:pt x="172" y="108"/>
                  </a:lnTo>
                  <a:lnTo>
                    <a:pt x="138" y="138"/>
                  </a:lnTo>
                  <a:lnTo>
                    <a:pt x="108" y="172"/>
                  </a:lnTo>
                  <a:lnTo>
                    <a:pt x="80" y="208"/>
                  </a:lnTo>
                  <a:lnTo>
                    <a:pt x="58" y="248"/>
                  </a:lnTo>
                  <a:lnTo>
                    <a:pt x="38" y="288"/>
                  </a:lnTo>
                  <a:lnTo>
                    <a:pt x="22" y="332"/>
                  </a:lnTo>
                  <a:lnTo>
                    <a:pt x="10" y="376"/>
                  </a:lnTo>
                  <a:lnTo>
                    <a:pt x="6" y="400"/>
                  </a:lnTo>
                  <a:lnTo>
                    <a:pt x="2" y="424"/>
                  </a:lnTo>
                  <a:lnTo>
                    <a:pt x="0" y="448"/>
                  </a:lnTo>
                  <a:lnTo>
                    <a:pt x="0" y="472"/>
                  </a:lnTo>
                  <a:close/>
                  <a:moveTo>
                    <a:pt x="80" y="472"/>
                  </a:moveTo>
                  <a:lnTo>
                    <a:pt x="80" y="472"/>
                  </a:lnTo>
                  <a:lnTo>
                    <a:pt x="82" y="432"/>
                  </a:lnTo>
                  <a:lnTo>
                    <a:pt x="88" y="394"/>
                  </a:lnTo>
                  <a:lnTo>
                    <a:pt x="98" y="356"/>
                  </a:lnTo>
                  <a:lnTo>
                    <a:pt x="110" y="320"/>
                  </a:lnTo>
                  <a:lnTo>
                    <a:pt x="128" y="286"/>
                  </a:lnTo>
                  <a:lnTo>
                    <a:pt x="148" y="252"/>
                  </a:lnTo>
                  <a:lnTo>
                    <a:pt x="170" y="222"/>
                  </a:lnTo>
                  <a:lnTo>
                    <a:pt x="194" y="194"/>
                  </a:lnTo>
                  <a:lnTo>
                    <a:pt x="222" y="170"/>
                  </a:lnTo>
                  <a:lnTo>
                    <a:pt x="252" y="148"/>
                  </a:lnTo>
                  <a:lnTo>
                    <a:pt x="286" y="128"/>
                  </a:lnTo>
                  <a:lnTo>
                    <a:pt x="320" y="110"/>
                  </a:lnTo>
                  <a:lnTo>
                    <a:pt x="356" y="98"/>
                  </a:lnTo>
                  <a:lnTo>
                    <a:pt x="394" y="88"/>
                  </a:lnTo>
                  <a:lnTo>
                    <a:pt x="432" y="82"/>
                  </a:lnTo>
                  <a:lnTo>
                    <a:pt x="472" y="80"/>
                  </a:lnTo>
                  <a:lnTo>
                    <a:pt x="512" y="82"/>
                  </a:lnTo>
                  <a:lnTo>
                    <a:pt x="550" y="88"/>
                  </a:lnTo>
                  <a:lnTo>
                    <a:pt x="588" y="98"/>
                  </a:lnTo>
                  <a:lnTo>
                    <a:pt x="624" y="110"/>
                  </a:lnTo>
                  <a:lnTo>
                    <a:pt x="658" y="128"/>
                  </a:lnTo>
                  <a:lnTo>
                    <a:pt x="692" y="148"/>
                  </a:lnTo>
                  <a:lnTo>
                    <a:pt x="722" y="170"/>
                  </a:lnTo>
                  <a:lnTo>
                    <a:pt x="750" y="194"/>
                  </a:lnTo>
                  <a:lnTo>
                    <a:pt x="774" y="222"/>
                  </a:lnTo>
                  <a:lnTo>
                    <a:pt x="796" y="252"/>
                  </a:lnTo>
                  <a:lnTo>
                    <a:pt x="816" y="286"/>
                  </a:lnTo>
                  <a:lnTo>
                    <a:pt x="834" y="320"/>
                  </a:lnTo>
                  <a:lnTo>
                    <a:pt x="846" y="356"/>
                  </a:lnTo>
                  <a:lnTo>
                    <a:pt x="856" y="394"/>
                  </a:lnTo>
                  <a:lnTo>
                    <a:pt x="862" y="432"/>
                  </a:lnTo>
                  <a:lnTo>
                    <a:pt x="864" y="472"/>
                  </a:lnTo>
                  <a:lnTo>
                    <a:pt x="862" y="512"/>
                  </a:lnTo>
                  <a:lnTo>
                    <a:pt x="856" y="550"/>
                  </a:lnTo>
                  <a:lnTo>
                    <a:pt x="846" y="588"/>
                  </a:lnTo>
                  <a:lnTo>
                    <a:pt x="834" y="624"/>
                  </a:lnTo>
                  <a:lnTo>
                    <a:pt x="816" y="658"/>
                  </a:lnTo>
                  <a:lnTo>
                    <a:pt x="796" y="692"/>
                  </a:lnTo>
                  <a:lnTo>
                    <a:pt x="774" y="722"/>
                  </a:lnTo>
                  <a:lnTo>
                    <a:pt x="750" y="750"/>
                  </a:lnTo>
                  <a:lnTo>
                    <a:pt x="722" y="774"/>
                  </a:lnTo>
                  <a:lnTo>
                    <a:pt x="692" y="796"/>
                  </a:lnTo>
                  <a:lnTo>
                    <a:pt x="658" y="816"/>
                  </a:lnTo>
                  <a:lnTo>
                    <a:pt x="624" y="834"/>
                  </a:lnTo>
                  <a:lnTo>
                    <a:pt x="588" y="846"/>
                  </a:lnTo>
                  <a:lnTo>
                    <a:pt x="550" y="856"/>
                  </a:lnTo>
                  <a:lnTo>
                    <a:pt x="512" y="862"/>
                  </a:lnTo>
                  <a:lnTo>
                    <a:pt x="472" y="864"/>
                  </a:lnTo>
                  <a:lnTo>
                    <a:pt x="432" y="862"/>
                  </a:lnTo>
                  <a:lnTo>
                    <a:pt x="394" y="856"/>
                  </a:lnTo>
                  <a:lnTo>
                    <a:pt x="356" y="846"/>
                  </a:lnTo>
                  <a:lnTo>
                    <a:pt x="320" y="834"/>
                  </a:lnTo>
                  <a:lnTo>
                    <a:pt x="286" y="816"/>
                  </a:lnTo>
                  <a:lnTo>
                    <a:pt x="252" y="796"/>
                  </a:lnTo>
                  <a:lnTo>
                    <a:pt x="222" y="774"/>
                  </a:lnTo>
                  <a:lnTo>
                    <a:pt x="194" y="750"/>
                  </a:lnTo>
                  <a:lnTo>
                    <a:pt x="170" y="722"/>
                  </a:lnTo>
                  <a:lnTo>
                    <a:pt x="148" y="692"/>
                  </a:lnTo>
                  <a:lnTo>
                    <a:pt x="128" y="658"/>
                  </a:lnTo>
                  <a:lnTo>
                    <a:pt x="110" y="624"/>
                  </a:lnTo>
                  <a:lnTo>
                    <a:pt x="98" y="588"/>
                  </a:lnTo>
                  <a:lnTo>
                    <a:pt x="88" y="550"/>
                  </a:lnTo>
                  <a:lnTo>
                    <a:pt x="82" y="512"/>
                  </a:lnTo>
                  <a:lnTo>
                    <a:pt x="80" y="472"/>
                  </a:lnTo>
                  <a:close/>
                </a:path>
              </a:pathLst>
            </a:custGeom>
            <a:solidFill>
              <a:srgbClr val="404040">
                <a:alpha val="20000"/>
              </a:srgbClr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defTabSz="316230"/>
              <a:endParaRPr lang="zh-CN" altLang="zh-CN" sz="1245">
                <a:solidFill>
                  <a:srgbClr val="000000"/>
                </a:solidFill>
                <a:sym typeface="宋体" panose="02010600030101010101" pitchFamily="2" charset="-122"/>
              </a:endParaRPr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5D420301-01B0-497C-B307-4343323B2692}"/>
                </a:ext>
              </a:extLst>
            </p:cNvPr>
            <p:cNvSpPr>
              <a:spLocks noEditPoints="1"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0" y="0"/>
              <a:ext cx="1232" cy="1232"/>
            </a:xfrm>
            <a:custGeom>
              <a:avLst/>
              <a:gdLst>
                <a:gd name="T0" fmla="*/ 8 w 1232"/>
                <a:gd name="T1" fmla="*/ 710 h 1232"/>
                <a:gd name="T2" fmla="*/ 48 w 1232"/>
                <a:gd name="T3" fmla="*/ 856 h 1232"/>
                <a:gd name="T4" fmla="*/ 122 w 1232"/>
                <a:gd name="T5" fmla="*/ 984 h 1232"/>
                <a:gd name="T6" fmla="*/ 224 w 1232"/>
                <a:gd name="T7" fmla="*/ 1092 h 1232"/>
                <a:gd name="T8" fmla="*/ 350 w 1232"/>
                <a:gd name="T9" fmla="*/ 1172 h 1232"/>
                <a:gd name="T10" fmla="*/ 492 w 1232"/>
                <a:gd name="T11" fmla="*/ 1220 h 1232"/>
                <a:gd name="T12" fmla="*/ 648 w 1232"/>
                <a:gd name="T13" fmla="*/ 1232 h 1232"/>
                <a:gd name="T14" fmla="*/ 798 w 1232"/>
                <a:gd name="T15" fmla="*/ 1204 h 1232"/>
                <a:gd name="T16" fmla="*/ 936 w 1232"/>
                <a:gd name="T17" fmla="*/ 1142 h 1232"/>
                <a:gd name="T18" fmla="*/ 1052 w 1232"/>
                <a:gd name="T19" fmla="*/ 1052 h 1232"/>
                <a:gd name="T20" fmla="*/ 1142 w 1232"/>
                <a:gd name="T21" fmla="*/ 936 h 1232"/>
                <a:gd name="T22" fmla="*/ 1204 w 1232"/>
                <a:gd name="T23" fmla="*/ 798 h 1232"/>
                <a:gd name="T24" fmla="*/ 1232 w 1232"/>
                <a:gd name="T25" fmla="*/ 648 h 1232"/>
                <a:gd name="T26" fmla="*/ 1220 w 1232"/>
                <a:gd name="T27" fmla="*/ 492 h 1232"/>
                <a:gd name="T28" fmla="*/ 1172 w 1232"/>
                <a:gd name="T29" fmla="*/ 350 h 1232"/>
                <a:gd name="T30" fmla="*/ 1092 w 1232"/>
                <a:gd name="T31" fmla="*/ 224 h 1232"/>
                <a:gd name="T32" fmla="*/ 984 w 1232"/>
                <a:gd name="T33" fmla="*/ 122 h 1232"/>
                <a:gd name="T34" fmla="*/ 856 w 1232"/>
                <a:gd name="T35" fmla="*/ 48 h 1232"/>
                <a:gd name="T36" fmla="*/ 710 w 1232"/>
                <a:gd name="T37" fmla="*/ 8 h 1232"/>
                <a:gd name="T38" fmla="*/ 554 w 1232"/>
                <a:gd name="T39" fmla="*/ 4 h 1232"/>
                <a:gd name="T40" fmla="*/ 404 w 1232"/>
                <a:gd name="T41" fmla="*/ 38 h 1232"/>
                <a:gd name="T42" fmla="*/ 272 w 1232"/>
                <a:gd name="T43" fmla="*/ 106 h 1232"/>
                <a:gd name="T44" fmla="*/ 160 w 1232"/>
                <a:gd name="T45" fmla="*/ 202 h 1232"/>
                <a:gd name="T46" fmla="*/ 74 w 1232"/>
                <a:gd name="T47" fmla="*/ 322 h 1232"/>
                <a:gd name="T48" fmla="*/ 20 w 1232"/>
                <a:gd name="T49" fmla="*/ 462 h 1232"/>
                <a:gd name="T50" fmla="*/ 0 w 1232"/>
                <a:gd name="T51" fmla="*/ 616 h 1232"/>
                <a:gd name="T52" fmla="*/ 86 w 1232"/>
                <a:gd name="T53" fmla="*/ 534 h 1232"/>
                <a:gd name="T54" fmla="*/ 122 w 1232"/>
                <a:gd name="T55" fmla="*/ 408 h 1232"/>
                <a:gd name="T56" fmla="*/ 186 w 1232"/>
                <a:gd name="T57" fmla="*/ 296 h 1232"/>
                <a:gd name="T58" fmla="*/ 276 w 1232"/>
                <a:gd name="T59" fmla="*/ 202 h 1232"/>
                <a:gd name="T60" fmla="*/ 384 w 1232"/>
                <a:gd name="T61" fmla="*/ 132 h 1232"/>
                <a:gd name="T62" fmla="*/ 508 w 1232"/>
                <a:gd name="T63" fmla="*/ 90 h 1232"/>
                <a:gd name="T64" fmla="*/ 644 w 1232"/>
                <a:gd name="T65" fmla="*/ 80 h 1232"/>
                <a:gd name="T66" fmla="*/ 776 w 1232"/>
                <a:gd name="T67" fmla="*/ 104 h 1232"/>
                <a:gd name="T68" fmla="*/ 894 w 1232"/>
                <a:gd name="T69" fmla="*/ 158 h 1232"/>
                <a:gd name="T70" fmla="*/ 994 w 1232"/>
                <a:gd name="T71" fmla="*/ 238 h 1232"/>
                <a:gd name="T72" fmla="*/ 1074 w 1232"/>
                <a:gd name="T73" fmla="*/ 338 h 1232"/>
                <a:gd name="T74" fmla="*/ 1128 w 1232"/>
                <a:gd name="T75" fmla="*/ 456 h 1232"/>
                <a:gd name="T76" fmla="*/ 1152 w 1232"/>
                <a:gd name="T77" fmla="*/ 588 h 1232"/>
                <a:gd name="T78" fmla="*/ 1142 w 1232"/>
                <a:gd name="T79" fmla="*/ 724 h 1232"/>
                <a:gd name="T80" fmla="*/ 1100 w 1232"/>
                <a:gd name="T81" fmla="*/ 848 h 1232"/>
                <a:gd name="T82" fmla="*/ 1030 w 1232"/>
                <a:gd name="T83" fmla="*/ 956 h 1232"/>
                <a:gd name="T84" fmla="*/ 936 w 1232"/>
                <a:gd name="T85" fmla="*/ 1046 h 1232"/>
                <a:gd name="T86" fmla="*/ 824 w 1232"/>
                <a:gd name="T87" fmla="*/ 1110 h 1232"/>
                <a:gd name="T88" fmla="*/ 698 w 1232"/>
                <a:gd name="T89" fmla="*/ 1146 h 1232"/>
                <a:gd name="T90" fmla="*/ 562 w 1232"/>
                <a:gd name="T91" fmla="*/ 1150 h 1232"/>
                <a:gd name="T92" fmla="*/ 432 w 1232"/>
                <a:gd name="T93" fmla="*/ 1120 h 1232"/>
                <a:gd name="T94" fmla="*/ 316 w 1232"/>
                <a:gd name="T95" fmla="*/ 1060 h 1232"/>
                <a:gd name="T96" fmla="*/ 220 w 1232"/>
                <a:gd name="T97" fmla="*/ 976 h 1232"/>
                <a:gd name="T98" fmla="*/ 144 w 1232"/>
                <a:gd name="T99" fmla="*/ 872 h 1232"/>
                <a:gd name="T100" fmla="*/ 96 w 1232"/>
                <a:gd name="T101" fmla="*/ 750 h 1232"/>
                <a:gd name="T102" fmla="*/ 80 w 1232"/>
                <a:gd name="T103" fmla="*/ 616 h 1232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w 1232"/>
                <a:gd name="T157" fmla="*/ 0 h 1232"/>
                <a:gd name="T158" fmla="*/ 1232 w 1232"/>
                <a:gd name="T159" fmla="*/ 1232 h 1232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T156" t="T157" r="T158" b="T159"/>
              <a:pathLst>
                <a:path w="1232" h="1232">
                  <a:moveTo>
                    <a:pt x="0" y="616"/>
                  </a:moveTo>
                  <a:lnTo>
                    <a:pt x="0" y="616"/>
                  </a:lnTo>
                  <a:lnTo>
                    <a:pt x="0" y="648"/>
                  </a:lnTo>
                  <a:lnTo>
                    <a:pt x="4" y="678"/>
                  </a:lnTo>
                  <a:lnTo>
                    <a:pt x="8" y="710"/>
                  </a:lnTo>
                  <a:lnTo>
                    <a:pt x="12" y="740"/>
                  </a:lnTo>
                  <a:lnTo>
                    <a:pt x="20" y="770"/>
                  </a:lnTo>
                  <a:lnTo>
                    <a:pt x="28" y="798"/>
                  </a:lnTo>
                  <a:lnTo>
                    <a:pt x="38" y="828"/>
                  </a:lnTo>
                  <a:lnTo>
                    <a:pt x="48" y="856"/>
                  </a:lnTo>
                  <a:lnTo>
                    <a:pt x="60" y="882"/>
                  </a:lnTo>
                  <a:lnTo>
                    <a:pt x="74" y="910"/>
                  </a:lnTo>
                  <a:lnTo>
                    <a:pt x="90" y="936"/>
                  </a:lnTo>
                  <a:lnTo>
                    <a:pt x="106" y="960"/>
                  </a:lnTo>
                  <a:lnTo>
                    <a:pt x="122" y="984"/>
                  </a:lnTo>
                  <a:lnTo>
                    <a:pt x="140" y="1008"/>
                  </a:lnTo>
                  <a:lnTo>
                    <a:pt x="160" y="1030"/>
                  </a:lnTo>
                  <a:lnTo>
                    <a:pt x="180" y="1052"/>
                  </a:lnTo>
                  <a:lnTo>
                    <a:pt x="202" y="1072"/>
                  </a:lnTo>
                  <a:lnTo>
                    <a:pt x="224" y="1092"/>
                  </a:lnTo>
                  <a:lnTo>
                    <a:pt x="248" y="1110"/>
                  </a:lnTo>
                  <a:lnTo>
                    <a:pt x="272" y="1126"/>
                  </a:lnTo>
                  <a:lnTo>
                    <a:pt x="296" y="1142"/>
                  </a:lnTo>
                  <a:lnTo>
                    <a:pt x="322" y="1158"/>
                  </a:lnTo>
                  <a:lnTo>
                    <a:pt x="350" y="1172"/>
                  </a:lnTo>
                  <a:lnTo>
                    <a:pt x="376" y="1184"/>
                  </a:lnTo>
                  <a:lnTo>
                    <a:pt x="404" y="1194"/>
                  </a:lnTo>
                  <a:lnTo>
                    <a:pt x="434" y="1204"/>
                  </a:lnTo>
                  <a:lnTo>
                    <a:pt x="462" y="1212"/>
                  </a:lnTo>
                  <a:lnTo>
                    <a:pt x="492" y="1220"/>
                  </a:lnTo>
                  <a:lnTo>
                    <a:pt x="522" y="1224"/>
                  </a:lnTo>
                  <a:lnTo>
                    <a:pt x="554" y="1228"/>
                  </a:lnTo>
                  <a:lnTo>
                    <a:pt x="584" y="1232"/>
                  </a:lnTo>
                  <a:lnTo>
                    <a:pt x="616" y="1232"/>
                  </a:lnTo>
                  <a:lnTo>
                    <a:pt x="648" y="1232"/>
                  </a:lnTo>
                  <a:lnTo>
                    <a:pt x="678" y="1228"/>
                  </a:lnTo>
                  <a:lnTo>
                    <a:pt x="710" y="1224"/>
                  </a:lnTo>
                  <a:lnTo>
                    <a:pt x="740" y="1220"/>
                  </a:lnTo>
                  <a:lnTo>
                    <a:pt x="770" y="1212"/>
                  </a:lnTo>
                  <a:lnTo>
                    <a:pt x="798" y="1204"/>
                  </a:lnTo>
                  <a:lnTo>
                    <a:pt x="828" y="1194"/>
                  </a:lnTo>
                  <a:lnTo>
                    <a:pt x="856" y="1184"/>
                  </a:lnTo>
                  <a:lnTo>
                    <a:pt x="882" y="1172"/>
                  </a:lnTo>
                  <a:lnTo>
                    <a:pt x="910" y="1158"/>
                  </a:lnTo>
                  <a:lnTo>
                    <a:pt x="936" y="1142"/>
                  </a:lnTo>
                  <a:lnTo>
                    <a:pt x="960" y="1126"/>
                  </a:lnTo>
                  <a:lnTo>
                    <a:pt x="984" y="1110"/>
                  </a:lnTo>
                  <a:lnTo>
                    <a:pt x="1008" y="1092"/>
                  </a:lnTo>
                  <a:lnTo>
                    <a:pt x="1030" y="1072"/>
                  </a:lnTo>
                  <a:lnTo>
                    <a:pt x="1052" y="1052"/>
                  </a:lnTo>
                  <a:lnTo>
                    <a:pt x="1072" y="1030"/>
                  </a:lnTo>
                  <a:lnTo>
                    <a:pt x="1092" y="1008"/>
                  </a:lnTo>
                  <a:lnTo>
                    <a:pt x="1110" y="984"/>
                  </a:lnTo>
                  <a:lnTo>
                    <a:pt x="1126" y="960"/>
                  </a:lnTo>
                  <a:lnTo>
                    <a:pt x="1142" y="936"/>
                  </a:lnTo>
                  <a:lnTo>
                    <a:pt x="1158" y="910"/>
                  </a:lnTo>
                  <a:lnTo>
                    <a:pt x="1172" y="882"/>
                  </a:lnTo>
                  <a:lnTo>
                    <a:pt x="1184" y="856"/>
                  </a:lnTo>
                  <a:lnTo>
                    <a:pt x="1194" y="828"/>
                  </a:lnTo>
                  <a:lnTo>
                    <a:pt x="1204" y="798"/>
                  </a:lnTo>
                  <a:lnTo>
                    <a:pt x="1212" y="770"/>
                  </a:lnTo>
                  <a:lnTo>
                    <a:pt x="1220" y="740"/>
                  </a:lnTo>
                  <a:lnTo>
                    <a:pt x="1224" y="710"/>
                  </a:lnTo>
                  <a:lnTo>
                    <a:pt x="1228" y="678"/>
                  </a:lnTo>
                  <a:lnTo>
                    <a:pt x="1232" y="648"/>
                  </a:lnTo>
                  <a:lnTo>
                    <a:pt x="1232" y="616"/>
                  </a:lnTo>
                  <a:lnTo>
                    <a:pt x="1232" y="584"/>
                  </a:lnTo>
                  <a:lnTo>
                    <a:pt x="1228" y="554"/>
                  </a:lnTo>
                  <a:lnTo>
                    <a:pt x="1224" y="522"/>
                  </a:lnTo>
                  <a:lnTo>
                    <a:pt x="1220" y="492"/>
                  </a:lnTo>
                  <a:lnTo>
                    <a:pt x="1212" y="462"/>
                  </a:lnTo>
                  <a:lnTo>
                    <a:pt x="1204" y="434"/>
                  </a:lnTo>
                  <a:lnTo>
                    <a:pt x="1194" y="404"/>
                  </a:lnTo>
                  <a:lnTo>
                    <a:pt x="1184" y="376"/>
                  </a:lnTo>
                  <a:lnTo>
                    <a:pt x="1172" y="350"/>
                  </a:lnTo>
                  <a:lnTo>
                    <a:pt x="1158" y="322"/>
                  </a:lnTo>
                  <a:lnTo>
                    <a:pt x="1142" y="296"/>
                  </a:lnTo>
                  <a:lnTo>
                    <a:pt x="1126" y="272"/>
                  </a:lnTo>
                  <a:lnTo>
                    <a:pt x="1110" y="248"/>
                  </a:lnTo>
                  <a:lnTo>
                    <a:pt x="1092" y="224"/>
                  </a:lnTo>
                  <a:lnTo>
                    <a:pt x="1072" y="202"/>
                  </a:lnTo>
                  <a:lnTo>
                    <a:pt x="1052" y="180"/>
                  </a:lnTo>
                  <a:lnTo>
                    <a:pt x="1030" y="160"/>
                  </a:lnTo>
                  <a:lnTo>
                    <a:pt x="1008" y="140"/>
                  </a:lnTo>
                  <a:lnTo>
                    <a:pt x="984" y="122"/>
                  </a:lnTo>
                  <a:lnTo>
                    <a:pt x="960" y="106"/>
                  </a:lnTo>
                  <a:lnTo>
                    <a:pt x="936" y="90"/>
                  </a:lnTo>
                  <a:lnTo>
                    <a:pt x="910" y="74"/>
                  </a:lnTo>
                  <a:lnTo>
                    <a:pt x="882" y="60"/>
                  </a:lnTo>
                  <a:lnTo>
                    <a:pt x="856" y="48"/>
                  </a:lnTo>
                  <a:lnTo>
                    <a:pt x="828" y="38"/>
                  </a:lnTo>
                  <a:lnTo>
                    <a:pt x="798" y="28"/>
                  </a:lnTo>
                  <a:lnTo>
                    <a:pt x="770" y="20"/>
                  </a:lnTo>
                  <a:lnTo>
                    <a:pt x="740" y="12"/>
                  </a:lnTo>
                  <a:lnTo>
                    <a:pt x="710" y="8"/>
                  </a:lnTo>
                  <a:lnTo>
                    <a:pt x="678" y="4"/>
                  </a:lnTo>
                  <a:lnTo>
                    <a:pt x="648" y="0"/>
                  </a:lnTo>
                  <a:lnTo>
                    <a:pt x="616" y="0"/>
                  </a:lnTo>
                  <a:lnTo>
                    <a:pt x="584" y="0"/>
                  </a:lnTo>
                  <a:lnTo>
                    <a:pt x="554" y="4"/>
                  </a:lnTo>
                  <a:lnTo>
                    <a:pt x="522" y="8"/>
                  </a:lnTo>
                  <a:lnTo>
                    <a:pt x="492" y="12"/>
                  </a:lnTo>
                  <a:lnTo>
                    <a:pt x="462" y="20"/>
                  </a:lnTo>
                  <a:lnTo>
                    <a:pt x="434" y="28"/>
                  </a:lnTo>
                  <a:lnTo>
                    <a:pt x="404" y="38"/>
                  </a:lnTo>
                  <a:lnTo>
                    <a:pt x="376" y="48"/>
                  </a:lnTo>
                  <a:lnTo>
                    <a:pt x="350" y="60"/>
                  </a:lnTo>
                  <a:lnTo>
                    <a:pt x="322" y="74"/>
                  </a:lnTo>
                  <a:lnTo>
                    <a:pt x="296" y="90"/>
                  </a:lnTo>
                  <a:lnTo>
                    <a:pt x="272" y="106"/>
                  </a:lnTo>
                  <a:lnTo>
                    <a:pt x="248" y="122"/>
                  </a:lnTo>
                  <a:lnTo>
                    <a:pt x="224" y="140"/>
                  </a:lnTo>
                  <a:lnTo>
                    <a:pt x="202" y="160"/>
                  </a:lnTo>
                  <a:lnTo>
                    <a:pt x="180" y="180"/>
                  </a:lnTo>
                  <a:lnTo>
                    <a:pt x="160" y="202"/>
                  </a:lnTo>
                  <a:lnTo>
                    <a:pt x="140" y="224"/>
                  </a:lnTo>
                  <a:lnTo>
                    <a:pt x="122" y="248"/>
                  </a:lnTo>
                  <a:lnTo>
                    <a:pt x="106" y="272"/>
                  </a:lnTo>
                  <a:lnTo>
                    <a:pt x="90" y="296"/>
                  </a:lnTo>
                  <a:lnTo>
                    <a:pt x="74" y="322"/>
                  </a:lnTo>
                  <a:lnTo>
                    <a:pt x="60" y="350"/>
                  </a:lnTo>
                  <a:lnTo>
                    <a:pt x="48" y="376"/>
                  </a:lnTo>
                  <a:lnTo>
                    <a:pt x="38" y="404"/>
                  </a:lnTo>
                  <a:lnTo>
                    <a:pt x="28" y="434"/>
                  </a:lnTo>
                  <a:lnTo>
                    <a:pt x="20" y="462"/>
                  </a:lnTo>
                  <a:lnTo>
                    <a:pt x="12" y="492"/>
                  </a:lnTo>
                  <a:lnTo>
                    <a:pt x="8" y="522"/>
                  </a:lnTo>
                  <a:lnTo>
                    <a:pt x="4" y="554"/>
                  </a:lnTo>
                  <a:lnTo>
                    <a:pt x="0" y="584"/>
                  </a:lnTo>
                  <a:lnTo>
                    <a:pt x="0" y="616"/>
                  </a:lnTo>
                  <a:close/>
                  <a:moveTo>
                    <a:pt x="80" y="616"/>
                  </a:moveTo>
                  <a:lnTo>
                    <a:pt x="80" y="616"/>
                  </a:lnTo>
                  <a:lnTo>
                    <a:pt x="80" y="588"/>
                  </a:lnTo>
                  <a:lnTo>
                    <a:pt x="82" y="562"/>
                  </a:lnTo>
                  <a:lnTo>
                    <a:pt x="86" y="534"/>
                  </a:lnTo>
                  <a:lnTo>
                    <a:pt x="90" y="508"/>
                  </a:lnTo>
                  <a:lnTo>
                    <a:pt x="96" y="482"/>
                  </a:lnTo>
                  <a:lnTo>
                    <a:pt x="104" y="456"/>
                  </a:lnTo>
                  <a:lnTo>
                    <a:pt x="112" y="432"/>
                  </a:lnTo>
                  <a:lnTo>
                    <a:pt x="122" y="408"/>
                  </a:lnTo>
                  <a:lnTo>
                    <a:pt x="132" y="384"/>
                  </a:lnTo>
                  <a:lnTo>
                    <a:pt x="144" y="360"/>
                  </a:lnTo>
                  <a:lnTo>
                    <a:pt x="158" y="338"/>
                  </a:lnTo>
                  <a:lnTo>
                    <a:pt x="172" y="316"/>
                  </a:lnTo>
                  <a:lnTo>
                    <a:pt x="186" y="296"/>
                  </a:lnTo>
                  <a:lnTo>
                    <a:pt x="202" y="276"/>
                  </a:lnTo>
                  <a:lnTo>
                    <a:pt x="220" y="256"/>
                  </a:lnTo>
                  <a:lnTo>
                    <a:pt x="238" y="238"/>
                  </a:lnTo>
                  <a:lnTo>
                    <a:pt x="256" y="220"/>
                  </a:lnTo>
                  <a:lnTo>
                    <a:pt x="276" y="202"/>
                  </a:lnTo>
                  <a:lnTo>
                    <a:pt x="296" y="186"/>
                  </a:lnTo>
                  <a:lnTo>
                    <a:pt x="316" y="172"/>
                  </a:lnTo>
                  <a:lnTo>
                    <a:pt x="338" y="158"/>
                  </a:lnTo>
                  <a:lnTo>
                    <a:pt x="360" y="144"/>
                  </a:lnTo>
                  <a:lnTo>
                    <a:pt x="384" y="132"/>
                  </a:lnTo>
                  <a:lnTo>
                    <a:pt x="408" y="122"/>
                  </a:lnTo>
                  <a:lnTo>
                    <a:pt x="432" y="112"/>
                  </a:lnTo>
                  <a:lnTo>
                    <a:pt x="456" y="104"/>
                  </a:lnTo>
                  <a:lnTo>
                    <a:pt x="482" y="96"/>
                  </a:lnTo>
                  <a:lnTo>
                    <a:pt x="508" y="90"/>
                  </a:lnTo>
                  <a:lnTo>
                    <a:pt x="534" y="86"/>
                  </a:lnTo>
                  <a:lnTo>
                    <a:pt x="562" y="82"/>
                  </a:lnTo>
                  <a:lnTo>
                    <a:pt x="588" y="80"/>
                  </a:lnTo>
                  <a:lnTo>
                    <a:pt x="616" y="80"/>
                  </a:lnTo>
                  <a:lnTo>
                    <a:pt x="644" y="80"/>
                  </a:lnTo>
                  <a:lnTo>
                    <a:pt x="670" y="82"/>
                  </a:lnTo>
                  <a:lnTo>
                    <a:pt x="698" y="86"/>
                  </a:lnTo>
                  <a:lnTo>
                    <a:pt x="724" y="90"/>
                  </a:lnTo>
                  <a:lnTo>
                    <a:pt x="750" y="96"/>
                  </a:lnTo>
                  <a:lnTo>
                    <a:pt x="776" y="104"/>
                  </a:lnTo>
                  <a:lnTo>
                    <a:pt x="800" y="112"/>
                  </a:lnTo>
                  <a:lnTo>
                    <a:pt x="824" y="122"/>
                  </a:lnTo>
                  <a:lnTo>
                    <a:pt x="848" y="132"/>
                  </a:lnTo>
                  <a:lnTo>
                    <a:pt x="872" y="144"/>
                  </a:lnTo>
                  <a:lnTo>
                    <a:pt x="894" y="158"/>
                  </a:lnTo>
                  <a:lnTo>
                    <a:pt x="916" y="172"/>
                  </a:lnTo>
                  <a:lnTo>
                    <a:pt x="936" y="186"/>
                  </a:lnTo>
                  <a:lnTo>
                    <a:pt x="956" y="202"/>
                  </a:lnTo>
                  <a:lnTo>
                    <a:pt x="976" y="220"/>
                  </a:lnTo>
                  <a:lnTo>
                    <a:pt x="994" y="238"/>
                  </a:lnTo>
                  <a:lnTo>
                    <a:pt x="1012" y="256"/>
                  </a:lnTo>
                  <a:lnTo>
                    <a:pt x="1030" y="276"/>
                  </a:lnTo>
                  <a:lnTo>
                    <a:pt x="1046" y="296"/>
                  </a:lnTo>
                  <a:lnTo>
                    <a:pt x="1060" y="316"/>
                  </a:lnTo>
                  <a:lnTo>
                    <a:pt x="1074" y="338"/>
                  </a:lnTo>
                  <a:lnTo>
                    <a:pt x="1088" y="360"/>
                  </a:lnTo>
                  <a:lnTo>
                    <a:pt x="1100" y="384"/>
                  </a:lnTo>
                  <a:lnTo>
                    <a:pt x="1110" y="408"/>
                  </a:lnTo>
                  <a:lnTo>
                    <a:pt x="1120" y="432"/>
                  </a:lnTo>
                  <a:lnTo>
                    <a:pt x="1128" y="456"/>
                  </a:lnTo>
                  <a:lnTo>
                    <a:pt x="1136" y="482"/>
                  </a:lnTo>
                  <a:lnTo>
                    <a:pt x="1142" y="508"/>
                  </a:lnTo>
                  <a:lnTo>
                    <a:pt x="1146" y="534"/>
                  </a:lnTo>
                  <a:lnTo>
                    <a:pt x="1150" y="562"/>
                  </a:lnTo>
                  <a:lnTo>
                    <a:pt x="1152" y="588"/>
                  </a:lnTo>
                  <a:lnTo>
                    <a:pt x="1152" y="616"/>
                  </a:lnTo>
                  <a:lnTo>
                    <a:pt x="1152" y="644"/>
                  </a:lnTo>
                  <a:lnTo>
                    <a:pt x="1150" y="670"/>
                  </a:lnTo>
                  <a:lnTo>
                    <a:pt x="1146" y="698"/>
                  </a:lnTo>
                  <a:lnTo>
                    <a:pt x="1142" y="724"/>
                  </a:lnTo>
                  <a:lnTo>
                    <a:pt x="1136" y="750"/>
                  </a:lnTo>
                  <a:lnTo>
                    <a:pt x="1128" y="776"/>
                  </a:lnTo>
                  <a:lnTo>
                    <a:pt x="1120" y="800"/>
                  </a:lnTo>
                  <a:lnTo>
                    <a:pt x="1110" y="824"/>
                  </a:lnTo>
                  <a:lnTo>
                    <a:pt x="1100" y="848"/>
                  </a:lnTo>
                  <a:lnTo>
                    <a:pt x="1088" y="872"/>
                  </a:lnTo>
                  <a:lnTo>
                    <a:pt x="1074" y="894"/>
                  </a:lnTo>
                  <a:lnTo>
                    <a:pt x="1060" y="916"/>
                  </a:lnTo>
                  <a:lnTo>
                    <a:pt x="1046" y="936"/>
                  </a:lnTo>
                  <a:lnTo>
                    <a:pt x="1030" y="956"/>
                  </a:lnTo>
                  <a:lnTo>
                    <a:pt x="1012" y="976"/>
                  </a:lnTo>
                  <a:lnTo>
                    <a:pt x="994" y="994"/>
                  </a:lnTo>
                  <a:lnTo>
                    <a:pt x="976" y="1012"/>
                  </a:lnTo>
                  <a:lnTo>
                    <a:pt x="956" y="1030"/>
                  </a:lnTo>
                  <a:lnTo>
                    <a:pt x="936" y="1046"/>
                  </a:lnTo>
                  <a:lnTo>
                    <a:pt x="916" y="1060"/>
                  </a:lnTo>
                  <a:lnTo>
                    <a:pt x="894" y="1074"/>
                  </a:lnTo>
                  <a:lnTo>
                    <a:pt x="872" y="1088"/>
                  </a:lnTo>
                  <a:lnTo>
                    <a:pt x="848" y="1100"/>
                  </a:lnTo>
                  <a:lnTo>
                    <a:pt x="824" y="1110"/>
                  </a:lnTo>
                  <a:lnTo>
                    <a:pt x="800" y="1120"/>
                  </a:lnTo>
                  <a:lnTo>
                    <a:pt x="776" y="1128"/>
                  </a:lnTo>
                  <a:lnTo>
                    <a:pt x="750" y="1136"/>
                  </a:lnTo>
                  <a:lnTo>
                    <a:pt x="724" y="1142"/>
                  </a:lnTo>
                  <a:lnTo>
                    <a:pt x="698" y="1146"/>
                  </a:lnTo>
                  <a:lnTo>
                    <a:pt x="670" y="1150"/>
                  </a:lnTo>
                  <a:lnTo>
                    <a:pt x="644" y="1152"/>
                  </a:lnTo>
                  <a:lnTo>
                    <a:pt x="616" y="1152"/>
                  </a:lnTo>
                  <a:lnTo>
                    <a:pt x="588" y="1152"/>
                  </a:lnTo>
                  <a:lnTo>
                    <a:pt x="562" y="1150"/>
                  </a:lnTo>
                  <a:lnTo>
                    <a:pt x="534" y="1146"/>
                  </a:lnTo>
                  <a:lnTo>
                    <a:pt x="508" y="1142"/>
                  </a:lnTo>
                  <a:lnTo>
                    <a:pt x="482" y="1136"/>
                  </a:lnTo>
                  <a:lnTo>
                    <a:pt x="456" y="1128"/>
                  </a:lnTo>
                  <a:lnTo>
                    <a:pt x="432" y="1120"/>
                  </a:lnTo>
                  <a:lnTo>
                    <a:pt x="408" y="1110"/>
                  </a:lnTo>
                  <a:lnTo>
                    <a:pt x="384" y="1100"/>
                  </a:lnTo>
                  <a:lnTo>
                    <a:pt x="360" y="1088"/>
                  </a:lnTo>
                  <a:lnTo>
                    <a:pt x="338" y="1074"/>
                  </a:lnTo>
                  <a:lnTo>
                    <a:pt x="316" y="1060"/>
                  </a:lnTo>
                  <a:lnTo>
                    <a:pt x="296" y="1046"/>
                  </a:lnTo>
                  <a:lnTo>
                    <a:pt x="276" y="1030"/>
                  </a:lnTo>
                  <a:lnTo>
                    <a:pt x="256" y="1012"/>
                  </a:lnTo>
                  <a:lnTo>
                    <a:pt x="238" y="994"/>
                  </a:lnTo>
                  <a:lnTo>
                    <a:pt x="220" y="976"/>
                  </a:lnTo>
                  <a:lnTo>
                    <a:pt x="202" y="956"/>
                  </a:lnTo>
                  <a:lnTo>
                    <a:pt x="186" y="936"/>
                  </a:lnTo>
                  <a:lnTo>
                    <a:pt x="172" y="916"/>
                  </a:lnTo>
                  <a:lnTo>
                    <a:pt x="158" y="894"/>
                  </a:lnTo>
                  <a:lnTo>
                    <a:pt x="144" y="872"/>
                  </a:lnTo>
                  <a:lnTo>
                    <a:pt x="132" y="848"/>
                  </a:lnTo>
                  <a:lnTo>
                    <a:pt x="122" y="824"/>
                  </a:lnTo>
                  <a:lnTo>
                    <a:pt x="112" y="800"/>
                  </a:lnTo>
                  <a:lnTo>
                    <a:pt x="104" y="776"/>
                  </a:lnTo>
                  <a:lnTo>
                    <a:pt x="96" y="750"/>
                  </a:lnTo>
                  <a:lnTo>
                    <a:pt x="90" y="724"/>
                  </a:lnTo>
                  <a:lnTo>
                    <a:pt x="86" y="698"/>
                  </a:lnTo>
                  <a:lnTo>
                    <a:pt x="82" y="670"/>
                  </a:lnTo>
                  <a:lnTo>
                    <a:pt x="80" y="644"/>
                  </a:lnTo>
                  <a:lnTo>
                    <a:pt x="80" y="616"/>
                  </a:lnTo>
                  <a:close/>
                </a:path>
              </a:pathLst>
            </a:custGeom>
            <a:solidFill>
              <a:srgbClr val="404040">
                <a:alpha val="9000"/>
              </a:srgbClr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defTabSz="316230"/>
              <a:endParaRPr lang="zh-CN" altLang="zh-CN" sz="1245" dirty="0">
                <a:solidFill>
                  <a:srgbClr val="000000"/>
                </a:solidFill>
                <a:sym typeface="宋体" panose="02010600030101010101" pitchFamily="2" charset="-122"/>
              </a:endParaRPr>
            </a:p>
          </p:txBody>
        </p:sp>
      </p:grpSp>
      <p:sp>
        <p:nvSpPr>
          <p:cNvPr id="11" name="椭圆 46">
            <a:extLst>
              <a:ext uri="{FF2B5EF4-FFF2-40B4-BE49-F238E27FC236}">
                <a16:creationId xmlns:a16="http://schemas.microsoft.com/office/drawing/2014/main" id="{4640B4EB-8AE2-4969-8616-AEE766B656B3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4049026" y="1490292"/>
            <a:ext cx="506988" cy="506988"/>
          </a:xfrm>
          <a:prstGeom prst="ellipse">
            <a:avLst/>
          </a:prstGeom>
          <a:solidFill>
            <a:srgbClr val="003F8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</a:p>
        </p:txBody>
      </p:sp>
      <p:sp>
        <p:nvSpPr>
          <p:cNvPr id="12" name="椭圆 47">
            <a:extLst>
              <a:ext uri="{FF2B5EF4-FFF2-40B4-BE49-F238E27FC236}">
                <a16:creationId xmlns:a16="http://schemas.microsoft.com/office/drawing/2014/main" id="{96A2CC08-8AF0-46B4-BFFD-4C15E63884D3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4658413" y="2627271"/>
            <a:ext cx="483631" cy="483631"/>
          </a:xfrm>
          <a:prstGeom prst="ellipse">
            <a:avLst/>
          </a:prstGeom>
          <a:solidFill>
            <a:srgbClr val="003F8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 sz="28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</a:p>
        </p:txBody>
      </p:sp>
      <p:sp>
        <p:nvSpPr>
          <p:cNvPr id="13" name="椭圆 48">
            <a:extLst>
              <a:ext uri="{FF2B5EF4-FFF2-40B4-BE49-F238E27FC236}">
                <a16:creationId xmlns:a16="http://schemas.microsoft.com/office/drawing/2014/main" id="{6088A42F-D203-43D9-AA98-3209E2B1840E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4577591" y="3788863"/>
            <a:ext cx="515795" cy="515795"/>
          </a:xfrm>
          <a:prstGeom prst="ellipse">
            <a:avLst/>
          </a:prstGeom>
          <a:solidFill>
            <a:srgbClr val="003F8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 sz="28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</a:t>
            </a:r>
          </a:p>
        </p:txBody>
      </p:sp>
      <p:sp>
        <p:nvSpPr>
          <p:cNvPr id="14" name="椭圆 49">
            <a:extLst>
              <a:ext uri="{FF2B5EF4-FFF2-40B4-BE49-F238E27FC236}">
                <a16:creationId xmlns:a16="http://schemas.microsoft.com/office/drawing/2014/main" id="{28CD99BE-0D33-4493-83F4-38810736212E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4267265" y="5087369"/>
            <a:ext cx="552103" cy="574575"/>
          </a:xfrm>
          <a:prstGeom prst="ellipse">
            <a:avLst/>
          </a:prstGeom>
          <a:solidFill>
            <a:srgbClr val="003F8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 sz="28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</a:t>
            </a:r>
          </a:p>
        </p:txBody>
      </p:sp>
      <p:sp>
        <p:nvSpPr>
          <p:cNvPr id="18" name="文本框 54">
            <a:extLst>
              <a:ext uri="{FF2B5EF4-FFF2-40B4-BE49-F238E27FC236}">
                <a16:creationId xmlns:a16="http://schemas.microsoft.com/office/drawing/2014/main" id="{1A0C008F-BCDC-40A9-A728-61128FF0F50A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5163999" y="3885724"/>
            <a:ext cx="54043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zh-CN" altLang="en-US" sz="2000" b="1" dirty="0">
                <a:latin typeface="+mn-ea"/>
                <a:sym typeface="微软雅黑" panose="020B0503020204020204" pitchFamily="34" charset="-122"/>
              </a:rPr>
              <a:t>摄像头</a:t>
            </a:r>
          </a:p>
        </p:txBody>
      </p:sp>
      <p:sp>
        <p:nvSpPr>
          <p:cNvPr id="22" name="文本框 54">
            <a:extLst>
              <a:ext uri="{FF2B5EF4-FFF2-40B4-BE49-F238E27FC236}">
                <a16:creationId xmlns:a16="http://schemas.microsoft.com/office/drawing/2014/main" id="{747FF186-1FA2-47B1-96A4-D98B9E413E9D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163999" y="2679256"/>
            <a:ext cx="32516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2000" b="1" dirty="0">
                <a:latin typeface="+mn-ea"/>
                <a:sym typeface="微软雅黑" panose="020B0503020204020204" pitchFamily="34" charset="-122"/>
              </a:rPr>
              <a:t>Wi-Fi</a:t>
            </a:r>
            <a:endParaRPr lang="zh-CN" altLang="en-US" sz="2000" b="1" dirty="0">
              <a:latin typeface="+mn-ea"/>
              <a:sym typeface="微软雅黑" panose="020B0503020204020204" pitchFamily="34" charset="-122"/>
            </a:endParaRPr>
          </a:p>
        </p:txBody>
      </p:sp>
      <p:sp>
        <p:nvSpPr>
          <p:cNvPr id="23" name="文本框 54">
            <a:extLst>
              <a:ext uri="{FF2B5EF4-FFF2-40B4-BE49-F238E27FC236}">
                <a16:creationId xmlns:a16="http://schemas.microsoft.com/office/drawing/2014/main" id="{8C20B883-6EE6-4571-8960-D532D062EDAB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4593665" y="1194776"/>
            <a:ext cx="6414167" cy="11821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zh-CN" altLang="en-US" sz="2000" b="1" dirty="0">
                <a:latin typeface="+mn-ea"/>
                <a:sym typeface="微软雅黑" panose="020B0503020204020204" pitchFamily="34" charset="-122"/>
              </a:rPr>
              <a:t>传感器驱动</a:t>
            </a:r>
            <a:endParaRPr lang="en-US" altLang="zh-CN" sz="2000" b="1" dirty="0">
              <a:latin typeface="+mn-ea"/>
              <a:sym typeface="微软雅黑" panose="020B0503020204020204" pitchFamily="3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zh-CN" altLang="zh-CN" dirty="0">
                <a:latin typeface="+mn-ea"/>
              </a:rPr>
              <a:t>独立驱动，封装协议解析，不决定告警等级。带 valid 标志和超时失效。全部非阻塞，不用 delay()。</a:t>
            </a:r>
          </a:p>
        </p:txBody>
      </p:sp>
      <p:pic>
        <p:nvPicPr>
          <p:cNvPr id="28" name="图片 27">
            <a:extLst>
              <a:ext uri="{FF2B5EF4-FFF2-40B4-BE49-F238E27FC236}">
                <a16:creationId xmlns:a16="http://schemas.microsoft.com/office/drawing/2014/main" id="{72087F41-D831-448F-948A-F7F197335F97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54774" y="2488344"/>
            <a:ext cx="2654362" cy="2649893"/>
          </a:xfrm>
          <a:prstGeom prst="rect">
            <a:avLst/>
          </a:prstGeom>
        </p:spPr>
      </p:pic>
      <p:sp>
        <p:nvSpPr>
          <p:cNvPr id="37" name="文本框 54">
            <a:extLst>
              <a:ext uri="{FF2B5EF4-FFF2-40B4-BE49-F238E27FC236}">
                <a16:creationId xmlns:a16="http://schemas.microsoft.com/office/drawing/2014/main" id="{CCA5ECF4-CAA0-49F6-86A2-E32CFFE9F718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4907315" y="5005324"/>
            <a:ext cx="54043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zh-CN" altLang="en-US" sz="2000" b="1" dirty="0">
                <a:latin typeface="+mn-ea"/>
                <a:sym typeface="微软雅黑" panose="020B0503020204020204" pitchFamily="34" charset="-122"/>
              </a:rPr>
              <a:t>网页</a:t>
            </a:r>
            <a:endParaRPr lang="zh-CN" altLang="en-US" sz="2000" dirty="0">
              <a:latin typeface="+mn-ea"/>
              <a:sym typeface="微软雅黑" panose="020B0503020204020204" pitchFamily="34" charset="-122"/>
            </a:endParaRPr>
          </a:p>
        </p:txBody>
      </p:sp>
      <p:cxnSp>
        <p:nvCxnSpPr>
          <p:cNvPr id="44" name="连接符: 肘形 43">
            <a:extLst>
              <a:ext uri="{FF2B5EF4-FFF2-40B4-BE49-F238E27FC236}">
                <a16:creationId xmlns:a16="http://schemas.microsoft.com/office/drawing/2014/main" id="{A9089B23-4BCE-41FA-ADBB-8C0CCF806BFA}"/>
              </a:ext>
            </a:extLst>
          </p:cNvPr>
          <p:cNvCxnSpPr>
            <a:cxnSpLocks/>
            <a:endCxn id="13" idx="2"/>
          </p:cNvCxnSpPr>
          <p:nvPr/>
        </p:nvCxnSpPr>
        <p:spPr>
          <a:xfrm flipV="1">
            <a:off x="2222791" y="4046761"/>
            <a:ext cx="2354800" cy="317109"/>
          </a:xfrm>
          <a:prstGeom prst="bentConnector3">
            <a:avLst>
              <a:gd name="adj1" fmla="val 50000"/>
            </a:avLst>
          </a:prstGeom>
          <a:ln w="19050">
            <a:solidFill>
              <a:srgbClr val="003F8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文本框 33">
            <a:extLst>
              <a:ext uri="{FF2B5EF4-FFF2-40B4-BE49-F238E27FC236}">
                <a16:creationId xmlns:a16="http://schemas.microsoft.com/office/drawing/2014/main" id="{CD299D4D-0D49-8878-32A7-821CDCF1FDA1}"/>
              </a:ext>
            </a:extLst>
          </p:cNvPr>
          <p:cNvSpPr txBox="1"/>
          <p:nvPr/>
        </p:nvSpPr>
        <p:spPr>
          <a:xfrm>
            <a:off x="5163999" y="3110902"/>
            <a:ext cx="82017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zh-CN" dirty="0">
                <a:latin typeface="+mn-ea"/>
              </a:rPr>
              <a:t>连路由器失败/断线 12 秒 → 回退热点 SmartCane-Camera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7DAFCD04-84F0-E2BB-7487-9C80E6A5739B}"/>
              </a:ext>
            </a:extLst>
          </p:cNvPr>
          <p:cNvSpPr txBox="1"/>
          <p:nvPr/>
        </p:nvSpPr>
        <p:spPr>
          <a:xfrm>
            <a:off x="5141571" y="4387145"/>
            <a:ext cx="69749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zh-CN" dirty="0">
                <a:latin typeface="+mn-ea"/>
              </a:rPr>
              <a:t>有 PSRAM 用 VGA，无则降级 QVGA；MJPEG 走 81 端口</a:t>
            </a: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5253B2B6-1EFC-D883-ECAB-DE8E45573730}"/>
              </a:ext>
            </a:extLst>
          </p:cNvPr>
          <p:cNvSpPr txBox="1"/>
          <p:nvPr/>
        </p:nvSpPr>
        <p:spPr>
          <a:xfrm>
            <a:off x="4907315" y="5374656"/>
            <a:ext cx="663464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zh-CN" dirty="0">
                <a:latin typeface="+mn-ea"/>
              </a:rPr>
              <a:t>/api/status（状态 JSON）</a:t>
            </a:r>
            <a:endParaRPr lang="en-US" altLang="zh-CN" dirty="0">
              <a:latin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zh-CN" dirty="0">
                <a:latin typeface="+mn-ea"/>
              </a:rPr>
              <a:t>/capture（抓拍）</a:t>
            </a:r>
            <a:endParaRPr lang="en-US" altLang="zh-CN" dirty="0">
              <a:latin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zh-CN" dirty="0">
                <a:latin typeface="+mn-ea"/>
              </a:rPr>
              <a:t>:81/stream（MJPEG）</a:t>
            </a:r>
            <a:endParaRPr lang="en-US" altLang="zh-CN" dirty="0">
              <a:latin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zh-CN" dirty="0">
                <a:latin typeface="+mn-ea"/>
              </a:rPr>
              <a:t>/api/sos、/api/cancel、/api/light</a:t>
            </a:r>
          </a:p>
        </p:txBody>
      </p:sp>
      <p:grpSp>
        <p:nvGrpSpPr>
          <p:cNvPr id="46" name="组合 45">
            <a:extLst>
              <a:ext uri="{FF2B5EF4-FFF2-40B4-BE49-F238E27FC236}">
                <a16:creationId xmlns:a16="http://schemas.microsoft.com/office/drawing/2014/main" id="{EF77AD2C-F521-223E-6383-95BB5DAE3F4E}"/>
              </a:ext>
            </a:extLst>
          </p:cNvPr>
          <p:cNvGrpSpPr/>
          <p:nvPr/>
        </p:nvGrpSpPr>
        <p:grpSpPr>
          <a:xfrm>
            <a:off x="206315" y="129691"/>
            <a:ext cx="11301244" cy="841145"/>
            <a:chOff x="3757353" y="2472892"/>
            <a:chExt cx="11301244" cy="841145"/>
          </a:xfrm>
        </p:grpSpPr>
        <p:sp>
          <p:nvSpPr>
            <p:cNvPr id="47" name="椭圆 46">
              <a:extLst>
                <a:ext uri="{FF2B5EF4-FFF2-40B4-BE49-F238E27FC236}">
                  <a16:creationId xmlns:a16="http://schemas.microsoft.com/office/drawing/2014/main" id="{B9E9806D-B3E6-0576-512C-A6349DADEFFB}"/>
                </a:ext>
              </a:extLst>
            </p:cNvPr>
            <p:cNvSpPr/>
            <p:nvPr/>
          </p:nvSpPr>
          <p:spPr>
            <a:xfrm>
              <a:off x="3757353" y="2603655"/>
              <a:ext cx="1420191" cy="58110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accent2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48" name="文本框 47">
              <a:extLst>
                <a:ext uri="{FF2B5EF4-FFF2-40B4-BE49-F238E27FC236}">
                  <a16:creationId xmlns:a16="http://schemas.microsoft.com/office/drawing/2014/main" id="{79617746-7BB5-DD98-E0BB-90BFEC70B0D2}"/>
                </a:ext>
              </a:extLst>
            </p:cNvPr>
            <p:cNvSpPr txBox="1"/>
            <p:nvPr/>
          </p:nvSpPr>
          <p:spPr>
            <a:xfrm>
              <a:off x="4022118" y="2483040"/>
              <a:ext cx="89066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4800" dirty="0">
                  <a:solidFill>
                    <a:srgbClr val="003F88"/>
                  </a:solidFill>
                  <a:effectLst>
                    <a:outerShdw blurRad="38100" dist="38100" dir="2700000" algn="tl" rotWithShape="0">
                      <a:schemeClr val="accent5">
                        <a:lumMod val="75000"/>
                        <a:alpha val="51000"/>
                      </a:schemeClr>
                    </a:outerShdw>
                  </a:effectLst>
                  <a:latin typeface="Impact" panose="020B0806030902050204" pitchFamily="34" charset="0"/>
                </a:rPr>
                <a:t>04</a:t>
              </a:r>
              <a:endParaRPr lang="zh-CN" altLang="en-US" sz="4800" dirty="0">
                <a:solidFill>
                  <a:srgbClr val="003F88"/>
                </a:solidFill>
                <a:effectLst>
                  <a:outerShdw blurRad="38100" dist="38100" dir="2700000" algn="tl" rotWithShape="0">
                    <a:schemeClr val="accent5">
                      <a:lumMod val="75000"/>
                      <a:alpha val="51000"/>
                    </a:schemeClr>
                  </a:outerShdw>
                </a:effectLst>
                <a:latin typeface="Impact" panose="020B0806030902050204" pitchFamily="34" charset="0"/>
              </a:endParaRPr>
            </a:p>
          </p:txBody>
        </p:sp>
        <p:sp>
          <p:nvSpPr>
            <p:cNvPr id="49" name="文本占位符 9">
              <a:extLst>
                <a:ext uri="{FF2B5EF4-FFF2-40B4-BE49-F238E27FC236}">
                  <a16:creationId xmlns:a16="http://schemas.microsoft.com/office/drawing/2014/main" id="{A774517F-3818-02A7-9DEA-5FD852D7E3AA}"/>
                </a:ext>
              </a:extLst>
            </p:cNvPr>
            <p:cNvSpPr txBox="1">
              <a:spLocks/>
            </p:cNvSpPr>
            <p:nvPr/>
          </p:nvSpPr>
          <p:spPr>
            <a:xfrm>
              <a:off x="5450910" y="2472892"/>
              <a:ext cx="9607687" cy="822325"/>
            </a:xfrm>
            <a:prstGeom prst="rect">
              <a:avLst/>
            </a:prstGeom>
            <a:ln>
              <a:noFill/>
            </a:ln>
          </p:spPr>
          <p:txBody>
            <a:bodyPr vert="horz" lIns="91440" tIns="45720" rIns="91440" bIns="45720" rtlCol="0" anchor="ctr">
              <a:noAutofit/>
            </a:bodyPr>
            <a:lstStyle>
              <a:defPPr>
                <a:defRPr lang="zh-CN"/>
              </a:defPPr>
              <a:lvl1pPr marL="0" indent="0" algn="dist" defTabSz="914400" rtl="0" eaLnBrk="1" latinLnBrk="0" hangingPunct="1">
                <a:buNone/>
                <a:defRPr sz="8000" b="1" kern="1200">
                  <a:solidFill>
                    <a:srgbClr val="002060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zh-CN" altLang="en-US" sz="4400" spc="400" dirty="0">
                  <a:solidFill>
                    <a:srgbClr val="003F88"/>
                  </a:solidFill>
                  <a:effectLst>
                    <a:outerShdw blurRad="12700" dist="38100" dir="3600000" sx="102000" sy="102000" algn="tl" rotWithShape="0">
                      <a:schemeClr val="accent5">
                        <a:lumMod val="75000"/>
                        <a:alpha val="30000"/>
                      </a:schemeClr>
                    </a:outerShdw>
                  </a:effectLst>
                </a:rPr>
                <a:t>软件方案</a:t>
              </a:r>
              <a:r>
                <a:rPr lang="en-US" altLang="zh-CN" sz="4400" spc="400" dirty="0">
                  <a:solidFill>
                    <a:srgbClr val="003F88"/>
                  </a:solidFill>
                  <a:effectLst>
                    <a:outerShdw blurRad="12700" dist="38100" dir="3600000" sx="102000" sy="102000" algn="tl" rotWithShape="0">
                      <a:schemeClr val="accent5">
                        <a:lumMod val="75000"/>
                        <a:alpha val="30000"/>
                      </a:schemeClr>
                    </a:outerShdw>
                  </a:effectLst>
                </a:rPr>
                <a:t>-</a:t>
              </a:r>
              <a:r>
                <a:rPr lang="en-US" altLang="zh-CN" sz="3600" spc="400" dirty="0">
                  <a:solidFill>
                    <a:srgbClr val="003F88"/>
                  </a:solidFill>
                  <a:effectLst>
                    <a:outerShdw blurRad="12700" dist="38100" dir="3600000" sx="102000" sy="102000" algn="tl" rotWithShape="0">
                      <a:schemeClr val="accent5">
                        <a:lumMod val="75000"/>
                        <a:alpha val="30000"/>
                      </a:schemeClr>
                    </a:outerShdw>
                  </a:effectLst>
                </a:rPr>
                <a:t>Wi-Fi </a:t>
              </a:r>
              <a:r>
                <a:rPr lang="zh-CN" altLang="en-US" sz="3600" spc="400" dirty="0">
                  <a:solidFill>
                    <a:srgbClr val="003F88"/>
                  </a:solidFill>
                  <a:effectLst>
                    <a:outerShdw blurRad="12700" dist="38100" dir="3600000" sx="102000" sy="102000" algn="tl" rotWithShape="0">
                      <a:schemeClr val="accent5">
                        <a:lumMod val="75000"/>
                        <a:alpha val="30000"/>
                      </a:schemeClr>
                    </a:outerShdw>
                  </a:effectLst>
                </a:rPr>
                <a:t>图传与网络服务✅</a:t>
              </a:r>
              <a:endParaRPr lang="zh-CN" altLang="en-US" sz="4400" spc="400" dirty="0">
                <a:solidFill>
                  <a:srgbClr val="003F88"/>
                </a:solidFill>
                <a:effectLst>
                  <a:outerShdw blurRad="12700" dist="38100" dir="3600000" sx="102000" sy="102000" algn="tl" rotWithShape="0">
                    <a:schemeClr val="accent5">
                      <a:lumMod val="75000"/>
                      <a:alpha val="30000"/>
                    </a:schemeClr>
                  </a:outerShd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46402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A0914F-DBB5-CA6A-9BBF-DE7A1EA8C3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>
            <a:extLst>
              <a:ext uri="{FF2B5EF4-FFF2-40B4-BE49-F238E27FC236}">
                <a16:creationId xmlns:a16="http://schemas.microsoft.com/office/drawing/2014/main" id="{26746543-28E6-B858-A0E0-8924C36B1A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0395" y="2134573"/>
            <a:ext cx="4465318" cy="3940237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D5E0648A-EA11-F182-CC55-42381319122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9268" y="277013"/>
            <a:ext cx="2045209" cy="568113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A6C4A8A7-F026-DA39-1A0C-EC31047D55DD}"/>
              </a:ext>
            </a:extLst>
          </p:cNvPr>
          <p:cNvSpPr txBox="1"/>
          <p:nvPr/>
        </p:nvSpPr>
        <p:spPr>
          <a:xfrm>
            <a:off x="7077108" y="2622073"/>
            <a:ext cx="4198605" cy="2965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dirty="0">
                <a:latin typeface="+mn-ea"/>
              </a:rPr>
              <a:t>CH340 UART0，115200，5 Hz JSON 遥测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dirty="0">
                <a:latin typeface="+mn-ea"/>
              </a:rPr>
              <a:t>图像走 Wi-Fi，与串口互不影响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dirty="0">
                <a:latin typeface="+mn-ea"/>
              </a:rPr>
              <a:t>遥测覆盖：系统状态、距离/照度、IMU、GPS、网络/相机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dirty="0">
                <a:latin typeface="+mn-ea"/>
              </a:rPr>
              <a:t>命令：PING、GET、SOS、CANCEL、LIGHT</a:t>
            </a:r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D2FD8768-F515-5FE7-09FB-A55756777023}"/>
              </a:ext>
            </a:extLst>
          </p:cNvPr>
          <p:cNvGrpSpPr/>
          <p:nvPr/>
        </p:nvGrpSpPr>
        <p:grpSpPr>
          <a:xfrm>
            <a:off x="312995" y="249202"/>
            <a:ext cx="11301244" cy="841145"/>
            <a:chOff x="3757353" y="2472892"/>
            <a:chExt cx="11301244" cy="841145"/>
          </a:xfrm>
        </p:grpSpPr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A2934035-11E3-913D-98F2-D46D9419966D}"/>
                </a:ext>
              </a:extLst>
            </p:cNvPr>
            <p:cNvSpPr/>
            <p:nvPr/>
          </p:nvSpPr>
          <p:spPr>
            <a:xfrm>
              <a:off x="3757353" y="2603655"/>
              <a:ext cx="1420191" cy="58110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accent2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2884B167-AF1C-0499-72FC-84F4BACE022F}"/>
                </a:ext>
              </a:extLst>
            </p:cNvPr>
            <p:cNvSpPr txBox="1"/>
            <p:nvPr/>
          </p:nvSpPr>
          <p:spPr>
            <a:xfrm>
              <a:off x="4022118" y="2483040"/>
              <a:ext cx="89066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4800" dirty="0">
                  <a:solidFill>
                    <a:srgbClr val="003F88"/>
                  </a:solidFill>
                  <a:effectLst>
                    <a:outerShdw blurRad="38100" dist="38100" dir="2700000" algn="tl" rotWithShape="0">
                      <a:schemeClr val="accent5">
                        <a:lumMod val="75000"/>
                        <a:alpha val="51000"/>
                      </a:schemeClr>
                    </a:outerShdw>
                  </a:effectLst>
                  <a:latin typeface="Impact" panose="020B0806030902050204" pitchFamily="34" charset="0"/>
                </a:rPr>
                <a:t>04</a:t>
              </a:r>
              <a:endParaRPr lang="zh-CN" altLang="en-US" sz="4800" dirty="0">
                <a:solidFill>
                  <a:srgbClr val="003F88"/>
                </a:solidFill>
                <a:effectLst>
                  <a:outerShdw blurRad="38100" dist="38100" dir="2700000" algn="tl" rotWithShape="0">
                    <a:schemeClr val="accent5">
                      <a:lumMod val="75000"/>
                      <a:alpha val="51000"/>
                    </a:schemeClr>
                  </a:outerShdw>
                </a:effectLst>
                <a:latin typeface="Impact" panose="020B0806030902050204" pitchFamily="34" charset="0"/>
              </a:endParaRPr>
            </a:p>
          </p:txBody>
        </p:sp>
        <p:sp>
          <p:nvSpPr>
            <p:cNvPr id="19" name="文本占位符 9">
              <a:extLst>
                <a:ext uri="{FF2B5EF4-FFF2-40B4-BE49-F238E27FC236}">
                  <a16:creationId xmlns:a16="http://schemas.microsoft.com/office/drawing/2014/main" id="{3DF49B85-3562-8124-2FC4-C7005B91AB5A}"/>
                </a:ext>
              </a:extLst>
            </p:cNvPr>
            <p:cNvSpPr txBox="1">
              <a:spLocks/>
            </p:cNvSpPr>
            <p:nvPr/>
          </p:nvSpPr>
          <p:spPr>
            <a:xfrm>
              <a:off x="5450910" y="2472892"/>
              <a:ext cx="9607687" cy="822325"/>
            </a:xfrm>
            <a:prstGeom prst="rect">
              <a:avLst/>
            </a:prstGeom>
            <a:ln>
              <a:noFill/>
            </a:ln>
          </p:spPr>
          <p:txBody>
            <a:bodyPr vert="horz" lIns="91440" tIns="45720" rIns="91440" bIns="45720" rtlCol="0" anchor="ctr">
              <a:noAutofit/>
            </a:bodyPr>
            <a:lstStyle>
              <a:defPPr>
                <a:defRPr lang="zh-CN"/>
              </a:defPPr>
              <a:lvl1pPr marL="0" indent="0" algn="dist" defTabSz="914400" rtl="0" eaLnBrk="1" latinLnBrk="0" hangingPunct="1">
                <a:buNone/>
                <a:defRPr sz="8000" b="1" kern="1200">
                  <a:solidFill>
                    <a:srgbClr val="002060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zh-CN" altLang="en-US" sz="4400" spc="400" dirty="0">
                  <a:solidFill>
                    <a:srgbClr val="003F88"/>
                  </a:solidFill>
                  <a:effectLst>
                    <a:outerShdw blurRad="12700" dist="38100" dir="3600000" sx="102000" sy="102000" algn="tl" rotWithShape="0">
                      <a:schemeClr val="accent5">
                        <a:lumMod val="75000"/>
                        <a:alpha val="30000"/>
                      </a:schemeClr>
                    </a:outerShdw>
                  </a:effectLst>
                </a:rPr>
                <a:t>软件方案</a:t>
              </a:r>
              <a:r>
                <a:rPr lang="en-US" altLang="zh-CN" sz="4400" spc="400" dirty="0">
                  <a:solidFill>
                    <a:srgbClr val="003F88"/>
                  </a:solidFill>
                  <a:effectLst>
                    <a:outerShdw blurRad="12700" dist="38100" dir="3600000" sx="102000" sy="102000" algn="tl" rotWithShape="0">
                      <a:schemeClr val="accent5">
                        <a:lumMod val="75000"/>
                        <a:alpha val="30000"/>
                      </a:schemeClr>
                    </a:outerShdw>
                  </a:effectLst>
                </a:rPr>
                <a:t>-</a:t>
              </a:r>
              <a:r>
                <a:rPr lang="zh-CN" altLang="en-US" sz="3600" spc="400" dirty="0">
                  <a:solidFill>
                    <a:srgbClr val="003F88"/>
                  </a:solidFill>
                  <a:effectLst>
                    <a:outerShdw blurRad="12700" dist="38100" dir="3600000" sx="102000" sy="102000" algn="tl" rotWithShape="0">
                      <a:schemeClr val="accent5">
                        <a:lumMod val="75000"/>
                        <a:alpha val="30000"/>
                      </a:schemeClr>
                    </a:outerShdw>
                  </a:effectLst>
                </a:rPr>
                <a:t>具体实现✅</a:t>
              </a:r>
              <a:endParaRPr lang="zh-CN" altLang="en-US" sz="4400" spc="400" dirty="0">
                <a:solidFill>
                  <a:srgbClr val="003F88"/>
                </a:solidFill>
                <a:effectLst>
                  <a:outerShdw blurRad="12700" dist="38100" dir="3600000" sx="102000" sy="102000" algn="tl" rotWithShape="0">
                    <a:schemeClr val="accent5">
                      <a:lumMod val="75000"/>
                      <a:alpha val="30000"/>
                    </a:schemeClr>
                  </a:outerShdw>
                </a:effectLst>
              </a:endParaRPr>
            </a:p>
          </p:txBody>
        </p:sp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91082BD2-96B5-C201-0824-F3893F59B249}"/>
              </a:ext>
            </a:extLst>
          </p:cNvPr>
          <p:cNvSpPr txBox="1"/>
          <p:nvPr/>
        </p:nvSpPr>
        <p:spPr>
          <a:xfrm>
            <a:off x="1882140" y="1495406"/>
            <a:ext cx="84277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sz="2800" b="1" dirty="0"/>
              <a:t> Windows </a:t>
            </a:r>
            <a:r>
              <a:rPr lang="zh-CN" altLang="en-US" sz="2800" b="1" dirty="0"/>
              <a:t>上位机 </a:t>
            </a:r>
            <a:r>
              <a:rPr lang="zh-CN" altLang="zh-CN" sz="2800" b="1" dirty="0"/>
              <a:t>SC1 通信协议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4A0674C-9384-1E58-EFAE-595E04E9B8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642" y="2134573"/>
            <a:ext cx="4801278" cy="3940237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3CA68397-ED6C-87EA-FD80-E28554173E62}"/>
              </a:ext>
            </a:extLst>
          </p:cNvPr>
          <p:cNvSpPr txBox="1"/>
          <p:nvPr/>
        </p:nvSpPr>
        <p:spPr>
          <a:xfrm>
            <a:off x="1163767" y="2690736"/>
            <a:ext cx="4545027" cy="295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+mn-ea"/>
              </a:rPr>
              <a:t>串口全量遥测与控制</a:t>
            </a:r>
            <a:endParaRPr lang="en-US" altLang="zh-CN" dirty="0">
              <a:latin typeface="+mn-ea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latin typeface="+mn-ea"/>
              </a:rPr>
              <a:t>Wi-Fi MJPEG </a:t>
            </a:r>
            <a:r>
              <a:rPr lang="zh-CN" altLang="en-US" dirty="0">
                <a:latin typeface="+mn-ea"/>
              </a:rPr>
              <a:t>图传显示</a:t>
            </a:r>
            <a:endParaRPr lang="en-US" altLang="zh-CN" dirty="0">
              <a:latin typeface="+mn-ea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latin typeface="+mn-ea"/>
              </a:rPr>
              <a:t>GPS </a:t>
            </a:r>
            <a:r>
              <a:rPr lang="zh-CN" altLang="en-US" dirty="0">
                <a:latin typeface="+mn-ea"/>
              </a:rPr>
              <a:t>在线</a:t>
            </a:r>
            <a:r>
              <a:rPr lang="en-US" altLang="zh-CN" dirty="0">
                <a:latin typeface="+mn-ea"/>
              </a:rPr>
              <a:t>/</a:t>
            </a:r>
            <a:r>
              <a:rPr lang="zh-CN" altLang="en-US" dirty="0">
                <a:latin typeface="+mn-ea"/>
              </a:rPr>
              <a:t>离线矢量地图（</a:t>
            </a:r>
            <a:r>
              <a:rPr lang="en-US" altLang="zh-CN" dirty="0">
                <a:latin typeface="+mn-ea"/>
              </a:rPr>
              <a:t>OpenStreetMap</a:t>
            </a:r>
            <a:r>
              <a:rPr lang="zh-CN" altLang="en-US" dirty="0">
                <a:latin typeface="+mn-ea"/>
              </a:rPr>
              <a:t>）</a:t>
            </a:r>
            <a:endParaRPr lang="en-US" altLang="zh-CN" dirty="0">
              <a:latin typeface="+mn-ea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 err="1">
                <a:latin typeface="+mn-ea"/>
              </a:rPr>
              <a:t>GeoJSON</a:t>
            </a:r>
            <a:r>
              <a:rPr lang="en-US" altLang="zh-CN" dirty="0">
                <a:latin typeface="+mn-ea"/>
              </a:rPr>
              <a:t> / GPX / KML </a:t>
            </a:r>
            <a:r>
              <a:rPr lang="zh-CN" altLang="en-US" dirty="0">
                <a:latin typeface="+mn-ea"/>
              </a:rPr>
              <a:t>轨迹导入</a:t>
            </a:r>
            <a:endParaRPr lang="en-US" altLang="zh-CN" dirty="0">
              <a:latin typeface="+mn-ea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+mn-ea"/>
              </a:rPr>
              <a:t>只展示原始快照，不在电脑端自行实现业务判断</a:t>
            </a:r>
            <a:endParaRPr lang="zh-CN" altLang="zh-CN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225956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F3643B5C-BE37-A263-5283-B63E32D7F939}"/>
              </a:ext>
            </a:extLst>
          </p:cNvPr>
          <p:cNvGrpSpPr/>
          <p:nvPr/>
        </p:nvGrpSpPr>
        <p:grpSpPr>
          <a:xfrm>
            <a:off x="312995" y="249202"/>
            <a:ext cx="11301244" cy="841145"/>
            <a:chOff x="3757353" y="2472892"/>
            <a:chExt cx="11301244" cy="841145"/>
          </a:xfrm>
        </p:grpSpPr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F3404360-A39A-0CA0-D77F-9A355EDEAC99}"/>
                </a:ext>
              </a:extLst>
            </p:cNvPr>
            <p:cNvSpPr/>
            <p:nvPr/>
          </p:nvSpPr>
          <p:spPr>
            <a:xfrm>
              <a:off x="3757353" y="2603655"/>
              <a:ext cx="1420191" cy="58110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accent2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920005E0-180A-4375-6187-8BCE3C4A1C26}"/>
                </a:ext>
              </a:extLst>
            </p:cNvPr>
            <p:cNvSpPr txBox="1"/>
            <p:nvPr/>
          </p:nvSpPr>
          <p:spPr>
            <a:xfrm>
              <a:off x="4022118" y="2483040"/>
              <a:ext cx="89066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4800" dirty="0">
                  <a:solidFill>
                    <a:srgbClr val="003F88"/>
                  </a:solidFill>
                  <a:effectLst>
                    <a:outerShdw blurRad="38100" dist="38100" dir="2700000" algn="tl" rotWithShape="0">
                      <a:schemeClr val="accent5">
                        <a:lumMod val="75000"/>
                        <a:alpha val="51000"/>
                      </a:schemeClr>
                    </a:outerShdw>
                  </a:effectLst>
                  <a:latin typeface="Impact" panose="020B0806030902050204" pitchFamily="34" charset="0"/>
                </a:rPr>
                <a:t>05</a:t>
              </a:r>
              <a:endParaRPr lang="zh-CN" altLang="en-US" sz="4800" dirty="0">
                <a:solidFill>
                  <a:srgbClr val="003F88"/>
                </a:solidFill>
                <a:effectLst>
                  <a:outerShdw blurRad="38100" dist="38100" dir="2700000" algn="tl" rotWithShape="0">
                    <a:schemeClr val="accent5">
                      <a:lumMod val="75000"/>
                      <a:alpha val="51000"/>
                    </a:schemeClr>
                  </a:outerShdw>
                </a:effectLst>
                <a:latin typeface="Impact" panose="020B0806030902050204" pitchFamily="34" charset="0"/>
              </a:endParaRPr>
            </a:p>
          </p:txBody>
        </p:sp>
        <p:sp>
          <p:nvSpPr>
            <p:cNvPr id="13" name="文本占位符 9">
              <a:extLst>
                <a:ext uri="{FF2B5EF4-FFF2-40B4-BE49-F238E27FC236}">
                  <a16:creationId xmlns:a16="http://schemas.microsoft.com/office/drawing/2014/main" id="{1B099C6C-80BD-BDF9-DF08-4E7A8277F526}"/>
                </a:ext>
              </a:extLst>
            </p:cNvPr>
            <p:cNvSpPr txBox="1">
              <a:spLocks/>
            </p:cNvSpPr>
            <p:nvPr/>
          </p:nvSpPr>
          <p:spPr>
            <a:xfrm>
              <a:off x="5450910" y="2472892"/>
              <a:ext cx="9607687" cy="822325"/>
            </a:xfrm>
            <a:prstGeom prst="rect">
              <a:avLst/>
            </a:prstGeom>
            <a:ln>
              <a:noFill/>
            </a:ln>
          </p:spPr>
          <p:txBody>
            <a:bodyPr vert="horz" lIns="91440" tIns="45720" rIns="91440" bIns="45720" rtlCol="0" anchor="ctr">
              <a:noAutofit/>
            </a:bodyPr>
            <a:lstStyle>
              <a:defPPr>
                <a:defRPr lang="zh-CN"/>
              </a:defPPr>
              <a:lvl1pPr marL="0" indent="0" algn="dist" defTabSz="914400" rtl="0" eaLnBrk="1" latinLnBrk="0" hangingPunct="1">
                <a:buNone/>
                <a:defRPr sz="8000" b="1" kern="1200">
                  <a:solidFill>
                    <a:srgbClr val="002060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zh-CN" altLang="en-US" sz="4400" spc="400" dirty="0">
                  <a:solidFill>
                    <a:srgbClr val="003F88"/>
                  </a:solidFill>
                  <a:effectLst>
                    <a:outerShdw blurRad="12700" dist="38100" dir="3600000" sx="102000" sy="102000" algn="tl" rotWithShape="0">
                      <a:schemeClr val="accent5">
                        <a:lumMod val="75000"/>
                        <a:alpha val="30000"/>
                      </a:schemeClr>
                    </a:outerShdw>
                  </a:effectLst>
                </a:rPr>
                <a:t>当前成果</a:t>
              </a:r>
              <a:r>
                <a:rPr lang="en-US" altLang="zh-CN" sz="4400" spc="400" dirty="0">
                  <a:solidFill>
                    <a:srgbClr val="003F88"/>
                  </a:solidFill>
                  <a:effectLst>
                    <a:outerShdw blurRad="12700" dist="38100" dir="3600000" sx="102000" sy="102000" algn="tl" rotWithShape="0">
                      <a:schemeClr val="accent5">
                        <a:lumMod val="75000"/>
                        <a:alpha val="30000"/>
                      </a:schemeClr>
                    </a:outerShdw>
                  </a:effectLst>
                </a:rPr>
                <a:t>-</a:t>
              </a:r>
              <a:r>
                <a:rPr lang="zh-CN" altLang="en-US" sz="3600" spc="400" dirty="0">
                  <a:solidFill>
                    <a:srgbClr val="003F88"/>
                  </a:solidFill>
                  <a:effectLst>
                    <a:outerShdw blurRad="12700" dist="38100" dir="3600000" sx="102000" sy="102000" algn="tl" rotWithShape="0">
                      <a:schemeClr val="accent5">
                        <a:lumMod val="75000"/>
                        <a:alpha val="30000"/>
                      </a:schemeClr>
                    </a:outerShdw>
                  </a:effectLst>
                </a:rPr>
                <a:t>实物展示✅</a:t>
              </a:r>
              <a:endParaRPr lang="zh-CN" altLang="en-US" sz="4400" spc="400" dirty="0">
                <a:solidFill>
                  <a:srgbClr val="003F88"/>
                </a:solidFill>
                <a:effectLst>
                  <a:outerShdw blurRad="12700" dist="38100" dir="3600000" sx="102000" sy="102000" algn="tl" rotWithShape="0">
                    <a:schemeClr val="accent5">
                      <a:lumMod val="75000"/>
                      <a:alpha val="30000"/>
                    </a:schemeClr>
                  </a:outerShdw>
                </a:effectLst>
              </a:endParaRPr>
            </a:p>
          </p:txBody>
        </p:sp>
      </p:grpSp>
      <p:pic>
        <p:nvPicPr>
          <p:cNvPr id="15" name="图片 14">
            <a:extLst>
              <a:ext uri="{FF2B5EF4-FFF2-40B4-BE49-F238E27FC236}">
                <a16:creationId xmlns:a16="http://schemas.microsoft.com/office/drawing/2014/main" id="{3B23499E-57B7-FA2A-435C-E5F838409D6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692" t="7334" r="24804" b="3633"/>
          <a:stretch>
            <a:fillRect/>
          </a:stretch>
        </p:blipFill>
        <p:spPr>
          <a:xfrm>
            <a:off x="775483" y="1393237"/>
            <a:ext cx="2462137" cy="5084798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AC22F5BF-A436-3175-DC84-8ACFFDEAEC0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170" t="29333" r="17988" b="16223"/>
          <a:stretch>
            <a:fillRect/>
          </a:stretch>
        </p:blipFill>
        <p:spPr>
          <a:xfrm>
            <a:off x="3600009" y="2503076"/>
            <a:ext cx="2794955" cy="2865120"/>
          </a:xfrm>
          <a:prstGeom prst="rect">
            <a:avLst/>
          </a:prstGeom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id="{0CA4C850-73CB-0EAC-575C-4F62517C4B41}"/>
              </a:ext>
            </a:extLst>
          </p:cNvPr>
          <p:cNvSpPr txBox="1"/>
          <p:nvPr/>
        </p:nvSpPr>
        <p:spPr>
          <a:xfrm>
            <a:off x="6810395" y="1868417"/>
            <a:ext cx="5068886" cy="3413114"/>
          </a:xfrm>
          <a:prstGeom prst="rect">
            <a:avLst/>
          </a:prstGeom>
          <a:ln w="57150">
            <a:solidFill>
              <a:srgbClr val="002060"/>
            </a:solidFill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zh-CN" altLang="zh-CN" sz="2000" b="1" dirty="0">
                <a:solidFill>
                  <a:srgbClr val="002060"/>
                </a:solidFill>
              </a:rPr>
              <a:t>已实现</a:t>
            </a:r>
            <a:r>
              <a:rPr lang="zh-CN" altLang="en-US" sz="2000" b="1" dirty="0">
                <a:solidFill>
                  <a:srgbClr val="002060"/>
                </a:solidFill>
              </a:rPr>
              <a:t>功能：</a:t>
            </a:r>
            <a:endParaRPr lang="zh-CN" altLang="zh-CN" sz="2000" b="1" dirty="0">
              <a:solidFill>
                <a:srgbClr val="002060"/>
              </a:solidFill>
            </a:endParaRPr>
          </a:p>
          <a:p>
            <a:pPr marL="457200" indent="-457200">
              <a:lnSpc>
                <a:spcPct val="150000"/>
              </a:lnSpc>
              <a:buFont typeface="+mj-ea"/>
              <a:buAutoNum type="circleNumDbPlain"/>
            </a:pPr>
            <a:r>
              <a:rPr lang="zh-CN" altLang="zh-CN" dirty="0"/>
              <a:t>超声波三级避障 + 照度自动照明 + GPS 定位</a:t>
            </a:r>
          </a:p>
          <a:p>
            <a:pPr marL="457200" indent="-457200">
              <a:lnSpc>
                <a:spcPct val="150000"/>
              </a:lnSpc>
              <a:buFont typeface="+mj-ea"/>
              <a:buAutoNum type="circleNumDbPlain"/>
            </a:pPr>
            <a:r>
              <a:rPr lang="zh-CN" altLang="zh-CN" dirty="0"/>
              <a:t>SOS 按键/网页/串口触发与解除</a:t>
            </a:r>
          </a:p>
          <a:p>
            <a:pPr marL="457200" indent="-457200">
              <a:lnSpc>
                <a:spcPct val="150000"/>
              </a:lnSpc>
              <a:buFont typeface="+mj-ea"/>
              <a:buAutoNum type="circleNumDbPlain"/>
            </a:pPr>
            <a:r>
              <a:rPr lang="zh-CN" altLang="zh-CN" dirty="0"/>
              <a:t>OV 2640 MJPEG 图传 + 单帧抓拍</a:t>
            </a:r>
          </a:p>
          <a:p>
            <a:pPr marL="457200" indent="-457200">
              <a:lnSpc>
                <a:spcPct val="150000"/>
              </a:lnSpc>
              <a:buFont typeface="+mj-ea"/>
              <a:buAutoNum type="circleNumDbPlain"/>
            </a:pPr>
            <a:r>
              <a:rPr lang="zh-CN" altLang="zh-CN" dirty="0"/>
              <a:t>FreeRTOS 双核调度 + 分级告警状态机</a:t>
            </a:r>
          </a:p>
          <a:p>
            <a:pPr marL="457200" indent="-457200">
              <a:lnSpc>
                <a:spcPct val="150000"/>
              </a:lnSpc>
              <a:buFont typeface="+mj-ea"/>
              <a:buAutoNum type="circleNumDbPlain"/>
            </a:pPr>
            <a:r>
              <a:rPr lang="zh-CN" altLang="zh-CN" dirty="0"/>
              <a:t>中文网页监控 + Windows 上位机（串口/图传/GPS 地图）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1065033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2C4CBF-6CD9-ACE9-B88D-71ACE389F2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786D0BE6-57DC-240F-01C2-9E6F892ABBCC}"/>
              </a:ext>
            </a:extLst>
          </p:cNvPr>
          <p:cNvGrpSpPr/>
          <p:nvPr/>
        </p:nvGrpSpPr>
        <p:grpSpPr>
          <a:xfrm>
            <a:off x="312995" y="249202"/>
            <a:ext cx="11301244" cy="841145"/>
            <a:chOff x="3757353" y="2472892"/>
            <a:chExt cx="11301244" cy="841145"/>
          </a:xfrm>
        </p:grpSpPr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03D8C99F-7D66-6E09-8F14-F2778ACECB0F}"/>
                </a:ext>
              </a:extLst>
            </p:cNvPr>
            <p:cNvSpPr/>
            <p:nvPr/>
          </p:nvSpPr>
          <p:spPr>
            <a:xfrm>
              <a:off x="3757353" y="2603655"/>
              <a:ext cx="1420191" cy="58110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accent2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4623B2CC-2D07-388A-C7DD-16A0EC3B0429}"/>
                </a:ext>
              </a:extLst>
            </p:cNvPr>
            <p:cNvSpPr txBox="1"/>
            <p:nvPr/>
          </p:nvSpPr>
          <p:spPr>
            <a:xfrm>
              <a:off x="4022118" y="2483040"/>
              <a:ext cx="89066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4800" dirty="0">
                  <a:solidFill>
                    <a:srgbClr val="003F88"/>
                  </a:solidFill>
                  <a:effectLst>
                    <a:outerShdw blurRad="38100" dist="38100" dir="2700000" algn="tl" rotWithShape="0">
                      <a:schemeClr val="accent5">
                        <a:lumMod val="75000"/>
                        <a:alpha val="51000"/>
                      </a:schemeClr>
                    </a:outerShdw>
                  </a:effectLst>
                  <a:latin typeface="Impact" panose="020B0806030902050204" pitchFamily="34" charset="0"/>
                </a:rPr>
                <a:t>05</a:t>
              </a:r>
              <a:endParaRPr lang="zh-CN" altLang="en-US" sz="4800" dirty="0">
                <a:solidFill>
                  <a:srgbClr val="003F88"/>
                </a:solidFill>
                <a:effectLst>
                  <a:outerShdw blurRad="38100" dist="38100" dir="2700000" algn="tl" rotWithShape="0">
                    <a:schemeClr val="accent5">
                      <a:lumMod val="75000"/>
                      <a:alpha val="51000"/>
                    </a:schemeClr>
                  </a:outerShdw>
                </a:effectLst>
                <a:latin typeface="Impact" panose="020B0806030902050204" pitchFamily="34" charset="0"/>
              </a:endParaRPr>
            </a:p>
          </p:txBody>
        </p:sp>
        <p:sp>
          <p:nvSpPr>
            <p:cNvPr id="13" name="文本占位符 9">
              <a:extLst>
                <a:ext uri="{FF2B5EF4-FFF2-40B4-BE49-F238E27FC236}">
                  <a16:creationId xmlns:a16="http://schemas.microsoft.com/office/drawing/2014/main" id="{129E726A-5C15-61EF-2485-7DA6C1DCBFE6}"/>
                </a:ext>
              </a:extLst>
            </p:cNvPr>
            <p:cNvSpPr txBox="1">
              <a:spLocks/>
            </p:cNvSpPr>
            <p:nvPr/>
          </p:nvSpPr>
          <p:spPr>
            <a:xfrm>
              <a:off x="5450910" y="2472892"/>
              <a:ext cx="9607687" cy="822325"/>
            </a:xfrm>
            <a:prstGeom prst="rect">
              <a:avLst/>
            </a:prstGeom>
            <a:ln>
              <a:noFill/>
            </a:ln>
          </p:spPr>
          <p:txBody>
            <a:bodyPr vert="horz" lIns="91440" tIns="45720" rIns="91440" bIns="45720" rtlCol="0" anchor="ctr">
              <a:noAutofit/>
            </a:bodyPr>
            <a:lstStyle>
              <a:defPPr>
                <a:defRPr lang="zh-CN"/>
              </a:defPPr>
              <a:lvl1pPr marL="0" indent="0" algn="dist" defTabSz="914400" rtl="0" eaLnBrk="1" latinLnBrk="0" hangingPunct="1">
                <a:buNone/>
                <a:defRPr sz="8000" b="1" kern="1200">
                  <a:solidFill>
                    <a:srgbClr val="002060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zh-CN" altLang="en-US" sz="4400" spc="400" dirty="0">
                  <a:solidFill>
                    <a:srgbClr val="003F88"/>
                  </a:solidFill>
                  <a:effectLst>
                    <a:outerShdw blurRad="12700" dist="38100" dir="3600000" sx="102000" sy="102000" algn="tl" rotWithShape="0">
                      <a:schemeClr val="accent5">
                        <a:lumMod val="75000"/>
                        <a:alpha val="30000"/>
                      </a:schemeClr>
                    </a:outerShdw>
                  </a:effectLst>
                </a:rPr>
                <a:t>当前成果</a:t>
              </a:r>
              <a:r>
                <a:rPr lang="en-US" altLang="zh-CN" sz="4400" spc="400" dirty="0">
                  <a:solidFill>
                    <a:srgbClr val="003F88"/>
                  </a:solidFill>
                  <a:effectLst>
                    <a:outerShdw blurRad="12700" dist="38100" dir="3600000" sx="102000" sy="102000" algn="tl" rotWithShape="0">
                      <a:schemeClr val="accent5">
                        <a:lumMod val="75000"/>
                        <a:alpha val="30000"/>
                      </a:schemeClr>
                    </a:outerShdw>
                  </a:effectLst>
                </a:rPr>
                <a:t>-</a:t>
              </a:r>
              <a:r>
                <a:rPr lang="zh-CN" altLang="en-US" sz="3600" spc="400" dirty="0">
                  <a:solidFill>
                    <a:srgbClr val="003F88"/>
                  </a:solidFill>
                  <a:effectLst>
                    <a:outerShdw blurRad="12700" dist="38100" dir="3600000" sx="102000" sy="102000" algn="tl" rotWithShape="0">
                      <a:schemeClr val="accent5">
                        <a:lumMod val="75000"/>
                        <a:alpha val="30000"/>
                      </a:schemeClr>
                    </a:outerShdw>
                  </a:effectLst>
                </a:rPr>
                <a:t>网页端展示✅</a:t>
              </a:r>
              <a:endParaRPr lang="zh-CN" altLang="en-US" sz="4400" spc="400" dirty="0">
                <a:solidFill>
                  <a:srgbClr val="003F88"/>
                </a:solidFill>
                <a:effectLst>
                  <a:outerShdw blurRad="12700" dist="38100" dir="3600000" sx="102000" sy="102000" algn="tl" rotWithShape="0">
                    <a:schemeClr val="accent5">
                      <a:lumMod val="75000"/>
                      <a:alpha val="30000"/>
                    </a:schemeClr>
                  </a:outerShdw>
                </a:effectLst>
              </a:endParaRP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1866670B-B528-4806-A291-6E7A197D8D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41" b="6909"/>
          <a:stretch>
            <a:fillRect/>
          </a:stretch>
        </p:blipFill>
        <p:spPr>
          <a:xfrm>
            <a:off x="1136909" y="1200664"/>
            <a:ext cx="2661610" cy="529525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9BBA2196-5385-2F83-2CF9-6FB3C2047B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40" b="6739"/>
          <a:stretch>
            <a:fillRect/>
          </a:stretch>
        </p:blipFill>
        <p:spPr>
          <a:xfrm>
            <a:off x="4532438" y="1198096"/>
            <a:ext cx="2661611" cy="529525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2C2FC7AE-3C0B-0CE5-EDB8-BD47F42816B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392" t="11755" r="1392" b="6791"/>
          <a:stretch>
            <a:fillRect/>
          </a:stretch>
        </p:blipFill>
        <p:spPr>
          <a:xfrm>
            <a:off x="8661887" y="1272861"/>
            <a:ext cx="2825904" cy="5220485"/>
          </a:xfrm>
          <a:prstGeom prst="rect">
            <a:avLst/>
          </a:prstGeom>
        </p:spPr>
      </p:pic>
      <p:sp>
        <p:nvSpPr>
          <p:cNvPr id="8" name="箭头: 右 7">
            <a:extLst>
              <a:ext uri="{FF2B5EF4-FFF2-40B4-BE49-F238E27FC236}">
                <a16:creationId xmlns:a16="http://schemas.microsoft.com/office/drawing/2014/main" id="{77994E96-0155-C4EF-DFCB-12DDD8B94949}"/>
              </a:ext>
            </a:extLst>
          </p:cNvPr>
          <p:cNvSpPr/>
          <p:nvPr/>
        </p:nvSpPr>
        <p:spPr>
          <a:xfrm>
            <a:off x="7337467" y="4688379"/>
            <a:ext cx="1181002" cy="407324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66260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B66809-5D43-DDBF-4736-AAE3F384ED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>
            <a:extLst>
              <a:ext uri="{FF2B5EF4-FFF2-40B4-BE49-F238E27FC236}">
                <a16:creationId xmlns:a16="http://schemas.microsoft.com/office/drawing/2014/main" id="{2B6608FB-1A5A-8183-4C8E-1D1611FEE670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5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9301523" y="3030897"/>
            <a:ext cx="2648307" cy="2032892"/>
          </a:xfrm>
          <a:prstGeom prst="rect">
            <a:avLst/>
          </a:prstGeom>
        </p:spPr>
      </p:pic>
      <p:grpSp>
        <p:nvGrpSpPr>
          <p:cNvPr id="4" name="Group 4">
            <a:extLst>
              <a:ext uri="{FF2B5EF4-FFF2-40B4-BE49-F238E27FC236}">
                <a16:creationId xmlns:a16="http://schemas.microsoft.com/office/drawing/2014/main" id="{A0CF4027-CDB6-28D2-D995-EFC8B84AEBAC}"/>
              </a:ext>
            </a:extLst>
          </p:cNvPr>
          <p:cNvGrpSpPr>
            <a:grpSpLocks noChangeAspect="1"/>
          </p:cNvGrpSpPr>
          <p:nvPr/>
        </p:nvGrpSpPr>
        <p:grpSpPr>
          <a:xfrm>
            <a:off x="10292898" y="-1710168"/>
            <a:ext cx="3313865" cy="3313865"/>
            <a:chOff x="0" y="0"/>
            <a:chExt cx="1708150" cy="1708150"/>
          </a:xfrm>
          <a:solidFill>
            <a:schemeClr val="accent5">
              <a:lumMod val="20000"/>
              <a:lumOff val="80000"/>
            </a:schemeClr>
          </a:solidFill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D3B5C1E3-C5A4-1ADA-FA8E-00F63496D6FD}"/>
                </a:ext>
              </a:extLst>
            </p:cNvPr>
            <p:cNvSpPr/>
            <p:nvPr/>
          </p:nvSpPr>
          <p:spPr>
            <a:xfrm>
              <a:off x="0" y="0"/>
              <a:ext cx="1708150" cy="1708150"/>
            </a:xfrm>
            <a:custGeom>
              <a:avLst/>
              <a:gdLst/>
              <a:ahLst/>
              <a:cxnLst/>
              <a:rect l="l" t="t" r="r" b="b"/>
              <a:pathLst>
                <a:path w="1708150" h="1708150">
                  <a:moveTo>
                    <a:pt x="853440" y="1708150"/>
                  </a:moveTo>
                  <a:cubicBezTo>
                    <a:pt x="383540" y="1708150"/>
                    <a:pt x="0" y="1324610"/>
                    <a:pt x="0" y="853440"/>
                  </a:cubicBezTo>
                  <a:cubicBezTo>
                    <a:pt x="0" y="383540"/>
                    <a:pt x="383540" y="0"/>
                    <a:pt x="853440" y="0"/>
                  </a:cubicBezTo>
                  <a:cubicBezTo>
                    <a:pt x="1324610" y="0"/>
                    <a:pt x="1706880" y="383540"/>
                    <a:pt x="1706880" y="853440"/>
                  </a:cubicBezTo>
                  <a:cubicBezTo>
                    <a:pt x="1708150" y="1324610"/>
                    <a:pt x="1324610" y="1708150"/>
                    <a:pt x="853440" y="1708150"/>
                  </a:cubicBezTo>
                  <a:close/>
                  <a:moveTo>
                    <a:pt x="853440" y="469900"/>
                  </a:moveTo>
                  <a:cubicBezTo>
                    <a:pt x="642620" y="469900"/>
                    <a:pt x="469900" y="642620"/>
                    <a:pt x="469900" y="853440"/>
                  </a:cubicBezTo>
                  <a:cubicBezTo>
                    <a:pt x="469900" y="1064260"/>
                    <a:pt x="642620" y="1236980"/>
                    <a:pt x="853440" y="1236980"/>
                  </a:cubicBezTo>
                  <a:cubicBezTo>
                    <a:pt x="1064260" y="1236980"/>
                    <a:pt x="1236980" y="1064260"/>
                    <a:pt x="1236980" y="853440"/>
                  </a:cubicBezTo>
                  <a:cubicBezTo>
                    <a:pt x="1236980" y="642620"/>
                    <a:pt x="1065530" y="469900"/>
                    <a:pt x="853440" y="469900"/>
                  </a:cubicBezTo>
                  <a:close/>
                </a:path>
              </a:pathLst>
            </a:custGeom>
            <a:grpFill/>
          </p:spPr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21B7557D-446E-A261-853C-39B2A4EEEDBF}"/>
              </a:ext>
            </a:extLst>
          </p:cNvPr>
          <p:cNvGrpSpPr>
            <a:grpSpLocks noChangeAspect="1"/>
          </p:cNvGrpSpPr>
          <p:nvPr/>
        </p:nvGrpSpPr>
        <p:grpSpPr>
          <a:xfrm>
            <a:off x="-793950" y="5835767"/>
            <a:ext cx="2232801" cy="2232801"/>
            <a:chOff x="0" y="0"/>
            <a:chExt cx="1708150" cy="1708150"/>
          </a:xfrm>
          <a:solidFill>
            <a:schemeClr val="accent5">
              <a:lumMod val="20000"/>
              <a:lumOff val="80000"/>
            </a:schemeClr>
          </a:solidFill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DBBF7B34-DAA3-91E1-B009-9C513D789F59}"/>
                </a:ext>
              </a:extLst>
            </p:cNvPr>
            <p:cNvSpPr/>
            <p:nvPr/>
          </p:nvSpPr>
          <p:spPr>
            <a:xfrm>
              <a:off x="0" y="0"/>
              <a:ext cx="1708150" cy="1708150"/>
            </a:xfrm>
            <a:custGeom>
              <a:avLst/>
              <a:gdLst/>
              <a:ahLst/>
              <a:cxnLst/>
              <a:rect l="l" t="t" r="r" b="b"/>
              <a:pathLst>
                <a:path w="1708150" h="1708150">
                  <a:moveTo>
                    <a:pt x="853440" y="1708150"/>
                  </a:moveTo>
                  <a:cubicBezTo>
                    <a:pt x="383540" y="1708150"/>
                    <a:pt x="0" y="1324610"/>
                    <a:pt x="0" y="853440"/>
                  </a:cubicBezTo>
                  <a:cubicBezTo>
                    <a:pt x="0" y="383540"/>
                    <a:pt x="383540" y="0"/>
                    <a:pt x="853440" y="0"/>
                  </a:cubicBezTo>
                  <a:cubicBezTo>
                    <a:pt x="1324610" y="0"/>
                    <a:pt x="1706880" y="383540"/>
                    <a:pt x="1706880" y="853440"/>
                  </a:cubicBezTo>
                  <a:cubicBezTo>
                    <a:pt x="1708150" y="1324610"/>
                    <a:pt x="1324610" y="1708150"/>
                    <a:pt x="853440" y="1708150"/>
                  </a:cubicBezTo>
                  <a:close/>
                  <a:moveTo>
                    <a:pt x="853440" y="469900"/>
                  </a:moveTo>
                  <a:cubicBezTo>
                    <a:pt x="642620" y="469900"/>
                    <a:pt x="469900" y="642620"/>
                    <a:pt x="469900" y="853440"/>
                  </a:cubicBezTo>
                  <a:cubicBezTo>
                    <a:pt x="469900" y="1064260"/>
                    <a:pt x="642620" y="1236980"/>
                    <a:pt x="853440" y="1236980"/>
                  </a:cubicBezTo>
                  <a:cubicBezTo>
                    <a:pt x="1064260" y="1236980"/>
                    <a:pt x="1236980" y="1064260"/>
                    <a:pt x="1236980" y="853440"/>
                  </a:cubicBezTo>
                  <a:cubicBezTo>
                    <a:pt x="1236980" y="642620"/>
                    <a:pt x="1065530" y="469900"/>
                    <a:pt x="853440" y="469900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zh-CN" altLang="en-US" dirty="0"/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C72CC041-9AE9-6498-213B-3DB84B3EB7D3}"/>
              </a:ext>
            </a:extLst>
          </p:cNvPr>
          <p:cNvGrpSpPr/>
          <p:nvPr/>
        </p:nvGrpSpPr>
        <p:grpSpPr>
          <a:xfrm>
            <a:off x="248820" y="5498494"/>
            <a:ext cx="956496" cy="1112521"/>
            <a:chOff x="0" y="0"/>
            <a:chExt cx="1912991" cy="2225042"/>
          </a:xfrm>
          <a:solidFill>
            <a:srgbClr val="003F88"/>
          </a:solidFill>
        </p:grpSpPr>
        <p:pic>
          <p:nvPicPr>
            <p:cNvPr id="14" name="Picture 14">
              <a:extLst>
                <a:ext uri="{FF2B5EF4-FFF2-40B4-BE49-F238E27FC236}">
                  <a16:creationId xmlns:a16="http://schemas.microsoft.com/office/drawing/2014/main" id="{31671B0C-4943-6212-B811-4CDF0EC1E3F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p:blipFill>
          <p:spPr>
            <a:xfrm>
              <a:off x="0" y="1214754"/>
              <a:ext cx="867585" cy="1010288"/>
            </a:xfrm>
            <a:prstGeom prst="rect">
              <a:avLst/>
            </a:prstGeom>
          </p:spPr>
        </p:pic>
        <p:pic>
          <p:nvPicPr>
            <p:cNvPr id="15" name="Picture 15">
              <a:extLst>
                <a:ext uri="{FF2B5EF4-FFF2-40B4-BE49-F238E27FC236}">
                  <a16:creationId xmlns:a16="http://schemas.microsoft.com/office/drawing/2014/main" id="{C0670921-4BC0-47D8-FE8B-7609C584D33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p:blipFill>
          <p:spPr>
            <a:xfrm>
              <a:off x="0" y="0"/>
              <a:ext cx="867585" cy="1010288"/>
            </a:xfrm>
            <a:prstGeom prst="rect">
              <a:avLst/>
            </a:prstGeom>
          </p:spPr>
        </p:pic>
        <p:pic>
          <p:nvPicPr>
            <p:cNvPr id="16" name="Picture 16">
              <a:extLst>
                <a:ext uri="{FF2B5EF4-FFF2-40B4-BE49-F238E27FC236}">
                  <a16:creationId xmlns:a16="http://schemas.microsoft.com/office/drawing/2014/main" id="{D619ABFB-BE3E-3214-6831-3BD6E6E2AF9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p:blipFill>
          <p:spPr>
            <a:xfrm>
              <a:off x="1045407" y="1214754"/>
              <a:ext cx="867585" cy="1010288"/>
            </a:xfrm>
            <a:prstGeom prst="rect">
              <a:avLst/>
            </a:prstGeom>
          </p:spPr>
        </p:pic>
        <p:pic>
          <p:nvPicPr>
            <p:cNvPr id="17" name="Picture 17">
              <a:extLst>
                <a:ext uri="{FF2B5EF4-FFF2-40B4-BE49-F238E27FC236}">
                  <a16:creationId xmlns:a16="http://schemas.microsoft.com/office/drawing/2014/main" id="{D3F70A11-0A6D-688C-EA50-83A5E61210A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p:blipFill>
          <p:spPr>
            <a:xfrm>
              <a:off x="1045407" y="0"/>
              <a:ext cx="867585" cy="1010288"/>
            </a:xfrm>
            <a:prstGeom prst="rect">
              <a:avLst/>
            </a:prstGeom>
          </p:spPr>
        </p:pic>
      </p:grpSp>
      <p:cxnSp>
        <p:nvCxnSpPr>
          <p:cNvPr id="80" name="直接连接符 79">
            <a:extLst>
              <a:ext uri="{FF2B5EF4-FFF2-40B4-BE49-F238E27FC236}">
                <a16:creationId xmlns:a16="http://schemas.microsoft.com/office/drawing/2014/main" id="{03DB3F78-58B8-D284-5DD6-991A517E6D79}"/>
              </a:ext>
            </a:extLst>
          </p:cNvPr>
          <p:cNvCxnSpPr>
            <a:cxnSpLocks/>
          </p:cNvCxnSpPr>
          <p:nvPr/>
        </p:nvCxnSpPr>
        <p:spPr>
          <a:xfrm>
            <a:off x="12192000" y="6858000"/>
            <a:ext cx="848002" cy="0"/>
          </a:xfrm>
          <a:prstGeom prst="line">
            <a:avLst/>
          </a:prstGeom>
          <a:ln w="12700">
            <a:prstDash val="sysDot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grpSp>
        <p:nvGrpSpPr>
          <p:cNvPr id="271" name="Group 6">
            <a:extLst>
              <a:ext uri="{FF2B5EF4-FFF2-40B4-BE49-F238E27FC236}">
                <a16:creationId xmlns:a16="http://schemas.microsoft.com/office/drawing/2014/main" id="{21536A99-1001-C4DA-25EB-7419B9299F09}"/>
              </a:ext>
            </a:extLst>
          </p:cNvPr>
          <p:cNvGrpSpPr/>
          <p:nvPr/>
        </p:nvGrpSpPr>
        <p:grpSpPr>
          <a:xfrm>
            <a:off x="10712776" y="557548"/>
            <a:ext cx="1135547" cy="1320779"/>
            <a:chOff x="0" y="0"/>
            <a:chExt cx="2271094" cy="2641558"/>
          </a:xfrm>
          <a:solidFill>
            <a:srgbClr val="003F88"/>
          </a:solidFill>
        </p:grpSpPr>
        <p:pic>
          <p:nvPicPr>
            <p:cNvPr id="272" name="Picture 7">
              <a:extLst>
                <a:ext uri="{FF2B5EF4-FFF2-40B4-BE49-F238E27FC236}">
                  <a16:creationId xmlns:a16="http://schemas.microsoft.com/office/drawing/2014/main" id="{C29702E3-DDD6-01B8-E797-DBB8BF34A16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p:blipFill>
          <p:spPr>
            <a:xfrm>
              <a:off x="0" y="1442150"/>
              <a:ext cx="1029992" cy="1199409"/>
            </a:xfrm>
            <a:prstGeom prst="rect">
              <a:avLst/>
            </a:prstGeom>
          </p:spPr>
        </p:pic>
        <p:pic>
          <p:nvPicPr>
            <p:cNvPr id="273" name="Picture 8">
              <a:extLst>
                <a:ext uri="{FF2B5EF4-FFF2-40B4-BE49-F238E27FC236}">
                  <a16:creationId xmlns:a16="http://schemas.microsoft.com/office/drawing/2014/main" id="{ACE36288-0D90-167A-C36A-6E25826FA70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p:blipFill>
          <p:spPr>
            <a:xfrm>
              <a:off x="0" y="0"/>
              <a:ext cx="1029992" cy="1199409"/>
            </a:xfrm>
            <a:prstGeom prst="rect">
              <a:avLst/>
            </a:prstGeom>
          </p:spPr>
        </p:pic>
        <p:pic>
          <p:nvPicPr>
            <p:cNvPr id="274" name="Picture 9">
              <a:extLst>
                <a:ext uri="{FF2B5EF4-FFF2-40B4-BE49-F238E27FC236}">
                  <a16:creationId xmlns:a16="http://schemas.microsoft.com/office/drawing/2014/main" id="{13D72BF2-C4BF-F4D2-A6B5-950B546D410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p:blipFill>
          <p:spPr>
            <a:xfrm>
              <a:off x="1241102" y="1442150"/>
              <a:ext cx="1029992" cy="1199409"/>
            </a:xfrm>
            <a:prstGeom prst="rect">
              <a:avLst/>
            </a:prstGeom>
          </p:spPr>
        </p:pic>
        <p:pic>
          <p:nvPicPr>
            <p:cNvPr id="275" name="Picture 10">
              <a:extLst>
                <a:ext uri="{FF2B5EF4-FFF2-40B4-BE49-F238E27FC236}">
                  <a16:creationId xmlns:a16="http://schemas.microsoft.com/office/drawing/2014/main" id="{08598BF8-5011-75AB-260B-C4283F2B746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p:blipFill>
          <p:spPr>
            <a:xfrm>
              <a:off x="1241102" y="0"/>
              <a:ext cx="1029992" cy="1199409"/>
            </a:xfrm>
            <a:prstGeom prst="rect">
              <a:avLst/>
            </a:prstGeom>
          </p:spPr>
        </p:pic>
      </p:grpSp>
      <p:sp>
        <p:nvSpPr>
          <p:cNvPr id="69" name="TextBox 30">
            <a:extLst>
              <a:ext uri="{FF2B5EF4-FFF2-40B4-BE49-F238E27FC236}">
                <a16:creationId xmlns:a16="http://schemas.microsoft.com/office/drawing/2014/main" id="{7BE9B3AC-8B1F-CDDF-96D8-AEC9B5DC28EE}"/>
              </a:ext>
            </a:extLst>
          </p:cNvPr>
          <p:cNvSpPr txBox="1"/>
          <p:nvPr/>
        </p:nvSpPr>
        <p:spPr>
          <a:xfrm>
            <a:off x="-821831" y="1448227"/>
            <a:ext cx="2848095" cy="366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770"/>
              </a:lnSpc>
            </a:pPr>
            <a:r>
              <a:rPr lang="zh-CN" altLang="en-US" sz="3200" b="1" dirty="0">
                <a:ln w="6600">
                  <a:solidFill>
                    <a:srgbClr val="003F88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5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启动自检</a:t>
            </a:r>
            <a:endParaRPr lang="en-US" sz="3200" b="1" dirty="0">
              <a:ln w="6600">
                <a:solidFill>
                  <a:srgbClr val="003F88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5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5" name="TextBox 32">
            <a:extLst>
              <a:ext uri="{FF2B5EF4-FFF2-40B4-BE49-F238E27FC236}">
                <a16:creationId xmlns:a16="http://schemas.microsoft.com/office/drawing/2014/main" id="{C87610FE-082E-A068-3193-2D8B0A9ED429}"/>
              </a:ext>
            </a:extLst>
          </p:cNvPr>
          <p:cNvSpPr txBox="1"/>
          <p:nvPr/>
        </p:nvSpPr>
        <p:spPr>
          <a:xfrm>
            <a:off x="-1638064" y="3948549"/>
            <a:ext cx="3644616" cy="3669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2770"/>
              </a:lnSpc>
            </a:pPr>
            <a:r>
              <a:rPr lang="zh-CN" altLang="en-US" sz="3200" b="1" dirty="0">
                <a:ln w="6600">
                  <a:solidFill>
                    <a:srgbClr val="003F88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5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分级联调</a:t>
            </a:r>
            <a:endParaRPr lang="en-US" sz="3200" b="1" dirty="0">
              <a:ln w="6600">
                <a:solidFill>
                  <a:srgbClr val="003F88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5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298EE3EF-E201-C50A-8FBE-3751E90BBCE5}"/>
              </a:ext>
            </a:extLst>
          </p:cNvPr>
          <p:cNvGrpSpPr/>
          <p:nvPr/>
        </p:nvGrpSpPr>
        <p:grpSpPr>
          <a:xfrm>
            <a:off x="312995" y="249202"/>
            <a:ext cx="11301244" cy="841145"/>
            <a:chOff x="3757353" y="2472892"/>
            <a:chExt cx="11301244" cy="841145"/>
          </a:xfrm>
        </p:grpSpPr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CF8BBEBD-A181-9DF9-843B-C04C4A646292}"/>
                </a:ext>
              </a:extLst>
            </p:cNvPr>
            <p:cNvSpPr/>
            <p:nvPr/>
          </p:nvSpPr>
          <p:spPr>
            <a:xfrm>
              <a:off x="3757353" y="2603655"/>
              <a:ext cx="1420191" cy="58110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accent2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111AA4FB-EEBF-17FB-B9D3-59F26CB1914C}"/>
                </a:ext>
              </a:extLst>
            </p:cNvPr>
            <p:cNvSpPr txBox="1"/>
            <p:nvPr/>
          </p:nvSpPr>
          <p:spPr>
            <a:xfrm>
              <a:off x="4022118" y="2483040"/>
              <a:ext cx="89066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4800" dirty="0">
                  <a:solidFill>
                    <a:srgbClr val="003F88"/>
                  </a:solidFill>
                  <a:effectLst>
                    <a:outerShdw blurRad="38100" dist="38100" dir="2700000" algn="tl" rotWithShape="0">
                      <a:schemeClr val="accent5">
                        <a:lumMod val="75000"/>
                        <a:alpha val="51000"/>
                      </a:schemeClr>
                    </a:outerShdw>
                  </a:effectLst>
                  <a:latin typeface="Impact" panose="020B0806030902050204" pitchFamily="34" charset="0"/>
                </a:rPr>
                <a:t>05</a:t>
              </a:r>
              <a:endParaRPr lang="zh-CN" altLang="en-US" sz="4800" dirty="0">
                <a:solidFill>
                  <a:srgbClr val="003F88"/>
                </a:solidFill>
                <a:effectLst>
                  <a:outerShdw blurRad="38100" dist="38100" dir="2700000" algn="tl" rotWithShape="0">
                    <a:schemeClr val="accent5">
                      <a:lumMod val="75000"/>
                      <a:alpha val="51000"/>
                    </a:schemeClr>
                  </a:outerShdw>
                </a:effectLst>
                <a:latin typeface="Impact" panose="020B0806030902050204" pitchFamily="34" charset="0"/>
              </a:endParaRPr>
            </a:p>
          </p:txBody>
        </p:sp>
        <p:sp>
          <p:nvSpPr>
            <p:cNvPr id="23" name="文本占位符 9">
              <a:extLst>
                <a:ext uri="{FF2B5EF4-FFF2-40B4-BE49-F238E27FC236}">
                  <a16:creationId xmlns:a16="http://schemas.microsoft.com/office/drawing/2014/main" id="{0CFDF0A5-AB64-FCFA-2DCD-83DC999A130C}"/>
                </a:ext>
              </a:extLst>
            </p:cNvPr>
            <p:cNvSpPr txBox="1">
              <a:spLocks/>
            </p:cNvSpPr>
            <p:nvPr/>
          </p:nvSpPr>
          <p:spPr>
            <a:xfrm>
              <a:off x="5450910" y="2472892"/>
              <a:ext cx="9607687" cy="822325"/>
            </a:xfrm>
            <a:prstGeom prst="rect">
              <a:avLst/>
            </a:prstGeom>
            <a:ln>
              <a:noFill/>
            </a:ln>
          </p:spPr>
          <p:txBody>
            <a:bodyPr vert="horz" lIns="91440" tIns="45720" rIns="91440" bIns="45720" rtlCol="0" anchor="ctr">
              <a:noAutofit/>
            </a:bodyPr>
            <a:lstStyle>
              <a:defPPr>
                <a:defRPr lang="zh-CN"/>
              </a:defPPr>
              <a:lvl1pPr marL="0" indent="0" algn="dist" defTabSz="914400" rtl="0" eaLnBrk="1" latinLnBrk="0" hangingPunct="1">
                <a:buNone/>
                <a:defRPr sz="8000" b="1" kern="1200">
                  <a:solidFill>
                    <a:srgbClr val="002060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zh-CN" altLang="en-US" sz="4400" spc="400" dirty="0">
                  <a:solidFill>
                    <a:srgbClr val="003F88"/>
                  </a:solidFill>
                  <a:effectLst>
                    <a:outerShdw blurRad="12700" dist="38100" dir="3600000" sx="102000" sy="102000" algn="tl" rotWithShape="0">
                      <a:schemeClr val="accent5">
                        <a:lumMod val="75000"/>
                        <a:alpha val="30000"/>
                      </a:schemeClr>
                    </a:outerShdw>
                  </a:effectLst>
                </a:rPr>
                <a:t>当前成果</a:t>
              </a:r>
              <a:r>
                <a:rPr lang="en-US" altLang="zh-CN" sz="4400" spc="400" dirty="0">
                  <a:solidFill>
                    <a:srgbClr val="003F88"/>
                  </a:solidFill>
                  <a:effectLst>
                    <a:outerShdw blurRad="12700" dist="38100" dir="3600000" sx="102000" sy="102000" algn="tl" rotWithShape="0">
                      <a:schemeClr val="accent5">
                        <a:lumMod val="75000"/>
                        <a:alpha val="30000"/>
                      </a:schemeClr>
                    </a:outerShdw>
                  </a:effectLst>
                </a:rPr>
                <a:t>-</a:t>
              </a:r>
              <a:r>
                <a:rPr lang="zh-CN" altLang="en-US" sz="3600" spc="400" dirty="0">
                  <a:solidFill>
                    <a:srgbClr val="003F88"/>
                  </a:solidFill>
                  <a:effectLst>
                    <a:outerShdw blurRad="12700" dist="38100" dir="3600000" sx="102000" sy="102000" algn="tl" rotWithShape="0">
                      <a:schemeClr val="accent5">
                        <a:lumMod val="75000"/>
                        <a:alpha val="30000"/>
                      </a:schemeClr>
                    </a:outerShdw>
                  </a:effectLst>
                </a:rPr>
                <a:t>联调测试✅</a:t>
              </a:r>
              <a:endParaRPr lang="zh-CN" altLang="en-US" sz="4400" spc="400" dirty="0">
                <a:solidFill>
                  <a:srgbClr val="003F88"/>
                </a:solidFill>
                <a:effectLst>
                  <a:outerShdw blurRad="12700" dist="38100" dir="3600000" sx="102000" sy="102000" algn="tl" rotWithShape="0">
                    <a:schemeClr val="accent5">
                      <a:lumMod val="75000"/>
                      <a:alpha val="30000"/>
                    </a:schemeClr>
                  </a:outerShdw>
                </a:effectLst>
              </a:endParaRPr>
            </a:p>
          </p:txBody>
        </p:sp>
      </p:grpSp>
      <p:sp>
        <p:nvSpPr>
          <p:cNvPr id="70" name="TextBox 34">
            <a:extLst>
              <a:ext uri="{FF2B5EF4-FFF2-40B4-BE49-F238E27FC236}">
                <a16:creationId xmlns:a16="http://schemas.microsoft.com/office/drawing/2014/main" id="{B5749EBA-85BC-A311-64CF-2633F568937F}"/>
              </a:ext>
            </a:extLst>
          </p:cNvPr>
          <p:cNvSpPr txBox="1"/>
          <p:nvPr/>
        </p:nvSpPr>
        <p:spPr>
          <a:xfrm>
            <a:off x="2285892" y="1187438"/>
            <a:ext cx="8111192" cy="7820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pc="119" dirty="0">
                <a:solidFill>
                  <a:srgbClr val="303030"/>
                </a:solidFill>
                <a:latin typeface="+mn-ea"/>
              </a:rPr>
              <a:t>上电后串口输出 </a:t>
            </a:r>
            <a:r>
              <a:rPr lang="en-US" altLang="zh-CN" spc="119" dirty="0">
                <a:solidFill>
                  <a:srgbClr val="303030"/>
                </a:solidFill>
                <a:latin typeface="+mn-ea"/>
              </a:rPr>
              <a:t>I2C </a:t>
            </a:r>
            <a:r>
              <a:rPr lang="zh-CN" altLang="en-US" spc="119" dirty="0">
                <a:solidFill>
                  <a:srgbClr val="303030"/>
                </a:solidFill>
                <a:latin typeface="+mn-ea"/>
              </a:rPr>
              <a:t>扫描结果（</a:t>
            </a:r>
            <a:r>
              <a:rPr lang="en-US" altLang="zh-CN" spc="119" dirty="0">
                <a:solidFill>
                  <a:srgbClr val="303030"/>
                </a:solidFill>
                <a:latin typeface="+mn-ea"/>
              </a:rPr>
              <a:t>0x23 BH1750</a:t>
            </a:r>
            <a:r>
              <a:rPr lang="zh-CN" altLang="en-US" spc="119" dirty="0">
                <a:solidFill>
                  <a:srgbClr val="303030"/>
                </a:solidFill>
                <a:latin typeface="+mn-ea"/>
              </a:rPr>
              <a:t>、</a:t>
            </a:r>
            <a:r>
              <a:rPr lang="en-US" altLang="zh-CN" spc="119" dirty="0">
                <a:solidFill>
                  <a:srgbClr val="303030"/>
                </a:solidFill>
                <a:latin typeface="+mn-ea"/>
              </a:rPr>
              <a:t>0x3C OLED</a:t>
            </a:r>
            <a:r>
              <a:rPr lang="zh-CN" altLang="en-US" spc="119" dirty="0">
                <a:solidFill>
                  <a:srgbClr val="303030"/>
                </a:solidFill>
                <a:latin typeface="+mn-ea"/>
              </a:rPr>
              <a:t>、</a:t>
            </a:r>
            <a:r>
              <a:rPr lang="en-US" altLang="zh-CN" spc="119" dirty="0">
                <a:solidFill>
                  <a:srgbClr val="303030"/>
                </a:solidFill>
                <a:latin typeface="+mn-ea"/>
              </a:rPr>
              <a:t>0x57 </a:t>
            </a:r>
            <a:r>
              <a:rPr lang="zh-CN" altLang="en-US" spc="119" dirty="0">
                <a:solidFill>
                  <a:srgbClr val="303030"/>
                </a:solidFill>
                <a:latin typeface="+mn-ea"/>
              </a:rPr>
              <a:t>超声波）与各模块在线状态，确认 </a:t>
            </a:r>
            <a:r>
              <a:rPr lang="en-US" altLang="zh-CN" spc="119" dirty="0" err="1">
                <a:solidFill>
                  <a:srgbClr val="303030"/>
                </a:solidFill>
                <a:latin typeface="+mn-ea"/>
              </a:rPr>
              <a:t>FreeRTOS</a:t>
            </a:r>
            <a:r>
              <a:rPr lang="en-US" altLang="zh-CN" spc="119" dirty="0">
                <a:solidFill>
                  <a:srgbClr val="303030"/>
                </a:solidFill>
                <a:latin typeface="+mn-ea"/>
              </a:rPr>
              <a:t> </a:t>
            </a:r>
            <a:r>
              <a:rPr lang="zh-CN" altLang="en-US" spc="119" dirty="0">
                <a:solidFill>
                  <a:srgbClr val="303030"/>
                </a:solidFill>
                <a:latin typeface="+mn-ea"/>
              </a:rPr>
              <a:t>任务分布正确。</a:t>
            </a:r>
            <a:endParaRPr lang="en-US" spc="119" dirty="0">
              <a:solidFill>
                <a:srgbClr val="303030"/>
              </a:solidFill>
              <a:latin typeface="+mn-ea"/>
            </a:endParaRP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B01C0D99-C330-FFE3-CF28-5288D0475F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8826129"/>
              </p:ext>
            </p:extLst>
          </p:nvPr>
        </p:nvGraphicFramePr>
        <p:xfrm>
          <a:off x="2368917" y="2235200"/>
          <a:ext cx="6570241" cy="4519969"/>
        </p:xfrm>
        <a:graphic>
          <a:graphicData uri="http://schemas.openxmlformats.org/drawingml/2006/table">
            <a:tbl>
              <a:tblPr/>
              <a:tblGrid>
                <a:gridCol w="830875">
                  <a:extLst>
                    <a:ext uri="{9D8B030D-6E8A-4147-A177-3AD203B41FA5}">
                      <a16:colId xmlns:a16="http://schemas.microsoft.com/office/drawing/2014/main" val="374566653"/>
                    </a:ext>
                  </a:extLst>
                </a:gridCol>
                <a:gridCol w="2200300">
                  <a:extLst>
                    <a:ext uri="{9D8B030D-6E8A-4147-A177-3AD203B41FA5}">
                      <a16:colId xmlns:a16="http://schemas.microsoft.com/office/drawing/2014/main" val="3436624581"/>
                    </a:ext>
                  </a:extLst>
                </a:gridCol>
                <a:gridCol w="3539066">
                  <a:extLst>
                    <a:ext uri="{9D8B030D-6E8A-4147-A177-3AD203B41FA5}">
                      <a16:colId xmlns:a16="http://schemas.microsoft.com/office/drawing/2014/main" val="3616191802"/>
                    </a:ext>
                  </a:extLst>
                </a:gridCol>
              </a:tblGrid>
              <a:tr h="43374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b="1" dirty="0">
                          <a:solidFill>
                            <a:srgbClr val="002060"/>
                          </a:solidFill>
                        </a:rPr>
                        <a:t>序号</a:t>
                      </a:r>
                      <a:endParaRPr lang="zh-CN" sz="2000" b="1" dirty="0">
                        <a:solidFill>
                          <a:srgbClr val="002060"/>
                        </a:solidFill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571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b="1" dirty="0">
                          <a:solidFill>
                            <a:srgbClr val="002060"/>
                          </a:solidFill>
                        </a:rPr>
                        <a:t>操作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571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b="1" dirty="0">
                          <a:solidFill>
                            <a:srgbClr val="002060"/>
                          </a:solidFill>
                        </a:rPr>
                        <a:t>预期</a:t>
                      </a:r>
                    </a:p>
                  </a:txBody>
                  <a:tcPr anchor="ctr">
                    <a:lnL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5241545"/>
                  </a:ext>
                </a:extLst>
              </a:tr>
              <a:tr h="43800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dirty="0"/>
                        <a:t>1</a:t>
                      </a: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571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dirty="0"/>
                        <a:t>障碍物 &gt; 120 cm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571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/>
                        <a:t>NORMAL</a:t>
                      </a:r>
                    </a:p>
                  </a:txBody>
                  <a:tcPr anchor="ctr">
                    <a:lnL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2870031"/>
                  </a:ext>
                </a:extLst>
              </a:tr>
              <a:tr h="43800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dirty="0"/>
                        <a:t>2</a:t>
                      </a: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dirty="0"/>
                        <a:t>障碍物 80/40/20 cm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dirty="0"/>
                        <a:t>CAUTION/WARNING/DANGER</a:t>
                      </a:r>
                    </a:p>
                  </a:txBody>
                  <a:tcPr anchor="ctr">
                    <a:lnL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3452292"/>
                  </a:ext>
                </a:extLst>
              </a:tr>
              <a:tr h="43800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dirty="0"/>
                        <a:t>3</a:t>
                      </a: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dirty="0"/>
                        <a:t>逐渐移远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/>
                        <a:t>+5 cm 回差后降级</a:t>
                      </a:r>
                    </a:p>
                  </a:txBody>
                  <a:tcPr anchor="ctr">
                    <a:lnL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1185402"/>
                  </a:ext>
                </a:extLst>
              </a:tr>
              <a:tr h="43800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dirty="0"/>
                        <a:t>4</a:t>
                      </a: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dirty="0"/>
                        <a:t>遮住 BH 1750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dirty="0"/>
                        <a:t>低照度自动点灯</a:t>
                      </a:r>
                    </a:p>
                  </a:txBody>
                  <a:tcPr anchor="ctr">
                    <a:lnL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52418"/>
                  </a:ext>
                </a:extLst>
              </a:tr>
              <a:tr h="43800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dirty="0"/>
                        <a:t>5</a:t>
                      </a: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/>
                        <a:t>切换照明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/>
                        <a:t>ON/OFF/AUTO 生效</a:t>
                      </a:r>
                    </a:p>
                  </a:txBody>
                  <a:tcPr anchor="ctr">
                    <a:lnL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2937687"/>
                  </a:ext>
                </a:extLst>
              </a:tr>
              <a:tr h="43800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dirty="0"/>
                        <a:t>6</a:t>
                      </a: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/>
                        <a:t>按 SOS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dirty="0"/>
                        <a:t>锁存 + 蜂鸣 + 图传加快</a:t>
                      </a:r>
                    </a:p>
                  </a:txBody>
                  <a:tcPr anchor="ctr">
                    <a:lnL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3430092"/>
                  </a:ext>
                </a:extLst>
              </a:tr>
              <a:tr h="43800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dirty="0"/>
                        <a:t>7</a:t>
                      </a: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/>
                        <a:t>CANCEL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dirty="0"/>
                        <a:t>解除锁存</a:t>
                      </a:r>
                    </a:p>
                  </a:txBody>
                  <a:tcPr anchor="ctr">
                    <a:lnL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9602148"/>
                  </a:ext>
                </a:extLst>
              </a:tr>
              <a:tr h="43800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dirty="0"/>
                        <a:t>8</a:t>
                      </a: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/>
                        <a:t>同时开视频流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dirty="0"/>
                        <a:t>传感器不阻塞</a:t>
                      </a:r>
                    </a:p>
                  </a:txBody>
                  <a:tcPr anchor="ctr">
                    <a:lnL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0750587"/>
                  </a:ext>
                </a:extLst>
              </a:tr>
              <a:tr h="43800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dirty="0"/>
                        <a:t>9</a:t>
                      </a: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/>
                        <a:t>室外静止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dirty="0"/>
                        <a:t>GPS 定位成功</a:t>
                      </a:r>
                    </a:p>
                  </a:txBody>
                  <a:tcPr anchor="ctr">
                    <a:lnL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920220"/>
                  </a:ext>
                </a:extLst>
              </a:tr>
            </a:tbl>
          </a:graphicData>
        </a:graphic>
      </p:graphicFrame>
      <p:sp>
        <p:nvSpPr>
          <p:cNvPr id="10" name="文本框 9">
            <a:extLst>
              <a:ext uri="{FF2B5EF4-FFF2-40B4-BE49-F238E27FC236}">
                <a16:creationId xmlns:a16="http://schemas.microsoft.com/office/drawing/2014/main" id="{3E711525-5366-E3EE-990D-8E5623A6A24A}"/>
              </a:ext>
            </a:extLst>
          </p:cNvPr>
          <p:cNvSpPr txBox="1"/>
          <p:nvPr/>
        </p:nvSpPr>
        <p:spPr>
          <a:xfrm>
            <a:off x="9431867" y="3170622"/>
            <a:ext cx="2424870" cy="17049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为验证稳定性，连续运行 ≥ </a:t>
            </a:r>
            <a:r>
              <a:rPr lang="en-US" altLang="zh-CN" dirty="0"/>
              <a:t>30 </a:t>
            </a:r>
            <a:r>
              <a:rPr lang="zh-CN" altLang="en-US" dirty="0"/>
              <a:t>分钟，每 </a:t>
            </a:r>
            <a:r>
              <a:rPr lang="en-US" altLang="zh-CN" dirty="0"/>
              <a:t>10 </a:t>
            </a:r>
            <a:r>
              <a:rPr lang="zh-CN" altLang="en-US" dirty="0"/>
              <a:t>分钟记录距离</a:t>
            </a:r>
            <a:r>
              <a:rPr lang="en-US" altLang="zh-CN" dirty="0"/>
              <a:t>/IMU/</a:t>
            </a:r>
            <a:r>
              <a:rPr lang="zh-CN" altLang="en-US" dirty="0"/>
              <a:t>堆</a:t>
            </a:r>
            <a:r>
              <a:rPr lang="en-US" altLang="zh-CN" dirty="0"/>
              <a:t>/Wi-Fi/</a:t>
            </a:r>
            <a:r>
              <a:rPr lang="zh-CN" altLang="en-US" dirty="0"/>
              <a:t>重启状态。</a:t>
            </a:r>
          </a:p>
        </p:txBody>
      </p:sp>
    </p:spTree>
    <p:extLst>
      <p:ext uri="{BB962C8B-B14F-4D97-AF65-F5344CB8AC3E}">
        <p14:creationId xmlns:p14="http://schemas.microsoft.com/office/powerpoint/2010/main" val="40192135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10292898" y="-1710168"/>
            <a:ext cx="3313865" cy="3313865"/>
            <a:chOff x="0" y="0"/>
            <a:chExt cx="1708150" cy="1708150"/>
          </a:xfrm>
          <a:solidFill>
            <a:schemeClr val="accent5">
              <a:lumMod val="20000"/>
              <a:lumOff val="80000"/>
            </a:schemeClr>
          </a:solidFill>
        </p:grpSpPr>
        <p:sp>
          <p:nvSpPr>
            <p:cNvPr id="5" name="Freeform 5"/>
            <p:cNvSpPr/>
            <p:nvPr/>
          </p:nvSpPr>
          <p:spPr>
            <a:xfrm>
              <a:off x="0" y="0"/>
              <a:ext cx="1708150" cy="1708150"/>
            </a:xfrm>
            <a:custGeom>
              <a:avLst/>
              <a:gdLst/>
              <a:ahLst/>
              <a:cxnLst/>
              <a:rect l="l" t="t" r="r" b="b"/>
              <a:pathLst>
                <a:path w="1708150" h="1708150">
                  <a:moveTo>
                    <a:pt x="853440" y="1708150"/>
                  </a:moveTo>
                  <a:cubicBezTo>
                    <a:pt x="383540" y="1708150"/>
                    <a:pt x="0" y="1324610"/>
                    <a:pt x="0" y="853440"/>
                  </a:cubicBezTo>
                  <a:cubicBezTo>
                    <a:pt x="0" y="383540"/>
                    <a:pt x="383540" y="0"/>
                    <a:pt x="853440" y="0"/>
                  </a:cubicBezTo>
                  <a:cubicBezTo>
                    <a:pt x="1324610" y="0"/>
                    <a:pt x="1706880" y="383540"/>
                    <a:pt x="1706880" y="853440"/>
                  </a:cubicBezTo>
                  <a:cubicBezTo>
                    <a:pt x="1708150" y="1324610"/>
                    <a:pt x="1324610" y="1708150"/>
                    <a:pt x="853440" y="1708150"/>
                  </a:cubicBezTo>
                  <a:close/>
                  <a:moveTo>
                    <a:pt x="853440" y="469900"/>
                  </a:moveTo>
                  <a:cubicBezTo>
                    <a:pt x="642620" y="469900"/>
                    <a:pt x="469900" y="642620"/>
                    <a:pt x="469900" y="853440"/>
                  </a:cubicBezTo>
                  <a:cubicBezTo>
                    <a:pt x="469900" y="1064260"/>
                    <a:pt x="642620" y="1236980"/>
                    <a:pt x="853440" y="1236980"/>
                  </a:cubicBezTo>
                  <a:cubicBezTo>
                    <a:pt x="1064260" y="1236980"/>
                    <a:pt x="1236980" y="1064260"/>
                    <a:pt x="1236980" y="853440"/>
                  </a:cubicBezTo>
                  <a:cubicBezTo>
                    <a:pt x="1236980" y="642620"/>
                    <a:pt x="1065530" y="469900"/>
                    <a:pt x="853440" y="469900"/>
                  </a:cubicBezTo>
                  <a:close/>
                </a:path>
              </a:pathLst>
            </a:custGeom>
            <a:grpFill/>
          </p:spPr>
        </p:sp>
      </p:grp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-793950" y="5835767"/>
            <a:ext cx="2232801" cy="2232801"/>
            <a:chOff x="0" y="0"/>
            <a:chExt cx="1708150" cy="1708150"/>
          </a:xfrm>
          <a:solidFill>
            <a:schemeClr val="accent5">
              <a:lumMod val="20000"/>
              <a:lumOff val="80000"/>
            </a:schemeClr>
          </a:solidFill>
        </p:grpSpPr>
        <p:sp>
          <p:nvSpPr>
            <p:cNvPr id="7" name="Freeform 7"/>
            <p:cNvSpPr/>
            <p:nvPr/>
          </p:nvSpPr>
          <p:spPr>
            <a:xfrm>
              <a:off x="0" y="0"/>
              <a:ext cx="1708150" cy="1708150"/>
            </a:xfrm>
            <a:custGeom>
              <a:avLst/>
              <a:gdLst/>
              <a:ahLst/>
              <a:cxnLst/>
              <a:rect l="l" t="t" r="r" b="b"/>
              <a:pathLst>
                <a:path w="1708150" h="1708150">
                  <a:moveTo>
                    <a:pt x="853440" y="1708150"/>
                  </a:moveTo>
                  <a:cubicBezTo>
                    <a:pt x="383540" y="1708150"/>
                    <a:pt x="0" y="1324610"/>
                    <a:pt x="0" y="853440"/>
                  </a:cubicBezTo>
                  <a:cubicBezTo>
                    <a:pt x="0" y="383540"/>
                    <a:pt x="383540" y="0"/>
                    <a:pt x="853440" y="0"/>
                  </a:cubicBezTo>
                  <a:cubicBezTo>
                    <a:pt x="1324610" y="0"/>
                    <a:pt x="1706880" y="383540"/>
                    <a:pt x="1706880" y="853440"/>
                  </a:cubicBezTo>
                  <a:cubicBezTo>
                    <a:pt x="1708150" y="1324610"/>
                    <a:pt x="1324610" y="1708150"/>
                    <a:pt x="853440" y="1708150"/>
                  </a:cubicBezTo>
                  <a:close/>
                  <a:moveTo>
                    <a:pt x="853440" y="469900"/>
                  </a:moveTo>
                  <a:cubicBezTo>
                    <a:pt x="642620" y="469900"/>
                    <a:pt x="469900" y="642620"/>
                    <a:pt x="469900" y="853440"/>
                  </a:cubicBezTo>
                  <a:cubicBezTo>
                    <a:pt x="469900" y="1064260"/>
                    <a:pt x="642620" y="1236980"/>
                    <a:pt x="853440" y="1236980"/>
                  </a:cubicBezTo>
                  <a:cubicBezTo>
                    <a:pt x="1064260" y="1236980"/>
                    <a:pt x="1236980" y="1064260"/>
                    <a:pt x="1236980" y="853440"/>
                  </a:cubicBezTo>
                  <a:cubicBezTo>
                    <a:pt x="1236980" y="642620"/>
                    <a:pt x="1065530" y="469900"/>
                    <a:pt x="853440" y="469900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zh-CN" altLang="en-US" dirty="0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248820" y="5498494"/>
            <a:ext cx="956496" cy="1112521"/>
            <a:chOff x="0" y="0"/>
            <a:chExt cx="1912991" cy="2225042"/>
          </a:xfrm>
          <a:solidFill>
            <a:srgbClr val="003F88"/>
          </a:solidFill>
        </p:grpSpPr>
        <p:pic>
          <p:nvPicPr>
            <p:cNvPr id="14" name="Picture 14"/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p:blipFill>
          <p:spPr>
            <a:xfrm>
              <a:off x="0" y="1214754"/>
              <a:ext cx="867585" cy="1010288"/>
            </a:xfrm>
            <a:prstGeom prst="rect">
              <a:avLst/>
            </a:prstGeom>
          </p:spPr>
        </p:pic>
        <p:pic>
          <p:nvPicPr>
            <p:cNvPr id="15" name="Picture 15"/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p:blipFill>
          <p:spPr>
            <a:xfrm>
              <a:off x="0" y="0"/>
              <a:ext cx="867585" cy="1010288"/>
            </a:xfrm>
            <a:prstGeom prst="rect">
              <a:avLst/>
            </a:prstGeom>
          </p:spPr>
        </p:pic>
        <p:pic>
          <p:nvPicPr>
            <p:cNvPr id="16" name="Picture 16"/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p:blipFill>
          <p:spPr>
            <a:xfrm>
              <a:off x="1045407" y="1214754"/>
              <a:ext cx="867585" cy="1010288"/>
            </a:xfrm>
            <a:prstGeom prst="rect">
              <a:avLst/>
            </a:prstGeom>
          </p:spPr>
        </p:pic>
        <p:pic>
          <p:nvPicPr>
            <p:cNvPr id="17" name="Picture 17"/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p:blipFill>
          <p:spPr>
            <a:xfrm>
              <a:off x="1045407" y="0"/>
              <a:ext cx="867585" cy="1010288"/>
            </a:xfrm>
            <a:prstGeom prst="rect">
              <a:avLst/>
            </a:prstGeom>
          </p:spPr>
        </p:pic>
      </p:grpSp>
      <p:cxnSp>
        <p:nvCxnSpPr>
          <p:cNvPr id="80" name="直接连接符 79">
            <a:extLst>
              <a:ext uri="{FF2B5EF4-FFF2-40B4-BE49-F238E27FC236}">
                <a16:creationId xmlns:a16="http://schemas.microsoft.com/office/drawing/2014/main" id="{B7E81DD1-C622-41B6-A5EA-5252D855A4BC}"/>
              </a:ext>
            </a:extLst>
          </p:cNvPr>
          <p:cNvCxnSpPr>
            <a:cxnSpLocks/>
          </p:cNvCxnSpPr>
          <p:nvPr/>
        </p:nvCxnSpPr>
        <p:spPr>
          <a:xfrm>
            <a:off x="12192000" y="6858000"/>
            <a:ext cx="848002" cy="0"/>
          </a:xfrm>
          <a:prstGeom prst="line">
            <a:avLst/>
          </a:prstGeom>
          <a:ln w="12700">
            <a:prstDash val="sysDot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grpSp>
        <p:nvGrpSpPr>
          <p:cNvPr id="271" name="Group 6">
            <a:extLst>
              <a:ext uri="{FF2B5EF4-FFF2-40B4-BE49-F238E27FC236}">
                <a16:creationId xmlns:a16="http://schemas.microsoft.com/office/drawing/2014/main" id="{CBB32024-B315-47C2-A01F-88CDB6490C01}"/>
              </a:ext>
            </a:extLst>
          </p:cNvPr>
          <p:cNvGrpSpPr/>
          <p:nvPr/>
        </p:nvGrpSpPr>
        <p:grpSpPr>
          <a:xfrm>
            <a:off x="10712776" y="557548"/>
            <a:ext cx="1135547" cy="1320779"/>
            <a:chOff x="0" y="0"/>
            <a:chExt cx="2271094" cy="2641558"/>
          </a:xfrm>
          <a:solidFill>
            <a:srgbClr val="003F88"/>
          </a:solidFill>
        </p:grpSpPr>
        <p:pic>
          <p:nvPicPr>
            <p:cNvPr id="272" name="Picture 7">
              <a:extLst>
                <a:ext uri="{FF2B5EF4-FFF2-40B4-BE49-F238E27FC236}">
                  <a16:creationId xmlns:a16="http://schemas.microsoft.com/office/drawing/2014/main" id="{ECFFDD14-8475-4BB2-8B22-C22FD649822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p:blipFill>
          <p:spPr>
            <a:xfrm>
              <a:off x="0" y="1442150"/>
              <a:ext cx="1029992" cy="1199409"/>
            </a:xfrm>
            <a:prstGeom prst="rect">
              <a:avLst/>
            </a:prstGeom>
          </p:spPr>
        </p:pic>
        <p:pic>
          <p:nvPicPr>
            <p:cNvPr id="273" name="Picture 8">
              <a:extLst>
                <a:ext uri="{FF2B5EF4-FFF2-40B4-BE49-F238E27FC236}">
                  <a16:creationId xmlns:a16="http://schemas.microsoft.com/office/drawing/2014/main" id="{3F3429E3-EB51-4D8E-8138-BED78C17806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p:blipFill>
          <p:spPr>
            <a:xfrm>
              <a:off x="0" y="0"/>
              <a:ext cx="1029992" cy="1199409"/>
            </a:xfrm>
            <a:prstGeom prst="rect">
              <a:avLst/>
            </a:prstGeom>
          </p:spPr>
        </p:pic>
        <p:pic>
          <p:nvPicPr>
            <p:cNvPr id="274" name="Picture 9">
              <a:extLst>
                <a:ext uri="{FF2B5EF4-FFF2-40B4-BE49-F238E27FC236}">
                  <a16:creationId xmlns:a16="http://schemas.microsoft.com/office/drawing/2014/main" id="{6999F386-0B8B-4E10-947E-0BF1D150E44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p:blipFill>
          <p:spPr>
            <a:xfrm>
              <a:off x="1241102" y="1442150"/>
              <a:ext cx="1029992" cy="1199409"/>
            </a:xfrm>
            <a:prstGeom prst="rect">
              <a:avLst/>
            </a:prstGeom>
          </p:spPr>
        </p:pic>
        <p:pic>
          <p:nvPicPr>
            <p:cNvPr id="275" name="Picture 10">
              <a:extLst>
                <a:ext uri="{FF2B5EF4-FFF2-40B4-BE49-F238E27FC236}">
                  <a16:creationId xmlns:a16="http://schemas.microsoft.com/office/drawing/2014/main" id="{B2FF94CA-FF90-4263-8954-34B95DBDA15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p:blipFill>
          <p:spPr>
            <a:xfrm>
              <a:off x="1241102" y="0"/>
              <a:ext cx="1029992" cy="1199409"/>
            </a:xfrm>
            <a:prstGeom prst="rect">
              <a:avLst/>
            </a:prstGeom>
          </p:spPr>
        </p:pic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F7DA5A1E-7F5B-2197-43F0-ABAEDF76471F}"/>
              </a:ext>
            </a:extLst>
          </p:cNvPr>
          <p:cNvGrpSpPr/>
          <p:nvPr/>
        </p:nvGrpSpPr>
        <p:grpSpPr>
          <a:xfrm>
            <a:off x="-1781628" y="1878328"/>
            <a:ext cx="13731458" cy="3429907"/>
            <a:chOff x="-1704707" y="2076017"/>
            <a:chExt cx="13731458" cy="3429907"/>
          </a:xfrm>
        </p:grpSpPr>
        <p:sp>
          <p:nvSpPr>
            <p:cNvPr id="69" name="TextBox 30">
              <a:extLst>
                <a:ext uri="{FF2B5EF4-FFF2-40B4-BE49-F238E27FC236}">
                  <a16:creationId xmlns:a16="http://schemas.microsoft.com/office/drawing/2014/main" id="{D419DEB8-5938-495F-A04A-DF46A5B81737}"/>
                </a:ext>
              </a:extLst>
            </p:cNvPr>
            <p:cNvSpPr txBox="1"/>
            <p:nvPr/>
          </p:nvSpPr>
          <p:spPr>
            <a:xfrm>
              <a:off x="-879185" y="2177335"/>
              <a:ext cx="2848095" cy="3669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770"/>
                </a:lnSpc>
              </a:pPr>
              <a:r>
                <a:rPr lang="zh-CN" altLang="en-US" sz="3200" b="1" dirty="0">
                  <a:ln w="6600">
                    <a:solidFill>
                      <a:srgbClr val="003F88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dist="38100" dir="2700000" algn="tl" rotWithShape="0">
                      <a:schemeClr val="accent5"/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数据采集</a:t>
              </a:r>
              <a:endParaRPr lang="en-US" sz="3200" b="1" dirty="0">
                <a:ln w="6600">
                  <a:solidFill>
                    <a:srgbClr val="003F88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5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5" name="TextBox 32">
              <a:extLst>
                <a:ext uri="{FF2B5EF4-FFF2-40B4-BE49-F238E27FC236}">
                  <a16:creationId xmlns:a16="http://schemas.microsoft.com/office/drawing/2014/main" id="{7119C0AA-49B8-4CB2-B551-47F52316F489}"/>
                </a:ext>
              </a:extLst>
            </p:cNvPr>
            <p:cNvSpPr txBox="1"/>
            <p:nvPr/>
          </p:nvSpPr>
          <p:spPr>
            <a:xfrm>
              <a:off x="-1704707" y="3896393"/>
              <a:ext cx="3644616" cy="36696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r">
                <a:lnSpc>
                  <a:spcPts val="2770"/>
                </a:lnSpc>
              </a:pPr>
              <a:r>
                <a:rPr lang="zh-CN" altLang="en-US" sz="3200" b="1" dirty="0">
                  <a:ln w="6600">
                    <a:solidFill>
                      <a:srgbClr val="003F88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dist="38100" dir="2700000" algn="tl" rotWithShape="0">
                      <a:schemeClr val="accent5"/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阈值标定</a:t>
              </a:r>
              <a:endParaRPr lang="en-US" sz="3200" b="1" dirty="0">
                <a:ln w="6600">
                  <a:solidFill>
                    <a:srgbClr val="003F88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5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28" name="组合 27">
              <a:extLst>
                <a:ext uri="{FF2B5EF4-FFF2-40B4-BE49-F238E27FC236}">
                  <a16:creationId xmlns:a16="http://schemas.microsoft.com/office/drawing/2014/main" id="{C08954BE-7BAC-A94E-1026-E53D9E853659}"/>
                </a:ext>
              </a:extLst>
            </p:cNvPr>
            <p:cNvGrpSpPr/>
            <p:nvPr/>
          </p:nvGrpSpPr>
          <p:grpSpPr>
            <a:xfrm>
              <a:off x="322450" y="2076017"/>
              <a:ext cx="11704301" cy="3429907"/>
              <a:chOff x="292071" y="2160110"/>
              <a:chExt cx="11704301" cy="3429907"/>
            </a:xfrm>
          </p:grpSpPr>
          <p:grpSp>
            <p:nvGrpSpPr>
              <p:cNvPr id="18" name="组合 17">
                <a:extLst>
                  <a:ext uri="{FF2B5EF4-FFF2-40B4-BE49-F238E27FC236}">
                    <a16:creationId xmlns:a16="http://schemas.microsoft.com/office/drawing/2014/main" id="{E5A6FFA1-ED40-447D-57F2-C8834100F781}"/>
                  </a:ext>
                </a:extLst>
              </p:cNvPr>
              <p:cNvGrpSpPr/>
              <p:nvPr/>
            </p:nvGrpSpPr>
            <p:grpSpPr>
              <a:xfrm>
                <a:off x="4999424" y="2360815"/>
                <a:ext cx="2652953" cy="2648144"/>
                <a:chOff x="4769308" y="2358964"/>
                <a:chExt cx="2652953" cy="2648144"/>
              </a:xfrm>
            </p:grpSpPr>
            <p:grpSp>
              <p:nvGrpSpPr>
                <p:cNvPr id="22" name="组合 21">
                  <a:extLst>
                    <a:ext uri="{FF2B5EF4-FFF2-40B4-BE49-F238E27FC236}">
                      <a16:creationId xmlns:a16="http://schemas.microsoft.com/office/drawing/2014/main" id="{83699B2B-92C8-44E9-AFBF-1A0A18361B05}"/>
                    </a:ext>
                  </a:extLst>
                </p:cNvPr>
                <p:cNvGrpSpPr/>
                <p:nvPr/>
              </p:nvGrpSpPr>
              <p:grpSpPr>
                <a:xfrm>
                  <a:off x="4769308" y="2358964"/>
                  <a:ext cx="1360849" cy="1734494"/>
                  <a:chOff x="4769308" y="2358964"/>
                  <a:chExt cx="1360849" cy="1734494"/>
                </a:xfrm>
                <a:solidFill>
                  <a:schemeClr val="accent5">
                    <a:lumMod val="20000"/>
                    <a:lumOff val="80000"/>
                  </a:schemeClr>
                </a:solidFill>
              </p:grpSpPr>
              <p:sp>
                <p:nvSpPr>
                  <p:cNvPr id="73" name="Freeform 21">
                    <a:extLst>
                      <a:ext uri="{FF2B5EF4-FFF2-40B4-BE49-F238E27FC236}">
                        <a16:creationId xmlns:a16="http://schemas.microsoft.com/office/drawing/2014/main" id="{8AC0B9E9-A58D-4A64-A94D-A3D7FC3C6CF7}"/>
                      </a:ext>
                    </a:extLst>
                  </p:cNvPr>
                  <p:cNvSpPr/>
                  <p:nvPr/>
                </p:nvSpPr>
                <p:spPr>
                  <a:xfrm>
                    <a:off x="4773283" y="2359497"/>
                    <a:ext cx="1356874" cy="17339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230880" h="4128770">
                        <a:moveTo>
                          <a:pt x="1436370" y="3336290"/>
                        </a:moveTo>
                        <a:cubicBezTo>
                          <a:pt x="1436370" y="3590290"/>
                          <a:pt x="1130300" y="4128770"/>
                          <a:pt x="1668780" y="4128770"/>
                        </a:cubicBezTo>
                        <a:cubicBezTo>
                          <a:pt x="2185670" y="4128770"/>
                          <a:pt x="1879600" y="3663950"/>
                          <a:pt x="1879600" y="3379470"/>
                        </a:cubicBezTo>
                        <a:cubicBezTo>
                          <a:pt x="1869440" y="2988310"/>
                          <a:pt x="2291080" y="3093720"/>
                          <a:pt x="2291080" y="3093720"/>
                        </a:cubicBezTo>
                        <a:cubicBezTo>
                          <a:pt x="2291080" y="3093720"/>
                          <a:pt x="2710180" y="3124200"/>
                          <a:pt x="3153410" y="3154680"/>
                        </a:cubicBezTo>
                        <a:cubicBezTo>
                          <a:pt x="3181350" y="2733040"/>
                          <a:pt x="3209290" y="2288540"/>
                          <a:pt x="3209290" y="2153920"/>
                        </a:cubicBezTo>
                        <a:cubicBezTo>
                          <a:pt x="3209290" y="1879600"/>
                          <a:pt x="3209290" y="1657350"/>
                          <a:pt x="3018790" y="1657350"/>
                        </a:cubicBezTo>
                        <a:cubicBezTo>
                          <a:pt x="2733040" y="1657350"/>
                          <a:pt x="2174240" y="2048510"/>
                          <a:pt x="2174240" y="1393190"/>
                        </a:cubicBezTo>
                        <a:cubicBezTo>
                          <a:pt x="2174240" y="781050"/>
                          <a:pt x="2786380" y="1150620"/>
                          <a:pt x="3008630" y="1160780"/>
                        </a:cubicBezTo>
                        <a:cubicBezTo>
                          <a:pt x="3230880" y="1170940"/>
                          <a:pt x="3199130" y="970280"/>
                          <a:pt x="3177540" y="516890"/>
                        </a:cubicBezTo>
                        <a:cubicBezTo>
                          <a:pt x="3169920" y="351790"/>
                          <a:pt x="3163570" y="167640"/>
                          <a:pt x="3158490" y="0"/>
                        </a:cubicBezTo>
                        <a:lnTo>
                          <a:pt x="0" y="0"/>
                        </a:lnTo>
                        <a:lnTo>
                          <a:pt x="0" y="3204210"/>
                        </a:lnTo>
                        <a:cubicBezTo>
                          <a:pt x="275590" y="3182620"/>
                          <a:pt x="582930" y="3130549"/>
                          <a:pt x="887730" y="3105149"/>
                        </a:cubicBezTo>
                        <a:cubicBezTo>
                          <a:pt x="1299210" y="3103879"/>
                          <a:pt x="1436370" y="3082289"/>
                          <a:pt x="1436370" y="3336289"/>
                        </a:cubicBezTo>
                        <a:close/>
                      </a:path>
                    </a:pathLst>
                  </a:custGeom>
                  <a:grpFill/>
                  <a:ln w="12700">
                    <a:noFill/>
                  </a:ln>
                </p:spPr>
              </p:sp>
              <p:pic>
                <p:nvPicPr>
                  <p:cNvPr id="74" name="Picture 28">
                    <a:extLst>
                      <a:ext uri="{FF2B5EF4-FFF2-40B4-BE49-F238E27FC236}">
                        <a16:creationId xmlns:a16="http://schemas.microsoft.com/office/drawing/2014/main" id="{C625CC3B-E617-46AB-8B56-65A37833AE2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rcRect r="50194" b="49898"/>
                  <a:stretch>
                    <a:fillRect/>
                  </a:stretch>
                </p:blipFill>
                <p:spPr>
                  <a:xfrm rot="10800000">
                    <a:off x="4769308" y="2358964"/>
                    <a:ext cx="214965" cy="216245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75" name="TextBox 38">
                  <a:extLst>
                    <a:ext uri="{FF2B5EF4-FFF2-40B4-BE49-F238E27FC236}">
                      <a16:creationId xmlns:a16="http://schemas.microsoft.com/office/drawing/2014/main" id="{09BD3C4F-4D56-4860-B3C2-F1E4F53CB51B}"/>
                    </a:ext>
                  </a:extLst>
                </p:cNvPr>
                <p:cNvSpPr txBox="1"/>
                <p:nvPr/>
              </p:nvSpPr>
              <p:spPr>
                <a:xfrm>
                  <a:off x="4985357" y="2677471"/>
                  <a:ext cx="789657" cy="742767"/>
                </a:xfrm>
                <a:prstGeom prst="rect">
                  <a:avLst/>
                </a:prstGeom>
              </p:spPr>
              <p:txBody>
                <a:bodyPr wrap="square" lIns="0" tIns="0" rIns="0" bIns="0" rtlCol="0" anchor="t">
                  <a:spAutoFit/>
                </a:bodyPr>
                <a:lstStyle/>
                <a:p>
                  <a:pPr algn="ctr">
                    <a:lnSpc>
                      <a:spcPts val="5507"/>
                    </a:lnSpc>
                    <a:spcBef>
                      <a:spcPct val="0"/>
                    </a:spcBef>
                  </a:pPr>
                  <a:r>
                    <a:rPr lang="en-US" sz="7200" b="1" dirty="0">
                      <a:ln w="10160">
                        <a:noFill/>
                        <a:prstDash val="solid"/>
                      </a:ln>
                      <a:solidFill>
                        <a:srgbClr val="FFFFFF"/>
                      </a:solidFill>
                      <a:effectLst>
                        <a:outerShdw blurRad="38100" dist="22860" dir="5400000" algn="tl" rotWithShape="0">
                          <a:srgbClr val="000000">
                            <a:alpha val="30000"/>
                          </a:srgbClr>
                        </a:outerShdw>
                      </a:effectLst>
                      <a:latin typeface="Georgia" panose="02040502050405020303" pitchFamily="18" charset="0"/>
                      <a:ea typeface="黑体" panose="02010609060101010101" pitchFamily="49" charset="-122"/>
                    </a:rPr>
                    <a:t>1</a:t>
                  </a:r>
                </a:p>
              </p:txBody>
            </p:sp>
            <p:grpSp>
              <p:nvGrpSpPr>
                <p:cNvPr id="24" name="组合 23">
                  <a:extLst>
                    <a:ext uri="{FF2B5EF4-FFF2-40B4-BE49-F238E27FC236}">
                      <a16:creationId xmlns:a16="http://schemas.microsoft.com/office/drawing/2014/main" id="{7157D6D7-B56E-453C-B7F7-F616588F257A}"/>
                    </a:ext>
                  </a:extLst>
                </p:cNvPr>
                <p:cNvGrpSpPr/>
                <p:nvPr/>
              </p:nvGrpSpPr>
              <p:grpSpPr>
                <a:xfrm>
                  <a:off x="5686933" y="2358964"/>
                  <a:ext cx="1735328" cy="1357941"/>
                  <a:chOff x="5686933" y="2358964"/>
                  <a:chExt cx="1735328" cy="1357941"/>
                </a:xfrm>
              </p:grpSpPr>
              <p:sp>
                <p:nvSpPr>
                  <p:cNvPr id="82" name="Freeform 22">
                    <a:extLst>
                      <a:ext uri="{FF2B5EF4-FFF2-40B4-BE49-F238E27FC236}">
                        <a16:creationId xmlns:a16="http://schemas.microsoft.com/office/drawing/2014/main" id="{78860A51-221A-4691-90F9-4CDFCA754311}"/>
                      </a:ext>
                    </a:extLst>
                  </p:cNvPr>
                  <p:cNvSpPr/>
                  <p:nvPr/>
                </p:nvSpPr>
                <p:spPr>
                  <a:xfrm>
                    <a:off x="5686933" y="2358964"/>
                    <a:ext cx="1733961" cy="135794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28770" h="3233420">
                        <a:moveTo>
                          <a:pt x="834390" y="1162050"/>
                        </a:moveTo>
                        <a:cubicBezTo>
                          <a:pt x="612140" y="1151890"/>
                          <a:pt x="0" y="782320"/>
                          <a:pt x="0" y="1394460"/>
                        </a:cubicBezTo>
                        <a:cubicBezTo>
                          <a:pt x="0" y="2049780"/>
                          <a:pt x="560070" y="1658620"/>
                          <a:pt x="844550" y="1658620"/>
                        </a:cubicBezTo>
                        <a:cubicBezTo>
                          <a:pt x="1035050" y="1658620"/>
                          <a:pt x="1035050" y="1880870"/>
                          <a:pt x="1035050" y="2155190"/>
                        </a:cubicBezTo>
                        <a:cubicBezTo>
                          <a:pt x="1035050" y="2288540"/>
                          <a:pt x="1007110" y="2734310"/>
                          <a:pt x="979170" y="3155950"/>
                        </a:cubicBezTo>
                        <a:cubicBezTo>
                          <a:pt x="1399540" y="3183890"/>
                          <a:pt x="1841500" y="3211830"/>
                          <a:pt x="1974850" y="3211830"/>
                        </a:cubicBezTo>
                        <a:cubicBezTo>
                          <a:pt x="2249170" y="3211830"/>
                          <a:pt x="2471420" y="3211830"/>
                          <a:pt x="2471420" y="3021330"/>
                        </a:cubicBezTo>
                        <a:cubicBezTo>
                          <a:pt x="2471420" y="2735580"/>
                          <a:pt x="2080260" y="2176780"/>
                          <a:pt x="2735580" y="2176780"/>
                        </a:cubicBezTo>
                        <a:cubicBezTo>
                          <a:pt x="3347720" y="2176780"/>
                          <a:pt x="2978150" y="2788920"/>
                          <a:pt x="2967990" y="3011170"/>
                        </a:cubicBezTo>
                        <a:cubicBezTo>
                          <a:pt x="2957830" y="3233420"/>
                          <a:pt x="3158490" y="3201670"/>
                          <a:pt x="3611880" y="3180080"/>
                        </a:cubicBezTo>
                        <a:cubicBezTo>
                          <a:pt x="3776980" y="3172460"/>
                          <a:pt x="3961130" y="3166110"/>
                          <a:pt x="4128770" y="3161030"/>
                        </a:cubicBezTo>
                        <a:lnTo>
                          <a:pt x="4128770" y="0"/>
                        </a:lnTo>
                        <a:lnTo>
                          <a:pt x="984250" y="0"/>
                        </a:lnTo>
                        <a:cubicBezTo>
                          <a:pt x="989330" y="167640"/>
                          <a:pt x="995680" y="353060"/>
                          <a:pt x="1003300" y="516890"/>
                        </a:cubicBezTo>
                        <a:cubicBezTo>
                          <a:pt x="1024890" y="971550"/>
                          <a:pt x="1056640" y="1172210"/>
                          <a:pt x="834390" y="1162050"/>
                        </a:cubicBezTo>
                        <a:close/>
                      </a:path>
                    </a:pathLst>
                  </a:custGeom>
                  <a:solidFill>
                    <a:schemeClr val="accent5">
                      <a:lumMod val="40000"/>
                      <a:lumOff val="60000"/>
                    </a:schemeClr>
                  </a:solidFill>
                  <a:ln w="12700">
                    <a:noFill/>
                  </a:ln>
                </p:spPr>
              </p:sp>
              <p:pic>
                <p:nvPicPr>
                  <p:cNvPr id="83" name="Picture 29">
                    <a:extLst>
                      <a:ext uri="{FF2B5EF4-FFF2-40B4-BE49-F238E27FC236}">
                        <a16:creationId xmlns:a16="http://schemas.microsoft.com/office/drawing/2014/main" id="{4E8EDA45-28DD-49EF-9641-CEE1EB69130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rcRect r="50194" b="49898"/>
                  <a:stretch>
                    <a:fillRect/>
                  </a:stretch>
                </p:blipFill>
                <p:spPr>
                  <a:xfrm rot="10800000" flipH="1">
                    <a:off x="7207296" y="2358964"/>
                    <a:ext cx="214965" cy="216245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84" name="TextBox 39">
                  <a:extLst>
                    <a:ext uri="{FF2B5EF4-FFF2-40B4-BE49-F238E27FC236}">
                      <a16:creationId xmlns:a16="http://schemas.microsoft.com/office/drawing/2014/main" id="{02A5561C-910A-4514-BC20-77062DF457FE}"/>
                    </a:ext>
                  </a:extLst>
                </p:cNvPr>
                <p:cNvSpPr txBox="1"/>
                <p:nvPr/>
              </p:nvSpPr>
              <p:spPr>
                <a:xfrm>
                  <a:off x="6355716" y="2677471"/>
                  <a:ext cx="917525" cy="742767"/>
                </a:xfrm>
                <a:prstGeom prst="rect">
                  <a:avLst/>
                </a:prstGeom>
                <a:ln>
                  <a:noFill/>
                </a:ln>
              </p:spPr>
              <p:txBody>
                <a:bodyPr wrap="square" lIns="0" tIns="0" rIns="0" bIns="0" rtlCol="0" anchor="t">
                  <a:spAutoFit/>
                </a:bodyPr>
                <a:lstStyle/>
                <a:p>
                  <a:pPr algn="ctr">
                    <a:lnSpc>
                      <a:spcPts val="5507"/>
                    </a:lnSpc>
                    <a:spcBef>
                      <a:spcPct val="0"/>
                    </a:spcBef>
                  </a:pPr>
                  <a:r>
                    <a:rPr lang="en-US" sz="7200" b="1" dirty="0">
                      <a:ln w="10160">
                        <a:noFill/>
                        <a:prstDash val="solid"/>
                      </a:ln>
                      <a:solidFill>
                        <a:srgbClr val="FFFFFF"/>
                      </a:solidFill>
                      <a:effectLst>
                        <a:outerShdw blurRad="38100" dist="22860" dir="5400000" algn="tl" rotWithShape="0">
                          <a:srgbClr val="000000">
                            <a:alpha val="30000"/>
                          </a:srgbClr>
                        </a:outerShdw>
                      </a:effectLst>
                      <a:latin typeface="Georgia" panose="02040502050405020303" pitchFamily="18" charset="0"/>
                      <a:ea typeface="黑体" panose="02010609060101010101" pitchFamily="49" charset="-122"/>
                    </a:rPr>
                    <a:t>2</a:t>
                  </a:r>
                </a:p>
              </p:txBody>
            </p:sp>
            <p:sp>
              <p:nvSpPr>
                <p:cNvPr id="86" name="Freeform 20">
                  <a:extLst>
                    <a:ext uri="{FF2B5EF4-FFF2-40B4-BE49-F238E27FC236}">
                      <a16:creationId xmlns:a16="http://schemas.microsoft.com/office/drawing/2014/main" id="{E7BAB721-5593-4ACE-9867-12E586BF2F9F}"/>
                    </a:ext>
                  </a:extLst>
                </p:cNvPr>
                <p:cNvSpPr/>
                <p:nvPr/>
              </p:nvSpPr>
              <p:spPr>
                <a:xfrm>
                  <a:off x="6028818" y="3272614"/>
                  <a:ext cx="1392609" cy="17339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15970" h="4128770">
                      <a:moveTo>
                        <a:pt x="3315970" y="984250"/>
                      </a:moveTo>
                      <a:cubicBezTo>
                        <a:pt x="3148330" y="989330"/>
                        <a:pt x="2962910" y="995680"/>
                        <a:pt x="2799080" y="1003300"/>
                      </a:cubicBezTo>
                      <a:cubicBezTo>
                        <a:pt x="2344420" y="1024890"/>
                        <a:pt x="2143760" y="1056640"/>
                        <a:pt x="2153920" y="834390"/>
                      </a:cubicBezTo>
                      <a:cubicBezTo>
                        <a:pt x="2164080" y="612140"/>
                        <a:pt x="2533650" y="0"/>
                        <a:pt x="1921510" y="0"/>
                      </a:cubicBezTo>
                      <a:cubicBezTo>
                        <a:pt x="1266190" y="0"/>
                        <a:pt x="1657350" y="560070"/>
                        <a:pt x="1657350" y="844550"/>
                      </a:cubicBezTo>
                      <a:cubicBezTo>
                        <a:pt x="1657350" y="1035050"/>
                        <a:pt x="1435100" y="1035050"/>
                        <a:pt x="1160780" y="1035050"/>
                      </a:cubicBezTo>
                      <a:cubicBezTo>
                        <a:pt x="1027430" y="1035050"/>
                        <a:pt x="584200" y="1007110"/>
                        <a:pt x="165100" y="979170"/>
                      </a:cubicBezTo>
                      <a:cubicBezTo>
                        <a:pt x="135890" y="1421130"/>
                        <a:pt x="105410" y="1837690"/>
                        <a:pt x="105410" y="1837690"/>
                      </a:cubicBezTo>
                      <a:cubicBezTo>
                        <a:pt x="105410" y="1837690"/>
                        <a:pt x="0" y="2260600"/>
                        <a:pt x="391160" y="2249170"/>
                      </a:cubicBezTo>
                      <a:cubicBezTo>
                        <a:pt x="676910" y="2249170"/>
                        <a:pt x="1140460" y="1943100"/>
                        <a:pt x="1140460" y="2459990"/>
                      </a:cubicBezTo>
                      <a:cubicBezTo>
                        <a:pt x="1140460" y="2998470"/>
                        <a:pt x="601980" y="2692400"/>
                        <a:pt x="347980" y="2692400"/>
                      </a:cubicBezTo>
                      <a:cubicBezTo>
                        <a:pt x="93980" y="2692400"/>
                        <a:pt x="115570" y="2829560"/>
                        <a:pt x="115570" y="3241040"/>
                      </a:cubicBezTo>
                      <a:cubicBezTo>
                        <a:pt x="139700" y="3545840"/>
                        <a:pt x="191770" y="3853180"/>
                        <a:pt x="214630" y="4128770"/>
                      </a:cubicBezTo>
                      <a:lnTo>
                        <a:pt x="3315970" y="4128770"/>
                      </a:lnTo>
                      <a:lnTo>
                        <a:pt x="3315970" y="984250"/>
                      </a:lnTo>
                      <a:close/>
                    </a:path>
                  </a:pathLst>
                </a:custGeom>
                <a:solidFill>
                  <a:schemeClr val="accent5">
                    <a:lumMod val="20000"/>
                    <a:lumOff val="80000"/>
                  </a:schemeClr>
                </a:solidFill>
                <a:ln w="12700">
                  <a:noFill/>
                </a:ln>
              </p:spPr>
            </p:sp>
            <p:pic>
              <p:nvPicPr>
                <p:cNvPr id="87" name="Picture 25">
                  <a:extLst>
                    <a:ext uri="{FF2B5EF4-FFF2-40B4-BE49-F238E27FC236}">
                      <a16:creationId xmlns:a16="http://schemas.microsoft.com/office/drawing/2014/main" id="{07F4B961-EB34-4724-95A2-9867D3355CC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rcRect r="50194" b="49898"/>
                <a:stretch>
                  <a:fillRect/>
                </a:stretch>
              </p:blipFill>
              <p:spPr>
                <a:xfrm>
                  <a:off x="7205566" y="4790351"/>
                  <a:ext cx="214965" cy="216245"/>
                </a:xfrm>
                <a:prstGeom prst="rect">
                  <a:avLst/>
                </a:prstGeom>
              </p:spPr>
            </p:pic>
            <p:sp>
              <p:nvSpPr>
                <p:cNvPr id="90" name="TextBox 41">
                  <a:extLst>
                    <a:ext uri="{FF2B5EF4-FFF2-40B4-BE49-F238E27FC236}">
                      <a16:creationId xmlns:a16="http://schemas.microsoft.com/office/drawing/2014/main" id="{E0E0614B-90F9-424C-B029-1003A1EC2F11}"/>
                    </a:ext>
                  </a:extLst>
                </p:cNvPr>
                <p:cNvSpPr txBox="1"/>
                <p:nvPr/>
              </p:nvSpPr>
              <p:spPr>
                <a:xfrm>
                  <a:off x="6323873" y="4089836"/>
                  <a:ext cx="981211" cy="752450"/>
                </a:xfrm>
                <a:prstGeom prst="rect">
                  <a:avLst/>
                </a:prstGeom>
              </p:spPr>
              <p:txBody>
                <a:bodyPr wrap="square" lIns="0" tIns="0" rIns="0" bIns="0" rtlCol="0" anchor="t">
                  <a:spAutoFit/>
                </a:bodyPr>
                <a:lstStyle/>
                <a:p>
                  <a:pPr algn="ctr">
                    <a:lnSpc>
                      <a:spcPts val="5507"/>
                    </a:lnSpc>
                    <a:spcBef>
                      <a:spcPct val="0"/>
                    </a:spcBef>
                  </a:pPr>
                  <a:r>
                    <a:rPr lang="en-US" sz="6600" b="1" dirty="0">
                      <a:ln w="10160">
                        <a:noFill/>
                        <a:prstDash val="solid"/>
                      </a:ln>
                      <a:solidFill>
                        <a:srgbClr val="FFFFFF"/>
                      </a:solidFill>
                      <a:effectLst>
                        <a:outerShdw blurRad="38100" dist="22860" dir="5400000" algn="tl" rotWithShape="0">
                          <a:srgbClr val="000000">
                            <a:alpha val="30000"/>
                          </a:srgbClr>
                        </a:outerShdw>
                      </a:effectLst>
                      <a:latin typeface="Georgia" panose="02040502050405020303" pitchFamily="18" charset="0"/>
                      <a:ea typeface="黑体" panose="02010609060101010101" pitchFamily="49" charset="-122"/>
                    </a:rPr>
                    <a:t>4</a:t>
                  </a:r>
                </a:p>
              </p:txBody>
            </p:sp>
            <p:sp>
              <p:nvSpPr>
                <p:cNvPr id="93" name="Freeform 23">
                  <a:extLst>
                    <a:ext uri="{FF2B5EF4-FFF2-40B4-BE49-F238E27FC236}">
                      <a16:creationId xmlns:a16="http://schemas.microsoft.com/office/drawing/2014/main" id="{66C15AB8-ED6E-4328-8ACD-83DECE65307A}"/>
                    </a:ext>
                  </a:extLst>
                </p:cNvPr>
                <p:cNvSpPr/>
                <p:nvPr/>
              </p:nvSpPr>
              <p:spPr>
                <a:xfrm>
                  <a:off x="4773816" y="3614499"/>
                  <a:ext cx="1733961" cy="13926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28770" h="3315970">
                      <a:moveTo>
                        <a:pt x="3336290" y="1879600"/>
                      </a:moveTo>
                      <a:cubicBezTo>
                        <a:pt x="3590290" y="1879600"/>
                        <a:pt x="4128770" y="2185670"/>
                        <a:pt x="4128770" y="1647190"/>
                      </a:cubicBezTo>
                      <a:cubicBezTo>
                        <a:pt x="4128770" y="1130300"/>
                        <a:pt x="3663950" y="1436370"/>
                        <a:pt x="3379470" y="1436370"/>
                      </a:cubicBezTo>
                      <a:cubicBezTo>
                        <a:pt x="2988310" y="1446530"/>
                        <a:pt x="3093720" y="1024890"/>
                        <a:pt x="3093720" y="1024890"/>
                      </a:cubicBezTo>
                      <a:cubicBezTo>
                        <a:pt x="3093720" y="1024890"/>
                        <a:pt x="3124200" y="609600"/>
                        <a:pt x="3153410" y="166370"/>
                      </a:cubicBezTo>
                      <a:cubicBezTo>
                        <a:pt x="2708910" y="135890"/>
                        <a:pt x="2291080" y="105410"/>
                        <a:pt x="2291080" y="105410"/>
                      </a:cubicBezTo>
                      <a:cubicBezTo>
                        <a:pt x="2291080" y="105410"/>
                        <a:pt x="1868170" y="0"/>
                        <a:pt x="1879600" y="391160"/>
                      </a:cubicBezTo>
                      <a:cubicBezTo>
                        <a:pt x="1879600" y="676910"/>
                        <a:pt x="2185670" y="1140460"/>
                        <a:pt x="1668780" y="1140460"/>
                      </a:cubicBezTo>
                      <a:cubicBezTo>
                        <a:pt x="1130300" y="1140460"/>
                        <a:pt x="1436370" y="601980"/>
                        <a:pt x="1436370" y="347980"/>
                      </a:cubicBezTo>
                      <a:cubicBezTo>
                        <a:pt x="1436370" y="93980"/>
                        <a:pt x="1299210" y="115570"/>
                        <a:pt x="887730" y="115570"/>
                      </a:cubicBezTo>
                      <a:cubicBezTo>
                        <a:pt x="582930" y="139700"/>
                        <a:pt x="275590" y="191770"/>
                        <a:pt x="0" y="214630"/>
                      </a:cubicBezTo>
                      <a:lnTo>
                        <a:pt x="0" y="3315970"/>
                      </a:lnTo>
                      <a:lnTo>
                        <a:pt x="3204210" y="3315970"/>
                      </a:lnTo>
                      <a:cubicBezTo>
                        <a:pt x="3182620" y="3040380"/>
                        <a:pt x="3130549" y="2733040"/>
                        <a:pt x="3105149" y="2428240"/>
                      </a:cubicBezTo>
                      <a:cubicBezTo>
                        <a:pt x="3103879" y="2016760"/>
                        <a:pt x="3082289" y="1879600"/>
                        <a:pt x="3336289" y="1879600"/>
                      </a:cubicBezTo>
                      <a:close/>
                    </a:path>
                  </a:pathLst>
                </a:custGeom>
                <a:solidFill>
                  <a:schemeClr val="accent5">
                    <a:lumMod val="40000"/>
                    <a:lumOff val="60000"/>
                  </a:schemeClr>
                </a:solidFill>
                <a:ln w="12700">
                  <a:noFill/>
                </a:ln>
              </p:spPr>
            </p:sp>
            <p:pic>
              <p:nvPicPr>
                <p:cNvPr id="94" name="Picture 26">
                  <a:extLst>
                    <a:ext uri="{FF2B5EF4-FFF2-40B4-BE49-F238E27FC236}">
                      <a16:creationId xmlns:a16="http://schemas.microsoft.com/office/drawing/2014/main" id="{0E179253-31C8-4EE0-BDED-60DC48E6D8A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rcRect r="50194" b="49898"/>
                <a:stretch>
                  <a:fillRect/>
                </a:stretch>
              </p:blipFill>
              <p:spPr>
                <a:xfrm flipH="1">
                  <a:off x="4770879" y="4790351"/>
                  <a:ext cx="214965" cy="216245"/>
                </a:xfrm>
                <a:prstGeom prst="rect">
                  <a:avLst/>
                </a:prstGeom>
              </p:spPr>
            </p:pic>
            <p:sp>
              <p:nvSpPr>
                <p:cNvPr id="96" name="TextBox 40">
                  <a:extLst>
                    <a:ext uri="{FF2B5EF4-FFF2-40B4-BE49-F238E27FC236}">
                      <a16:creationId xmlns:a16="http://schemas.microsoft.com/office/drawing/2014/main" id="{C5B7B5A1-13A0-47AF-AC0D-EE3F0CF90F09}"/>
                    </a:ext>
                  </a:extLst>
                </p:cNvPr>
                <p:cNvSpPr txBox="1"/>
                <p:nvPr/>
              </p:nvSpPr>
              <p:spPr>
                <a:xfrm>
                  <a:off x="4985357" y="4089836"/>
                  <a:ext cx="910890" cy="752450"/>
                </a:xfrm>
                <a:prstGeom prst="rect">
                  <a:avLst/>
                </a:prstGeom>
              </p:spPr>
              <p:txBody>
                <a:bodyPr wrap="square" lIns="0" tIns="0" rIns="0" bIns="0" rtlCol="0" anchor="t">
                  <a:spAutoFit/>
                </a:bodyPr>
                <a:lstStyle/>
                <a:p>
                  <a:pPr algn="ctr">
                    <a:lnSpc>
                      <a:spcPts val="5507"/>
                    </a:lnSpc>
                    <a:spcBef>
                      <a:spcPct val="0"/>
                    </a:spcBef>
                  </a:pPr>
                  <a:r>
                    <a:rPr lang="en-US" sz="6600" b="1" dirty="0">
                      <a:ln w="10160">
                        <a:noFill/>
                        <a:prstDash val="solid"/>
                      </a:ln>
                      <a:solidFill>
                        <a:srgbClr val="FFFFFF"/>
                      </a:solidFill>
                      <a:effectLst>
                        <a:outerShdw blurRad="38100" dist="22860" dir="5400000" algn="tl" rotWithShape="0">
                          <a:srgbClr val="000000">
                            <a:alpha val="30000"/>
                          </a:srgbClr>
                        </a:outerShdw>
                      </a:effectLst>
                      <a:latin typeface="Georgia" panose="02040502050405020303" pitchFamily="18" charset="0"/>
                      <a:ea typeface="黑体" panose="02010609060101010101" pitchFamily="49" charset="-122"/>
                    </a:rPr>
                    <a:t>3</a:t>
                  </a:r>
                </a:p>
              </p:txBody>
            </p:sp>
          </p:grpSp>
          <p:sp>
            <p:nvSpPr>
              <p:cNvPr id="70" name="TextBox 34">
                <a:extLst>
                  <a:ext uri="{FF2B5EF4-FFF2-40B4-BE49-F238E27FC236}">
                    <a16:creationId xmlns:a16="http://schemas.microsoft.com/office/drawing/2014/main" id="{969A18DA-0E20-4BB6-AAA9-FA209D111A2B}"/>
                  </a:ext>
                </a:extLst>
              </p:cNvPr>
              <p:cNvSpPr txBox="1"/>
              <p:nvPr/>
            </p:nvSpPr>
            <p:spPr>
              <a:xfrm>
                <a:off x="304444" y="2697889"/>
                <a:ext cx="4329583" cy="782074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pc="119" dirty="0">
                    <a:solidFill>
                      <a:srgbClr val="303030"/>
                    </a:solidFill>
                    <a:latin typeface="+mn-ea"/>
                  </a:rPr>
                  <a:t>建立正常行走、停走、放下拐杖、靠墙、碰撞、模拟跌倒等场景的 </a:t>
                </a:r>
                <a:r>
                  <a:rPr lang="en-US" altLang="zh-CN" spc="119" dirty="0">
                    <a:solidFill>
                      <a:srgbClr val="303030"/>
                    </a:solidFill>
                    <a:latin typeface="+mn-ea"/>
                  </a:rPr>
                  <a:t>IMU </a:t>
                </a:r>
                <a:r>
                  <a:rPr lang="zh-CN" altLang="en-US" spc="119" dirty="0">
                    <a:solidFill>
                      <a:srgbClr val="303030"/>
                    </a:solidFill>
                    <a:latin typeface="+mn-ea"/>
                  </a:rPr>
                  <a:t>数据集</a:t>
                </a:r>
                <a:endParaRPr lang="en-US" spc="119" dirty="0">
                  <a:solidFill>
                    <a:srgbClr val="303030"/>
                  </a:solidFill>
                  <a:latin typeface="+mn-ea"/>
                </a:endParaRPr>
              </a:p>
            </p:txBody>
          </p:sp>
          <p:sp>
            <p:nvSpPr>
              <p:cNvPr id="25" name="TextBox 34">
                <a:extLst>
                  <a:ext uri="{FF2B5EF4-FFF2-40B4-BE49-F238E27FC236}">
                    <a16:creationId xmlns:a16="http://schemas.microsoft.com/office/drawing/2014/main" id="{39E2A435-D43A-9078-4D50-51A3C2BE9641}"/>
                  </a:ext>
                </a:extLst>
              </p:cNvPr>
              <p:cNvSpPr txBox="1"/>
              <p:nvPr/>
            </p:nvSpPr>
            <p:spPr>
              <a:xfrm>
                <a:off x="292071" y="4392445"/>
                <a:ext cx="4665277" cy="1197572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pc="119" dirty="0">
                    <a:solidFill>
                      <a:srgbClr val="303030"/>
                    </a:solidFill>
                    <a:latin typeface="+mn-ea"/>
                  </a:rPr>
                  <a:t>基于实测数据校准当前估算阈值</a:t>
                </a:r>
                <a:endParaRPr lang="en-US" altLang="zh-CN" spc="119" dirty="0">
                  <a:solidFill>
                    <a:srgbClr val="303030"/>
                  </a:solidFill>
                  <a:latin typeface="+mn-ea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pc="119" dirty="0">
                    <a:solidFill>
                      <a:srgbClr val="303030"/>
                    </a:solidFill>
                    <a:latin typeface="+mn-ea"/>
                  </a:rPr>
                  <a:t>（自由落体 ≤ </a:t>
                </a:r>
                <a:r>
                  <a:rPr lang="en-US" altLang="zh-CN" spc="119" dirty="0">
                    <a:solidFill>
                      <a:srgbClr val="303030"/>
                    </a:solidFill>
                    <a:latin typeface="+mn-ea"/>
                  </a:rPr>
                  <a:t>0.55 g</a:t>
                </a:r>
                <a:r>
                  <a:rPr lang="zh-CN" altLang="en-US" spc="119" dirty="0">
                    <a:solidFill>
                      <a:srgbClr val="303030"/>
                    </a:solidFill>
                    <a:latin typeface="+mn-ea"/>
                  </a:rPr>
                  <a:t>、冲击 ≥ </a:t>
                </a:r>
                <a:r>
                  <a:rPr lang="en-US" altLang="zh-CN" spc="119" dirty="0">
                    <a:solidFill>
                      <a:srgbClr val="303030"/>
                    </a:solidFill>
                    <a:latin typeface="+mn-ea"/>
                  </a:rPr>
                  <a:t>2.20 g</a:t>
                </a:r>
                <a:r>
                  <a:rPr lang="zh-CN" altLang="en-US" spc="119" dirty="0">
                    <a:solidFill>
                      <a:srgbClr val="303030"/>
                    </a:solidFill>
                    <a:latin typeface="+mn-ea"/>
                  </a:rPr>
                  <a:t>、倾角 ≥ </a:t>
                </a:r>
                <a:r>
                  <a:rPr lang="en-US" altLang="zh-CN" spc="119" dirty="0">
                    <a:solidFill>
                      <a:srgbClr val="303030"/>
                    </a:solidFill>
                    <a:latin typeface="+mn-ea"/>
                  </a:rPr>
                  <a:t>55°</a:t>
                </a:r>
                <a:r>
                  <a:rPr lang="zh-CN" altLang="en-US" spc="119" dirty="0">
                    <a:solidFill>
                      <a:srgbClr val="303030"/>
                    </a:solidFill>
                    <a:latin typeface="+mn-ea"/>
                  </a:rPr>
                  <a:t>）</a:t>
                </a:r>
                <a:endParaRPr lang="en-US" spc="119" dirty="0">
                  <a:solidFill>
                    <a:srgbClr val="303030"/>
                  </a:solidFill>
                  <a:latin typeface="+mn-ea"/>
                </a:endParaRPr>
              </a:p>
            </p:txBody>
          </p:sp>
          <p:grpSp>
            <p:nvGrpSpPr>
              <p:cNvPr id="27" name="组合 26">
                <a:extLst>
                  <a:ext uri="{FF2B5EF4-FFF2-40B4-BE49-F238E27FC236}">
                    <a16:creationId xmlns:a16="http://schemas.microsoft.com/office/drawing/2014/main" id="{F22CFCC8-5F3A-9B87-CF64-F0741E0639E4}"/>
                  </a:ext>
                </a:extLst>
              </p:cNvPr>
              <p:cNvGrpSpPr/>
              <p:nvPr/>
            </p:nvGrpSpPr>
            <p:grpSpPr>
              <a:xfrm>
                <a:off x="7688134" y="2160110"/>
                <a:ext cx="4308238" cy="2927998"/>
                <a:chOff x="7550751" y="2302005"/>
                <a:chExt cx="4308238" cy="2927998"/>
              </a:xfrm>
            </p:grpSpPr>
            <p:sp>
              <p:nvSpPr>
                <p:cNvPr id="77" name="TextBox 33">
                  <a:extLst>
                    <a:ext uri="{FF2B5EF4-FFF2-40B4-BE49-F238E27FC236}">
                      <a16:creationId xmlns:a16="http://schemas.microsoft.com/office/drawing/2014/main" id="{505689F1-01D8-43A6-8209-9337D2EAC2BA}"/>
                    </a:ext>
                  </a:extLst>
                </p:cNvPr>
                <p:cNvSpPr txBox="1"/>
                <p:nvPr/>
              </p:nvSpPr>
              <p:spPr>
                <a:xfrm>
                  <a:off x="7951862" y="2302005"/>
                  <a:ext cx="3599923" cy="366960"/>
                </a:xfrm>
                <a:prstGeom prst="rect">
                  <a:avLst/>
                </a:prstGeom>
              </p:spPr>
              <p:txBody>
                <a:bodyPr wrap="square" lIns="0" tIns="0" rIns="0" bIns="0" rtlCol="0" anchor="t">
                  <a:spAutoFit/>
                </a:bodyPr>
                <a:lstStyle/>
                <a:p>
                  <a:pPr algn="r">
                    <a:lnSpc>
                      <a:spcPts val="2770"/>
                    </a:lnSpc>
                  </a:pPr>
                  <a:r>
                    <a:rPr lang="zh-CN" altLang="en-US" sz="3200" b="1" dirty="0">
                      <a:ln w="6600">
                        <a:solidFill>
                          <a:srgbClr val="003F88"/>
                        </a:solidFill>
                        <a:prstDash val="solid"/>
                      </a:ln>
                      <a:solidFill>
                        <a:srgbClr val="FFFFFF"/>
                      </a:solidFill>
                      <a:effectLst>
                        <a:outerShdw dist="38100" dir="2700000" algn="tl" rotWithShape="0">
                          <a:schemeClr val="accent5"/>
                        </a:outerShdw>
                      </a:effectLst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误报抑制</a:t>
                  </a:r>
                  <a:endParaRPr lang="en-US" sz="3200" b="1" dirty="0">
                    <a:ln w="6600">
                      <a:solidFill>
                        <a:srgbClr val="003F88"/>
                      </a:solidFill>
                      <a:prstDash val="solid"/>
                    </a:ln>
                    <a:solidFill>
                      <a:srgbClr val="FFFFFF"/>
                    </a:solidFill>
                    <a:effectLst>
                      <a:outerShdw dist="38100" dir="2700000" algn="tl" rotWithShape="0">
                        <a:schemeClr val="accent5"/>
                      </a:outerShdw>
                    </a:effectLst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79" name="TextBox 35">
                  <a:extLst>
                    <a:ext uri="{FF2B5EF4-FFF2-40B4-BE49-F238E27FC236}">
                      <a16:creationId xmlns:a16="http://schemas.microsoft.com/office/drawing/2014/main" id="{33FD62F9-0D3A-4A1B-9C46-F208980F40A8}"/>
                    </a:ext>
                  </a:extLst>
                </p:cNvPr>
                <p:cNvSpPr txBox="1"/>
                <p:nvPr/>
              </p:nvSpPr>
              <p:spPr>
                <a:xfrm>
                  <a:off x="7734212" y="2784067"/>
                  <a:ext cx="4124777" cy="782074"/>
                </a:xfrm>
                <a:prstGeom prst="rect">
                  <a:avLst/>
                </a:prstGeom>
              </p:spPr>
              <p:txBody>
                <a:bodyPr wrap="square" lIns="0" tIns="0" rIns="0" bIns="0" rtlCol="0" anchor="t">
                  <a:spAutoFit/>
                </a:bodyPr>
                <a:lstStyle/>
                <a:p>
                  <a:pPr>
                    <a:lnSpc>
                      <a:spcPct val="150000"/>
                    </a:lnSpc>
                  </a:pPr>
                  <a:r>
                    <a:rPr lang="zh-CN" altLang="en-US" spc="119" dirty="0">
                      <a:solidFill>
                        <a:srgbClr val="303030"/>
                      </a:solidFill>
                      <a:latin typeface="+mn-ea"/>
                    </a:rPr>
                    <a:t>通过多场景数据训练，区分</a:t>
                  </a:r>
                  <a:r>
                    <a:rPr lang="en-US" altLang="zh-CN" spc="119" dirty="0">
                      <a:solidFill>
                        <a:srgbClr val="303030"/>
                      </a:solidFill>
                      <a:latin typeface="+mn-ea"/>
                    </a:rPr>
                    <a:t>"</a:t>
                  </a:r>
                  <a:r>
                    <a:rPr lang="zh-CN" altLang="en-US" spc="119" dirty="0">
                      <a:solidFill>
                        <a:srgbClr val="303030"/>
                      </a:solidFill>
                      <a:latin typeface="+mn-ea"/>
                    </a:rPr>
                    <a:t>人跌倒</a:t>
                  </a:r>
                  <a:r>
                    <a:rPr lang="en-US" altLang="zh-CN" spc="119" dirty="0">
                      <a:solidFill>
                        <a:srgbClr val="303030"/>
                      </a:solidFill>
                      <a:latin typeface="+mn-ea"/>
                    </a:rPr>
                    <a:t>"</a:t>
                  </a:r>
                  <a:r>
                    <a:rPr lang="zh-CN" altLang="en-US" spc="119" dirty="0">
                      <a:solidFill>
                        <a:srgbClr val="303030"/>
                      </a:solidFill>
                      <a:latin typeface="+mn-ea"/>
                    </a:rPr>
                    <a:t>与</a:t>
                  </a:r>
                  <a:r>
                    <a:rPr lang="en-US" altLang="zh-CN" spc="119" dirty="0">
                      <a:solidFill>
                        <a:srgbClr val="303030"/>
                      </a:solidFill>
                      <a:latin typeface="+mn-ea"/>
                    </a:rPr>
                    <a:t>"</a:t>
                  </a:r>
                  <a:r>
                    <a:rPr lang="zh-CN" altLang="en-US" spc="119" dirty="0">
                      <a:solidFill>
                        <a:srgbClr val="303030"/>
                      </a:solidFill>
                      <a:latin typeface="+mn-ea"/>
                    </a:rPr>
                    <a:t>拐杖靠墙</a:t>
                  </a:r>
                  <a:r>
                    <a:rPr lang="en-US" altLang="zh-CN" spc="119" dirty="0">
                      <a:solidFill>
                        <a:srgbClr val="303030"/>
                      </a:solidFill>
                      <a:latin typeface="+mn-ea"/>
                    </a:rPr>
                    <a:t>/</a:t>
                  </a:r>
                  <a:r>
                    <a:rPr lang="zh-CN" altLang="en-US" spc="119" dirty="0">
                      <a:solidFill>
                        <a:srgbClr val="303030"/>
                      </a:solidFill>
                      <a:latin typeface="+mn-ea"/>
                    </a:rPr>
                    <a:t>放下</a:t>
                  </a:r>
                  <a:r>
                    <a:rPr lang="en-US" altLang="zh-CN" spc="119" dirty="0">
                      <a:solidFill>
                        <a:srgbClr val="303030"/>
                      </a:solidFill>
                      <a:latin typeface="+mn-ea"/>
                    </a:rPr>
                    <a:t>"</a:t>
                  </a:r>
                  <a:r>
                    <a:rPr lang="zh-CN" altLang="en-US" spc="119" dirty="0">
                      <a:solidFill>
                        <a:srgbClr val="303030"/>
                      </a:solidFill>
                      <a:latin typeface="+mn-ea"/>
                    </a:rPr>
                    <a:t>等日常行为</a:t>
                  </a:r>
                  <a:endParaRPr lang="en-US" spc="119" dirty="0">
                    <a:solidFill>
                      <a:srgbClr val="303030"/>
                    </a:solidFill>
                    <a:latin typeface="+mn-ea"/>
                  </a:endParaRPr>
                </a:p>
              </p:txBody>
            </p:sp>
            <p:sp>
              <p:nvSpPr>
                <p:cNvPr id="88" name="TextBox 31">
                  <a:extLst>
                    <a:ext uri="{FF2B5EF4-FFF2-40B4-BE49-F238E27FC236}">
                      <a16:creationId xmlns:a16="http://schemas.microsoft.com/office/drawing/2014/main" id="{13FB29D1-9999-49FC-95C0-FC7D25E57CBA}"/>
                    </a:ext>
                  </a:extLst>
                </p:cNvPr>
                <p:cNvSpPr txBox="1"/>
                <p:nvPr/>
              </p:nvSpPr>
              <p:spPr>
                <a:xfrm>
                  <a:off x="7550751" y="4025485"/>
                  <a:ext cx="4036841" cy="366960"/>
                </a:xfrm>
                <a:prstGeom prst="rect">
                  <a:avLst/>
                </a:prstGeom>
              </p:spPr>
              <p:txBody>
                <a:bodyPr wrap="square" lIns="0" tIns="0" rIns="0" bIns="0" rtlCol="0" anchor="t">
                  <a:spAutoFit/>
                </a:bodyPr>
                <a:lstStyle/>
                <a:p>
                  <a:pPr algn="r">
                    <a:lnSpc>
                      <a:spcPts val="2770"/>
                    </a:lnSpc>
                  </a:pPr>
                  <a:r>
                    <a:rPr lang="zh-CN" altLang="en-US" sz="3200" b="1" dirty="0">
                      <a:ln w="6600">
                        <a:solidFill>
                          <a:srgbClr val="003F88"/>
                        </a:solidFill>
                        <a:prstDash val="solid"/>
                      </a:ln>
                      <a:solidFill>
                        <a:srgbClr val="FFFFFF"/>
                      </a:solidFill>
                      <a:effectLst>
                        <a:outerShdw dist="38100" dir="2700000" algn="tl" rotWithShape="0">
                          <a:schemeClr val="accent5"/>
                        </a:outerShdw>
                      </a:effectLst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召回验证</a:t>
                  </a:r>
                  <a:endParaRPr lang="en-US" sz="3200" b="1" dirty="0">
                    <a:ln w="6600">
                      <a:solidFill>
                        <a:srgbClr val="003F88"/>
                      </a:solidFill>
                      <a:prstDash val="solid"/>
                    </a:ln>
                    <a:solidFill>
                      <a:srgbClr val="FFFFFF"/>
                    </a:solidFill>
                    <a:effectLst>
                      <a:outerShdw dist="38100" dir="2700000" algn="tl" rotWithShape="0">
                        <a:schemeClr val="accent5"/>
                      </a:outerShdw>
                    </a:effectLst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6" name="TextBox 35">
                  <a:extLst>
                    <a:ext uri="{FF2B5EF4-FFF2-40B4-BE49-F238E27FC236}">
                      <a16:creationId xmlns:a16="http://schemas.microsoft.com/office/drawing/2014/main" id="{229504C9-C541-167C-6327-9BCAED8E859E}"/>
                    </a:ext>
                  </a:extLst>
                </p:cNvPr>
                <p:cNvSpPr txBox="1"/>
                <p:nvPr/>
              </p:nvSpPr>
              <p:spPr>
                <a:xfrm>
                  <a:off x="7793582" y="4447929"/>
                  <a:ext cx="4006038" cy="782074"/>
                </a:xfrm>
                <a:prstGeom prst="rect">
                  <a:avLst/>
                </a:prstGeom>
              </p:spPr>
              <p:txBody>
                <a:bodyPr wrap="square" lIns="0" tIns="0" rIns="0" bIns="0" rtlCol="0" anchor="t">
                  <a:spAutoFit/>
                </a:bodyPr>
                <a:lstStyle/>
                <a:p>
                  <a:pPr>
                    <a:lnSpc>
                      <a:spcPct val="150000"/>
                    </a:lnSpc>
                  </a:pPr>
                  <a:r>
                    <a:rPr lang="zh-CN" altLang="en-US" spc="119" dirty="0">
                      <a:solidFill>
                        <a:srgbClr val="303030"/>
                      </a:solidFill>
                      <a:latin typeface="+mn-ea"/>
                    </a:rPr>
                    <a:t>验证不同姿态、不同速度跌倒场景下的检测召回率</a:t>
                  </a:r>
                  <a:endParaRPr lang="en-US" spc="119" dirty="0">
                    <a:solidFill>
                      <a:srgbClr val="303030"/>
                    </a:solidFill>
                    <a:latin typeface="+mn-ea"/>
                  </a:endParaRPr>
                </a:p>
              </p:txBody>
            </p:sp>
          </p:grpSp>
        </p:grp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D5B6ED79-E268-EFA2-F056-949428D7B68F}"/>
              </a:ext>
            </a:extLst>
          </p:cNvPr>
          <p:cNvGrpSpPr/>
          <p:nvPr/>
        </p:nvGrpSpPr>
        <p:grpSpPr>
          <a:xfrm>
            <a:off x="246351" y="205622"/>
            <a:ext cx="9071070" cy="841145"/>
            <a:chOff x="3757353" y="2472892"/>
            <a:chExt cx="9071070" cy="841145"/>
          </a:xfrm>
        </p:grpSpPr>
        <p:sp>
          <p:nvSpPr>
            <p:cNvPr id="3" name="椭圆 2">
              <a:extLst>
                <a:ext uri="{FF2B5EF4-FFF2-40B4-BE49-F238E27FC236}">
                  <a16:creationId xmlns:a16="http://schemas.microsoft.com/office/drawing/2014/main" id="{8F3ABE9F-495B-0DF7-56D4-2F5CA1A5AA90}"/>
                </a:ext>
              </a:extLst>
            </p:cNvPr>
            <p:cNvSpPr/>
            <p:nvPr/>
          </p:nvSpPr>
          <p:spPr>
            <a:xfrm>
              <a:off x="3757353" y="2603655"/>
              <a:ext cx="1420191" cy="58110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accent2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B7D198DB-32E8-609E-C1C5-E3A9AC885726}"/>
                </a:ext>
              </a:extLst>
            </p:cNvPr>
            <p:cNvSpPr txBox="1"/>
            <p:nvPr/>
          </p:nvSpPr>
          <p:spPr>
            <a:xfrm>
              <a:off x="4022118" y="2483040"/>
              <a:ext cx="89066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4800" dirty="0">
                  <a:solidFill>
                    <a:srgbClr val="003F88"/>
                  </a:solidFill>
                  <a:effectLst>
                    <a:outerShdw blurRad="38100" dist="38100" dir="2700000" algn="tl" rotWithShape="0">
                      <a:schemeClr val="accent5">
                        <a:lumMod val="75000"/>
                        <a:alpha val="51000"/>
                      </a:schemeClr>
                    </a:outerShdw>
                  </a:effectLst>
                  <a:latin typeface="Impact" panose="020B0806030902050204" pitchFamily="34" charset="0"/>
                </a:rPr>
                <a:t>06</a:t>
              </a:r>
              <a:endParaRPr lang="zh-CN" altLang="en-US" sz="4800" dirty="0">
                <a:solidFill>
                  <a:srgbClr val="003F88"/>
                </a:solidFill>
                <a:effectLst>
                  <a:outerShdw blurRad="38100" dist="38100" dir="2700000" algn="tl" rotWithShape="0">
                    <a:schemeClr val="accent5">
                      <a:lumMod val="75000"/>
                      <a:alpha val="51000"/>
                    </a:schemeClr>
                  </a:outerShdw>
                </a:effectLst>
                <a:latin typeface="Impact" panose="020B0806030902050204" pitchFamily="34" charset="0"/>
              </a:endParaRPr>
            </a:p>
          </p:txBody>
        </p:sp>
        <p:sp>
          <p:nvSpPr>
            <p:cNvPr id="9" name="文本占位符 9">
              <a:extLst>
                <a:ext uri="{FF2B5EF4-FFF2-40B4-BE49-F238E27FC236}">
                  <a16:creationId xmlns:a16="http://schemas.microsoft.com/office/drawing/2014/main" id="{06AD24D5-C53E-3D85-5632-6F9E3E6301DC}"/>
                </a:ext>
              </a:extLst>
            </p:cNvPr>
            <p:cNvSpPr txBox="1">
              <a:spLocks/>
            </p:cNvSpPr>
            <p:nvPr/>
          </p:nvSpPr>
          <p:spPr>
            <a:xfrm>
              <a:off x="5450911" y="2472892"/>
              <a:ext cx="7377512" cy="822325"/>
            </a:xfrm>
            <a:prstGeom prst="rect">
              <a:avLst/>
            </a:prstGeom>
            <a:ln>
              <a:noFill/>
            </a:ln>
          </p:spPr>
          <p:txBody>
            <a:bodyPr vert="horz" lIns="91440" tIns="45720" rIns="91440" bIns="45720" rtlCol="0" anchor="ctr">
              <a:noAutofit/>
            </a:bodyPr>
            <a:lstStyle>
              <a:defPPr>
                <a:defRPr lang="zh-CN"/>
              </a:defPPr>
              <a:lvl1pPr marL="0" indent="0" algn="dist" defTabSz="914400" rtl="0" eaLnBrk="1" latinLnBrk="0" hangingPunct="1">
                <a:buNone/>
                <a:defRPr sz="8000" b="1" kern="1200">
                  <a:solidFill>
                    <a:srgbClr val="002060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zh-CN" altLang="en-US" sz="4400" spc="400" dirty="0">
                  <a:solidFill>
                    <a:srgbClr val="003F88"/>
                  </a:solidFill>
                  <a:effectLst>
                    <a:outerShdw blurRad="12700" dist="38100" dir="3600000" sx="102000" sy="102000" algn="tl" rotWithShape="0">
                      <a:schemeClr val="accent5">
                        <a:lumMod val="75000"/>
                        <a:alpha val="30000"/>
                      </a:schemeClr>
                    </a:outerShdw>
                  </a:effectLst>
                </a:rPr>
                <a:t>下一阶段规划</a:t>
              </a:r>
              <a:r>
                <a:rPr lang="en-US" altLang="zh-CN" sz="3600" spc="400" dirty="0">
                  <a:solidFill>
                    <a:srgbClr val="003F88"/>
                  </a:solidFill>
                  <a:effectLst>
                    <a:outerShdw blurRad="12700" dist="38100" dir="3600000" sx="102000" sy="102000" algn="tl" rotWithShape="0">
                      <a:schemeClr val="accent5">
                        <a:lumMod val="75000"/>
                        <a:alpha val="30000"/>
                      </a:schemeClr>
                    </a:outerShdw>
                  </a:effectLst>
                </a:rPr>
                <a:t>-</a:t>
              </a:r>
              <a:r>
                <a:rPr lang="zh-CN" altLang="en-US" sz="3600" spc="400" dirty="0">
                  <a:solidFill>
                    <a:srgbClr val="003F88"/>
                  </a:solidFill>
                  <a:effectLst>
                    <a:outerShdw blurRad="12700" dist="38100" dir="3600000" sx="102000" sy="102000" algn="tl" rotWithShape="0">
                      <a:schemeClr val="accent5">
                        <a:lumMod val="75000"/>
                        <a:alpha val="30000"/>
                      </a:schemeClr>
                    </a:outerShdw>
                  </a:effectLst>
                </a:rPr>
                <a:t>跌倒检测📌</a:t>
              </a:r>
              <a:endParaRPr lang="zh-CN" altLang="en-US" sz="4400" spc="400" dirty="0">
                <a:solidFill>
                  <a:srgbClr val="003F88"/>
                </a:solidFill>
                <a:effectLst>
                  <a:outerShdw blurRad="12700" dist="38100" dir="3600000" sx="102000" sy="102000" algn="tl" rotWithShape="0">
                    <a:schemeClr val="accent5">
                      <a:lumMod val="75000"/>
                      <a:alpha val="30000"/>
                    </a:schemeClr>
                  </a:outerShdw>
                </a:effectLst>
              </a:endParaRPr>
            </a:p>
          </p:txBody>
        </p:sp>
      </p:grpSp>
      <p:sp>
        <p:nvSpPr>
          <p:cNvPr id="12" name="文本框 11">
            <a:extLst>
              <a:ext uri="{FF2B5EF4-FFF2-40B4-BE49-F238E27FC236}">
                <a16:creationId xmlns:a16="http://schemas.microsoft.com/office/drawing/2014/main" id="{822F198F-1BF2-BA68-7860-F070358B8F25}"/>
              </a:ext>
            </a:extLst>
          </p:cNvPr>
          <p:cNvSpPr txBox="1"/>
          <p:nvPr/>
        </p:nvSpPr>
        <p:spPr>
          <a:xfrm>
            <a:off x="1401776" y="5567003"/>
            <a:ext cx="1024271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</a:rPr>
              <a:t>目标：每个参数都有数据依据，正常行为误报率和模拟跌倒召回率有记录。</a:t>
            </a:r>
          </a:p>
        </p:txBody>
      </p:sp>
    </p:spTree>
    <p:extLst>
      <p:ext uri="{BB962C8B-B14F-4D97-AF65-F5344CB8AC3E}">
        <p14:creationId xmlns:p14="http://schemas.microsoft.com/office/powerpoint/2010/main" val="6495928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组合 42">
            <a:extLst>
              <a:ext uri="{FF2B5EF4-FFF2-40B4-BE49-F238E27FC236}">
                <a16:creationId xmlns:a16="http://schemas.microsoft.com/office/drawing/2014/main" id="{7697A4F2-BAC0-3601-8CC6-3D31D1501390}"/>
              </a:ext>
            </a:extLst>
          </p:cNvPr>
          <p:cNvGrpSpPr/>
          <p:nvPr/>
        </p:nvGrpSpPr>
        <p:grpSpPr>
          <a:xfrm>
            <a:off x="6478745" y="1428353"/>
            <a:ext cx="5000086" cy="2840334"/>
            <a:chOff x="254474" y="2561920"/>
            <a:chExt cx="5000086" cy="2840334"/>
          </a:xfrm>
        </p:grpSpPr>
        <p:sp>
          <p:nvSpPr>
            <p:cNvPr id="10" name="矩形: 对角圆角 9">
              <a:extLst>
                <a:ext uri="{FF2B5EF4-FFF2-40B4-BE49-F238E27FC236}">
                  <a16:creationId xmlns:a16="http://schemas.microsoft.com/office/drawing/2014/main" id="{6BB264F7-BCCF-8001-87CA-C47CB7F7689F}"/>
                </a:ext>
              </a:extLst>
            </p:cNvPr>
            <p:cNvSpPr/>
            <p:nvPr/>
          </p:nvSpPr>
          <p:spPr>
            <a:xfrm>
              <a:off x="606712" y="2966300"/>
              <a:ext cx="4390834" cy="2435954"/>
            </a:xfrm>
            <a:prstGeom prst="round2DiagRect">
              <a:avLst>
                <a:gd name="adj1" fmla="val 28111"/>
                <a:gd name="adj2" fmla="val 0"/>
              </a:avLst>
            </a:prstGeom>
            <a:solidFill>
              <a:schemeClr val="accent5">
                <a:lumMod val="40000"/>
                <a:lumOff val="60000"/>
                <a:alpha val="40000"/>
              </a:schemeClr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50" dirty="0"/>
            </a:p>
          </p:txBody>
        </p:sp>
        <p:sp>
          <p:nvSpPr>
            <p:cNvPr id="4" name="矩形: 对角圆角 3">
              <a:extLst>
                <a:ext uri="{FF2B5EF4-FFF2-40B4-BE49-F238E27FC236}">
                  <a16:creationId xmlns:a16="http://schemas.microsoft.com/office/drawing/2014/main" id="{10B48B8C-DA66-2999-A345-310512473FFE}"/>
                </a:ext>
              </a:extLst>
            </p:cNvPr>
            <p:cNvSpPr/>
            <p:nvPr/>
          </p:nvSpPr>
          <p:spPr>
            <a:xfrm>
              <a:off x="454312" y="2813900"/>
              <a:ext cx="4390834" cy="2435954"/>
            </a:xfrm>
            <a:prstGeom prst="round2DiagRect">
              <a:avLst>
                <a:gd name="adj1" fmla="val 28111"/>
                <a:gd name="adj2" fmla="val 0"/>
              </a:avLst>
            </a:prstGeom>
            <a:solidFill>
              <a:schemeClr val="accent5">
                <a:lumMod val="40000"/>
                <a:lumOff val="60000"/>
                <a:alpha val="40000"/>
              </a:schemeClr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50" dirty="0"/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E7A54C16-01A0-60F2-7EC8-E6C9E374D03E}"/>
                </a:ext>
              </a:extLst>
            </p:cNvPr>
            <p:cNvSpPr txBox="1"/>
            <p:nvPr/>
          </p:nvSpPr>
          <p:spPr>
            <a:xfrm>
              <a:off x="713345" y="3258634"/>
              <a:ext cx="4541215" cy="17049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zh-CN" dirty="0" err="1"/>
                <a:t>FallDetector</a:t>
              </a:r>
              <a:r>
                <a:rPr lang="en-US" altLang="zh-CN" dirty="0"/>
                <a:t> </a:t>
              </a:r>
              <a:r>
                <a:rPr lang="zh-CN" altLang="en-US" dirty="0"/>
                <a:t>可回放 </a:t>
              </a:r>
              <a:r>
                <a:rPr lang="en-US" altLang="zh-CN" dirty="0"/>
                <a:t>IMU </a:t>
              </a:r>
              <a:r>
                <a:rPr lang="zh-CN" altLang="en-US" dirty="0"/>
                <a:t>单元测试</a:t>
              </a:r>
              <a:endParaRPr lang="en-US" altLang="zh-CN" dirty="0"/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zh-CN" dirty="0" err="1"/>
                <a:t>AlarmController</a:t>
              </a:r>
              <a:r>
                <a:rPr lang="en-US" altLang="zh-CN" dirty="0"/>
                <a:t> </a:t>
              </a:r>
              <a:r>
                <a:rPr lang="zh-CN" altLang="en-US" dirty="0"/>
                <a:t>状态转移表测试</a:t>
              </a:r>
              <a:endParaRPr lang="en-US" altLang="zh-CN" dirty="0"/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en-US" dirty="0"/>
                <a:t>命令队列顺序</a:t>
              </a:r>
              <a:r>
                <a:rPr lang="en-US" altLang="zh-CN" dirty="0"/>
                <a:t>/</a:t>
              </a:r>
              <a:r>
                <a:rPr lang="zh-CN" altLang="en-US" dirty="0"/>
                <a:t>满队列</a:t>
              </a:r>
              <a:r>
                <a:rPr lang="en-US" altLang="zh-CN" dirty="0"/>
                <a:t>/</a:t>
              </a:r>
              <a:r>
                <a:rPr lang="zh-CN" altLang="en-US" dirty="0"/>
                <a:t>非法命令测试</a:t>
              </a:r>
              <a:endParaRPr lang="en-US" altLang="zh-CN" dirty="0"/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en-US" dirty="0"/>
                <a:t>状态快照并发读写测试</a:t>
              </a:r>
              <a:endParaRPr lang="zh-CN" altLang="zh-CN" dirty="0"/>
            </a:p>
          </p:txBody>
        </p:sp>
        <p:pic>
          <p:nvPicPr>
            <p:cNvPr id="23" name="图片 22">
              <a:extLst>
                <a:ext uri="{FF2B5EF4-FFF2-40B4-BE49-F238E27FC236}">
                  <a16:creationId xmlns:a16="http://schemas.microsoft.com/office/drawing/2014/main" id="{F5590571-9D62-9FF3-3D14-9CBE4B5243D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54474" y="2561920"/>
              <a:ext cx="768637" cy="713295"/>
            </a:xfrm>
            <a:prstGeom prst="rect">
              <a:avLst/>
            </a:prstGeom>
          </p:spPr>
        </p:pic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776DF63F-5F59-4B92-A84D-516878548D08}"/>
                </a:ext>
              </a:extLst>
            </p:cNvPr>
            <p:cNvSpPr txBox="1"/>
            <p:nvPr/>
          </p:nvSpPr>
          <p:spPr>
            <a:xfrm>
              <a:off x="1083923" y="2605866"/>
              <a:ext cx="370041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CN" altLang="en-US" sz="2800" b="1" dirty="0">
                  <a:solidFill>
                    <a:srgbClr val="003F88"/>
                  </a:solidFill>
                  <a:latin typeface="微软雅黑" pitchFamily="34" charset="-122"/>
                  <a:ea typeface="微软雅黑" pitchFamily="34" charset="-122"/>
                </a:rPr>
                <a:t>自动化测试</a:t>
              </a:r>
              <a:endParaRPr kumimoji="1" lang="zh-CN" altLang="en-US" sz="2000" dirty="0">
                <a:solidFill>
                  <a:srgbClr val="003F88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44" name="矩形: 对角圆角 43">
            <a:extLst>
              <a:ext uri="{FF2B5EF4-FFF2-40B4-BE49-F238E27FC236}">
                <a16:creationId xmlns:a16="http://schemas.microsoft.com/office/drawing/2014/main" id="{CCECDDA4-47B6-C4CD-CDF2-DFC2C6E3CFFD}"/>
              </a:ext>
            </a:extLst>
          </p:cNvPr>
          <p:cNvSpPr/>
          <p:nvPr/>
        </p:nvSpPr>
        <p:spPr>
          <a:xfrm>
            <a:off x="713169" y="2396064"/>
            <a:ext cx="4765457" cy="3899088"/>
          </a:xfrm>
          <a:prstGeom prst="round2DiagRect">
            <a:avLst>
              <a:gd name="adj1" fmla="val 28111"/>
              <a:gd name="adj2" fmla="val 0"/>
            </a:avLst>
          </a:prstGeom>
          <a:solidFill>
            <a:schemeClr val="accent5">
              <a:lumMod val="40000"/>
              <a:lumOff val="60000"/>
              <a:alpha val="40000"/>
            </a:scheme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 dirty="0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19443FA5-025B-A77F-55AE-33E9D6F80D17}"/>
              </a:ext>
            </a:extLst>
          </p:cNvPr>
          <p:cNvGrpSpPr/>
          <p:nvPr/>
        </p:nvGrpSpPr>
        <p:grpSpPr>
          <a:xfrm>
            <a:off x="246351" y="205622"/>
            <a:ext cx="9071070" cy="841145"/>
            <a:chOff x="3757353" y="2472892"/>
            <a:chExt cx="9071070" cy="841145"/>
          </a:xfrm>
        </p:grpSpPr>
        <p:sp>
          <p:nvSpPr>
            <p:cNvPr id="3" name="椭圆 2">
              <a:extLst>
                <a:ext uri="{FF2B5EF4-FFF2-40B4-BE49-F238E27FC236}">
                  <a16:creationId xmlns:a16="http://schemas.microsoft.com/office/drawing/2014/main" id="{D141A7E5-F371-47E5-DA51-C89D188C3CAF}"/>
                </a:ext>
              </a:extLst>
            </p:cNvPr>
            <p:cNvSpPr/>
            <p:nvPr/>
          </p:nvSpPr>
          <p:spPr>
            <a:xfrm>
              <a:off x="3757353" y="2603655"/>
              <a:ext cx="1420191" cy="58110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accent2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8EE92A95-665E-5D2C-53ED-FFD7EDFCB756}"/>
                </a:ext>
              </a:extLst>
            </p:cNvPr>
            <p:cNvSpPr txBox="1"/>
            <p:nvPr/>
          </p:nvSpPr>
          <p:spPr>
            <a:xfrm>
              <a:off x="4022118" y="2483040"/>
              <a:ext cx="89066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4800" dirty="0">
                  <a:solidFill>
                    <a:srgbClr val="003F88"/>
                  </a:solidFill>
                  <a:effectLst>
                    <a:outerShdw blurRad="38100" dist="38100" dir="2700000" algn="tl" rotWithShape="0">
                      <a:schemeClr val="accent5">
                        <a:lumMod val="75000"/>
                        <a:alpha val="51000"/>
                      </a:schemeClr>
                    </a:outerShdw>
                  </a:effectLst>
                  <a:latin typeface="Impact" panose="020B0806030902050204" pitchFamily="34" charset="0"/>
                </a:rPr>
                <a:t>06</a:t>
              </a:r>
              <a:endParaRPr lang="zh-CN" altLang="en-US" sz="4800" dirty="0">
                <a:solidFill>
                  <a:srgbClr val="003F88"/>
                </a:solidFill>
                <a:effectLst>
                  <a:outerShdw blurRad="38100" dist="38100" dir="2700000" algn="tl" rotWithShape="0">
                    <a:schemeClr val="accent5">
                      <a:lumMod val="75000"/>
                      <a:alpha val="51000"/>
                    </a:schemeClr>
                  </a:outerShdw>
                </a:effectLst>
                <a:latin typeface="Impact" panose="020B0806030902050204" pitchFamily="34" charset="0"/>
              </a:endParaRPr>
            </a:p>
          </p:txBody>
        </p:sp>
        <p:sp>
          <p:nvSpPr>
            <p:cNvPr id="6" name="文本占位符 9">
              <a:extLst>
                <a:ext uri="{FF2B5EF4-FFF2-40B4-BE49-F238E27FC236}">
                  <a16:creationId xmlns:a16="http://schemas.microsoft.com/office/drawing/2014/main" id="{A5E12C1C-5573-30CB-80F5-8845232EF8F1}"/>
                </a:ext>
              </a:extLst>
            </p:cNvPr>
            <p:cNvSpPr txBox="1">
              <a:spLocks/>
            </p:cNvSpPr>
            <p:nvPr/>
          </p:nvSpPr>
          <p:spPr>
            <a:xfrm>
              <a:off x="5450911" y="2472892"/>
              <a:ext cx="7377512" cy="822325"/>
            </a:xfrm>
            <a:prstGeom prst="rect">
              <a:avLst/>
            </a:prstGeom>
            <a:ln>
              <a:noFill/>
            </a:ln>
          </p:spPr>
          <p:txBody>
            <a:bodyPr vert="horz" lIns="91440" tIns="45720" rIns="91440" bIns="45720" rtlCol="0" anchor="ctr">
              <a:noAutofit/>
            </a:bodyPr>
            <a:lstStyle>
              <a:defPPr>
                <a:defRPr lang="zh-CN"/>
              </a:defPPr>
              <a:lvl1pPr marL="0" indent="0" algn="dist" defTabSz="914400" rtl="0" eaLnBrk="1" latinLnBrk="0" hangingPunct="1">
                <a:buNone/>
                <a:defRPr sz="8000" b="1" kern="1200">
                  <a:solidFill>
                    <a:srgbClr val="002060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zh-CN" altLang="en-US" sz="4400" spc="400" dirty="0">
                  <a:solidFill>
                    <a:srgbClr val="003F88"/>
                  </a:solidFill>
                  <a:effectLst>
                    <a:outerShdw blurRad="12700" dist="38100" dir="3600000" sx="102000" sy="102000" algn="tl" rotWithShape="0">
                      <a:schemeClr val="accent5">
                        <a:lumMod val="75000"/>
                        <a:alpha val="30000"/>
                      </a:schemeClr>
                    </a:outerShdw>
                  </a:effectLst>
                </a:rPr>
                <a:t>下一阶段规划</a:t>
              </a:r>
              <a:r>
                <a:rPr lang="en-US" altLang="zh-CN" sz="3600" spc="400" dirty="0">
                  <a:solidFill>
                    <a:srgbClr val="003F88"/>
                  </a:solidFill>
                  <a:effectLst>
                    <a:outerShdw blurRad="12700" dist="38100" dir="3600000" sx="102000" sy="102000" algn="tl" rotWithShape="0">
                      <a:schemeClr val="accent5">
                        <a:lumMod val="75000"/>
                        <a:alpha val="30000"/>
                      </a:schemeClr>
                    </a:outerShdw>
                  </a:effectLst>
                </a:rPr>
                <a:t>-</a:t>
              </a:r>
              <a:r>
                <a:rPr lang="zh-CN" altLang="en-US" sz="3600" spc="400" dirty="0">
                  <a:solidFill>
                    <a:srgbClr val="003F88"/>
                  </a:solidFill>
                  <a:effectLst>
                    <a:outerShdw blurRad="12700" dist="38100" dir="3600000" sx="102000" sy="102000" algn="tl" rotWithShape="0">
                      <a:schemeClr val="accent5">
                        <a:lumMod val="75000"/>
                        <a:alpha val="30000"/>
                      </a:schemeClr>
                    </a:outerShdw>
                  </a:effectLst>
                </a:rPr>
                <a:t>提升安全性📌</a:t>
              </a:r>
              <a:endParaRPr lang="zh-CN" altLang="en-US" sz="4400" spc="400" dirty="0">
                <a:solidFill>
                  <a:srgbClr val="003F88"/>
                </a:solidFill>
                <a:effectLst>
                  <a:outerShdw blurRad="12700" dist="38100" dir="3600000" sx="102000" sy="102000" algn="tl" rotWithShape="0">
                    <a:schemeClr val="accent5">
                      <a:lumMod val="75000"/>
                      <a:alpha val="30000"/>
                    </a:schemeClr>
                  </a:outerShdw>
                </a:effectLst>
              </a:endParaRPr>
            </a:p>
          </p:txBody>
        </p:sp>
      </p:grp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FC8CA6DC-41C7-9999-96C7-661CFEE24E4F}"/>
              </a:ext>
            </a:extLst>
          </p:cNvPr>
          <p:cNvGrpSpPr/>
          <p:nvPr/>
        </p:nvGrpSpPr>
        <p:grpSpPr>
          <a:xfrm>
            <a:off x="6478745" y="4561021"/>
            <a:ext cx="4989976" cy="2077920"/>
            <a:chOff x="6209778" y="4621544"/>
            <a:chExt cx="4989976" cy="2077920"/>
          </a:xfrm>
        </p:grpSpPr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CA409004-3CA8-921B-E14C-AECA2CAFB3B5}"/>
                </a:ext>
              </a:extLst>
            </p:cNvPr>
            <p:cNvGrpSpPr/>
            <p:nvPr/>
          </p:nvGrpSpPr>
          <p:grpSpPr>
            <a:xfrm>
              <a:off x="6448251" y="5120639"/>
              <a:ext cx="4543234" cy="1578825"/>
              <a:chOff x="6448251" y="4111111"/>
              <a:chExt cx="4543234" cy="2588354"/>
            </a:xfrm>
          </p:grpSpPr>
          <p:sp>
            <p:nvSpPr>
              <p:cNvPr id="11" name="矩形: 对角圆角 10">
                <a:extLst>
                  <a:ext uri="{FF2B5EF4-FFF2-40B4-BE49-F238E27FC236}">
                    <a16:creationId xmlns:a16="http://schemas.microsoft.com/office/drawing/2014/main" id="{52970F5A-471D-5804-9D79-EA1AD6770439}"/>
                  </a:ext>
                </a:extLst>
              </p:cNvPr>
              <p:cNvSpPr/>
              <p:nvPr/>
            </p:nvSpPr>
            <p:spPr>
              <a:xfrm>
                <a:off x="6448251" y="4111111"/>
                <a:ext cx="4390834" cy="2435954"/>
              </a:xfrm>
              <a:prstGeom prst="round2DiagRect">
                <a:avLst>
                  <a:gd name="adj1" fmla="val 28111"/>
                  <a:gd name="adj2" fmla="val 0"/>
                </a:avLst>
              </a:prstGeom>
              <a:solidFill>
                <a:schemeClr val="accent5">
                  <a:lumMod val="40000"/>
                  <a:lumOff val="60000"/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050" dirty="0"/>
              </a:p>
            </p:txBody>
          </p:sp>
          <p:sp>
            <p:nvSpPr>
              <p:cNvPr id="13" name="矩形: 对角圆角 12">
                <a:extLst>
                  <a:ext uri="{FF2B5EF4-FFF2-40B4-BE49-F238E27FC236}">
                    <a16:creationId xmlns:a16="http://schemas.microsoft.com/office/drawing/2014/main" id="{B835344F-270F-1BAA-4FB0-AE56BC99C4C0}"/>
                  </a:ext>
                </a:extLst>
              </p:cNvPr>
              <p:cNvSpPr/>
              <p:nvPr/>
            </p:nvSpPr>
            <p:spPr>
              <a:xfrm>
                <a:off x="6600651" y="4263511"/>
                <a:ext cx="4390834" cy="2435954"/>
              </a:xfrm>
              <a:prstGeom prst="round2DiagRect">
                <a:avLst>
                  <a:gd name="adj1" fmla="val 28111"/>
                  <a:gd name="adj2" fmla="val 0"/>
                </a:avLst>
              </a:prstGeom>
              <a:solidFill>
                <a:schemeClr val="accent5">
                  <a:lumMod val="40000"/>
                  <a:lumOff val="60000"/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050" dirty="0"/>
              </a:p>
            </p:txBody>
          </p:sp>
        </p:grpSp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C2A9D151-4CD3-44A8-A490-C56A73571453}"/>
                </a:ext>
              </a:extLst>
            </p:cNvPr>
            <p:cNvSpPr/>
            <p:nvPr/>
          </p:nvSpPr>
          <p:spPr>
            <a:xfrm>
              <a:off x="7042701" y="4800048"/>
              <a:ext cx="4157053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zh-CN" altLang="en-US" sz="2800" b="1" dirty="0">
                  <a:solidFill>
                    <a:srgbClr val="003F88"/>
                  </a:solidFill>
                  <a:latin typeface="微软雅黑" pitchFamily="34" charset="-122"/>
                  <a:ea typeface="微软雅黑" pitchFamily="34" charset="-122"/>
                </a:rPr>
                <a:t>硬件扩展（可选增强）</a:t>
              </a:r>
              <a:endParaRPr lang="zh-CN" altLang="en-US" sz="2800" dirty="0">
                <a:solidFill>
                  <a:srgbClr val="003F88"/>
                </a:solidFill>
              </a:endParaRPr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6B90DC75-881C-F104-760D-CB7FC7A92472}"/>
                </a:ext>
              </a:extLst>
            </p:cNvPr>
            <p:cNvSpPr txBox="1"/>
            <p:nvPr/>
          </p:nvSpPr>
          <p:spPr>
            <a:xfrm>
              <a:off x="6658539" y="5432937"/>
              <a:ext cx="4541215" cy="87395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en-US" dirty="0"/>
                <a:t>震动马达、电池电压检测、心率血氧</a:t>
              </a:r>
              <a:endParaRPr lang="en-US" altLang="zh-CN" dirty="0"/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en-US" dirty="0"/>
                <a:t>云台舵机、</a:t>
              </a:r>
              <a:r>
                <a:rPr lang="en-US" altLang="zh-CN" dirty="0"/>
                <a:t>4 G </a:t>
              </a:r>
              <a:r>
                <a:rPr lang="zh-CN" altLang="en-US" dirty="0"/>
                <a:t>通信、</a:t>
              </a:r>
              <a:r>
                <a:rPr lang="en-US" altLang="zh-CN" dirty="0"/>
                <a:t>SD </a:t>
              </a:r>
              <a:r>
                <a:rPr lang="zh-CN" altLang="en-US" dirty="0"/>
                <a:t>卡存储</a:t>
              </a:r>
              <a:endParaRPr lang="zh-CN" altLang="zh-CN" dirty="0"/>
            </a:p>
          </p:txBody>
        </p:sp>
        <p:pic>
          <p:nvPicPr>
            <p:cNvPr id="24" name="图片 23">
              <a:extLst>
                <a:ext uri="{FF2B5EF4-FFF2-40B4-BE49-F238E27FC236}">
                  <a16:creationId xmlns:a16="http://schemas.microsoft.com/office/drawing/2014/main" id="{3EF93DAA-A7B8-AA74-3CC7-752838B9995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6209778" y="4621544"/>
              <a:ext cx="781746" cy="781746"/>
            </a:xfrm>
            <a:prstGeom prst="rect">
              <a:avLst/>
            </a:prstGeom>
          </p:spPr>
        </p:pic>
      </p:grpSp>
      <p:sp>
        <p:nvSpPr>
          <p:cNvPr id="26" name="矩形: 对角圆角 25">
            <a:extLst>
              <a:ext uri="{FF2B5EF4-FFF2-40B4-BE49-F238E27FC236}">
                <a16:creationId xmlns:a16="http://schemas.microsoft.com/office/drawing/2014/main" id="{22B41CF8-B79F-CEAD-853A-5DC19606C053}"/>
              </a:ext>
            </a:extLst>
          </p:cNvPr>
          <p:cNvSpPr/>
          <p:nvPr/>
        </p:nvSpPr>
        <p:spPr>
          <a:xfrm>
            <a:off x="548382" y="2258967"/>
            <a:ext cx="4765457" cy="3875962"/>
          </a:xfrm>
          <a:prstGeom prst="round2DiagRect">
            <a:avLst>
              <a:gd name="adj1" fmla="val 28111"/>
              <a:gd name="adj2" fmla="val 0"/>
            </a:avLst>
          </a:prstGeom>
          <a:solidFill>
            <a:schemeClr val="accent5">
              <a:lumMod val="40000"/>
              <a:lumOff val="60000"/>
              <a:alpha val="40000"/>
            </a:scheme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 dirty="0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347CCB0C-1A95-AD88-1CEE-0F626968336A}"/>
              </a:ext>
            </a:extLst>
          </p:cNvPr>
          <p:cNvSpPr txBox="1"/>
          <p:nvPr/>
        </p:nvSpPr>
        <p:spPr>
          <a:xfrm>
            <a:off x="873826" y="2585214"/>
            <a:ext cx="4452400" cy="33669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自适应避障：从固定阈值升级为距离 </a:t>
            </a:r>
            <a:r>
              <a:rPr lang="en-US" altLang="zh-CN" dirty="0"/>
              <a:t>+ </a:t>
            </a:r>
            <a:r>
              <a:rPr lang="zh-CN" altLang="en-US" dirty="0"/>
              <a:t>接近速度 </a:t>
            </a:r>
            <a:r>
              <a:rPr lang="en-US" altLang="zh-CN" dirty="0"/>
              <a:t>+ TTC </a:t>
            </a:r>
            <a:r>
              <a:rPr lang="zh-CN" altLang="en-US" dirty="0"/>
              <a:t>综合风险判断</a:t>
            </a:r>
            <a:r>
              <a:rPr lang="en-US" altLang="zh-CN" dirty="0"/>
              <a:t>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二阶段异常确认：从一次冲击即报警升级为</a:t>
            </a:r>
            <a:r>
              <a:rPr lang="en-US" altLang="zh-CN" dirty="0"/>
              <a:t>"</a:t>
            </a:r>
            <a:r>
              <a:rPr lang="zh-CN" altLang="en-US" dirty="0"/>
              <a:t>疑似 → 确认窗口 → 最终告警</a:t>
            </a:r>
            <a:r>
              <a:rPr lang="en-US" altLang="zh-CN" dirty="0"/>
              <a:t>“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事件证据包：从状态字符串升级为可解释证据包（原因 </a:t>
            </a:r>
            <a:r>
              <a:rPr lang="en-US" altLang="zh-CN" dirty="0"/>
              <a:t>+ </a:t>
            </a:r>
            <a:r>
              <a:rPr lang="zh-CN" altLang="en-US" dirty="0"/>
              <a:t>时间线 </a:t>
            </a:r>
            <a:r>
              <a:rPr lang="en-US" altLang="zh-CN" dirty="0"/>
              <a:t>+ </a:t>
            </a:r>
            <a:r>
              <a:rPr lang="zh-CN" altLang="en-US" dirty="0"/>
              <a:t>位置 </a:t>
            </a:r>
            <a:r>
              <a:rPr lang="en-US" altLang="zh-CN" dirty="0"/>
              <a:t>+ </a:t>
            </a:r>
            <a:r>
              <a:rPr lang="zh-CN" altLang="en-US" dirty="0"/>
              <a:t>图片）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健康自检与降级：实现传感器失效时的自动提示和功能降级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CD887594-863B-2A20-12D9-69FD264AFA0E}"/>
              </a:ext>
            </a:extLst>
          </p:cNvPr>
          <p:cNvSpPr/>
          <p:nvPr/>
        </p:nvSpPr>
        <p:spPr>
          <a:xfrm>
            <a:off x="1321573" y="1940543"/>
            <a:ext cx="415705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800" b="1" dirty="0">
                <a:solidFill>
                  <a:srgbClr val="003F88"/>
                </a:solidFill>
                <a:latin typeface="微软雅黑" pitchFamily="34" charset="-122"/>
                <a:ea typeface="微软雅黑" pitchFamily="34" charset="-122"/>
              </a:rPr>
              <a:t>软件增强</a:t>
            </a:r>
            <a:endParaRPr lang="zh-CN" altLang="en-US" sz="2800" dirty="0">
              <a:solidFill>
                <a:srgbClr val="003F88"/>
              </a:solidFill>
            </a:endParaRPr>
          </a:p>
        </p:txBody>
      </p:sp>
      <p:pic>
        <p:nvPicPr>
          <p:cNvPr id="48" name="图片 47">
            <a:extLst>
              <a:ext uri="{FF2B5EF4-FFF2-40B4-BE49-F238E27FC236}">
                <a16:creationId xmlns:a16="http://schemas.microsoft.com/office/drawing/2014/main" id="{93CCB2EF-27DE-3BC5-5715-1A22029D37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1116" y="1838980"/>
            <a:ext cx="755431" cy="702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95395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ïṡḷíḍé">
            <a:extLst>
              <a:ext uri="{FF2B5EF4-FFF2-40B4-BE49-F238E27FC236}">
                <a16:creationId xmlns:a16="http://schemas.microsoft.com/office/drawing/2014/main" id="{9915A401-AAF2-C139-CD41-551946172BE7}"/>
              </a:ext>
            </a:extLst>
          </p:cNvPr>
          <p:cNvSpPr/>
          <p:nvPr/>
        </p:nvSpPr>
        <p:spPr>
          <a:xfrm>
            <a:off x="3609601" y="3953677"/>
            <a:ext cx="1792440" cy="1860632"/>
          </a:xfrm>
          <a:custGeom>
            <a:avLst/>
            <a:gdLst>
              <a:gd name="connsiteX0" fmla="*/ 613459 w 1544768"/>
              <a:gd name="connsiteY0" fmla="*/ 0 h 1603538"/>
              <a:gd name="connsiteX1" fmla="*/ 1544768 w 1544768"/>
              <a:gd name="connsiteY1" fmla="*/ 976469 h 1603538"/>
              <a:gd name="connsiteX2" fmla="*/ 1479549 w 1544768"/>
              <a:gd name="connsiteY2" fmla="*/ 1055514 h 1603538"/>
              <a:gd name="connsiteX3" fmla="*/ 1343891 w 1544768"/>
              <a:gd name="connsiteY3" fmla="*/ 1499630 h 1603538"/>
              <a:gd name="connsiteX4" fmla="*/ 1347992 w 1544768"/>
              <a:gd name="connsiteY4" fmla="*/ 1580845 h 1603538"/>
              <a:gd name="connsiteX5" fmla="*/ 1351456 w 1544768"/>
              <a:gd name="connsiteY5" fmla="*/ 1603538 h 1603538"/>
              <a:gd name="connsiteX6" fmla="*/ 5247 w 1544768"/>
              <a:gd name="connsiteY6" fmla="*/ 1603538 h 1603538"/>
              <a:gd name="connsiteX7" fmla="*/ 0 w 1544768"/>
              <a:gd name="connsiteY7" fmla="*/ 1499630 h 1603538"/>
              <a:gd name="connsiteX8" fmla="*/ 489319 w 1544768"/>
              <a:gd name="connsiteY8" fmla="*/ 136587 h 1603538"/>
              <a:gd name="connsiteX9" fmla="*/ 613459 w 1544768"/>
              <a:gd name="connsiteY9" fmla="*/ 0 h 16035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44768" h="1603538">
                <a:moveTo>
                  <a:pt x="613459" y="0"/>
                </a:moveTo>
                <a:lnTo>
                  <a:pt x="1544768" y="976469"/>
                </a:lnTo>
                <a:lnTo>
                  <a:pt x="1479549" y="1055514"/>
                </a:lnTo>
                <a:cubicBezTo>
                  <a:pt x="1393902" y="1182290"/>
                  <a:pt x="1343891" y="1335120"/>
                  <a:pt x="1343891" y="1499630"/>
                </a:cubicBezTo>
                <a:cubicBezTo>
                  <a:pt x="1343891" y="1527048"/>
                  <a:pt x="1345280" y="1554142"/>
                  <a:pt x="1347992" y="1580845"/>
                </a:cubicBezTo>
                <a:lnTo>
                  <a:pt x="1351456" y="1603538"/>
                </a:lnTo>
                <a:lnTo>
                  <a:pt x="5247" y="1603538"/>
                </a:lnTo>
                <a:lnTo>
                  <a:pt x="0" y="1499630"/>
                </a:lnTo>
                <a:cubicBezTo>
                  <a:pt x="0" y="981868"/>
                  <a:pt x="183631" y="506996"/>
                  <a:pt x="489319" y="136587"/>
                </a:cubicBezTo>
                <a:lnTo>
                  <a:pt x="613459" y="0"/>
                </a:lnTo>
                <a:close/>
              </a:path>
            </a:pathLst>
          </a:custGeom>
          <a:solidFill>
            <a:srgbClr val="5C84CC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sz="2800" b="1">
              <a:solidFill>
                <a:schemeClr val="tx1"/>
              </a:solidFill>
              <a:highlight>
                <a:srgbClr val="000000"/>
              </a:highlight>
            </a:endParaRPr>
          </a:p>
        </p:txBody>
      </p:sp>
      <p:sp>
        <p:nvSpPr>
          <p:cNvPr id="34" name="ïṩḻíḓé">
            <a:extLst>
              <a:ext uri="{FF2B5EF4-FFF2-40B4-BE49-F238E27FC236}">
                <a16:creationId xmlns:a16="http://schemas.microsoft.com/office/drawing/2014/main" id="{8F95B4A3-F384-2EE1-D8C4-8B5E8B6B464F}"/>
              </a:ext>
            </a:extLst>
          </p:cNvPr>
          <p:cNvSpPr/>
          <p:nvPr/>
        </p:nvSpPr>
        <p:spPr>
          <a:xfrm>
            <a:off x="4321416" y="3207346"/>
            <a:ext cx="1774582" cy="1879356"/>
          </a:xfrm>
          <a:custGeom>
            <a:avLst/>
            <a:gdLst>
              <a:gd name="connsiteX0" fmla="*/ 1529377 w 1529378"/>
              <a:gd name="connsiteY0" fmla="*/ 0 h 1619675"/>
              <a:gd name="connsiteX1" fmla="*/ 1529378 w 1529378"/>
              <a:gd name="connsiteY1" fmla="*/ 0 h 1619675"/>
              <a:gd name="connsiteX2" fmla="*/ 1529378 w 1529378"/>
              <a:gd name="connsiteY2" fmla="*/ 1348742 h 1619675"/>
              <a:gd name="connsiteX3" fmla="*/ 1524759 w 1529378"/>
              <a:gd name="connsiteY3" fmla="*/ 1348509 h 1619675"/>
              <a:gd name="connsiteX4" fmla="*/ 963085 w 1529378"/>
              <a:gd name="connsiteY4" fmla="*/ 1581162 h 1619675"/>
              <a:gd name="connsiteX5" fmla="*/ 931309 w 1529378"/>
              <a:gd name="connsiteY5" fmla="*/ 1619675 h 1619675"/>
              <a:gd name="connsiteX6" fmla="*/ 0 w 1529378"/>
              <a:gd name="connsiteY6" fmla="*/ 643206 h 1619675"/>
              <a:gd name="connsiteX7" fmla="*/ 14163 w 1529378"/>
              <a:gd name="connsiteY7" fmla="*/ 627622 h 1619675"/>
              <a:gd name="connsiteX8" fmla="*/ 1529377 w 1529378"/>
              <a:gd name="connsiteY8" fmla="*/ 0 h 1619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29378" h="1619675">
                <a:moveTo>
                  <a:pt x="1529377" y="0"/>
                </a:moveTo>
                <a:lnTo>
                  <a:pt x="1529378" y="0"/>
                </a:lnTo>
                <a:lnTo>
                  <a:pt x="1529378" y="1348742"/>
                </a:lnTo>
                <a:lnTo>
                  <a:pt x="1524759" y="1348509"/>
                </a:lnTo>
                <a:cubicBezTo>
                  <a:pt x="1305412" y="1348509"/>
                  <a:pt x="1106830" y="1437417"/>
                  <a:pt x="963085" y="1581162"/>
                </a:cubicBezTo>
                <a:lnTo>
                  <a:pt x="931309" y="1619675"/>
                </a:lnTo>
                <a:lnTo>
                  <a:pt x="0" y="643206"/>
                </a:lnTo>
                <a:lnTo>
                  <a:pt x="14163" y="627622"/>
                </a:lnTo>
                <a:cubicBezTo>
                  <a:pt x="401940" y="239845"/>
                  <a:pt x="937649" y="0"/>
                  <a:pt x="1529377" y="0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sz="2800" b="1">
              <a:solidFill>
                <a:schemeClr val="tx1"/>
              </a:solidFill>
              <a:highlight>
                <a:srgbClr val="000000"/>
              </a:highlight>
            </a:endParaRPr>
          </a:p>
        </p:txBody>
      </p:sp>
      <p:sp>
        <p:nvSpPr>
          <p:cNvPr id="35" name="ïṩlíḋè">
            <a:extLst>
              <a:ext uri="{FF2B5EF4-FFF2-40B4-BE49-F238E27FC236}">
                <a16:creationId xmlns:a16="http://schemas.microsoft.com/office/drawing/2014/main" id="{156BA4BF-264C-B92F-1D45-A3B641FBA27B}"/>
              </a:ext>
            </a:extLst>
          </p:cNvPr>
          <p:cNvSpPr/>
          <p:nvPr/>
        </p:nvSpPr>
        <p:spPr>
          <a:xfrm flipH="1">
            <a:off x="6785788" y="3954687"/>
            <a:ext cx="1796607" cy="1859622"/>
          </a:xfrm>
          <a:custGeom>
            <a:avLst/>
            <a:gdLst>
              <a:gd name="connsiteX0" fmla="*/ 614290 w 1548359"/>
              <a:gd name="connsiteY0" fmla="*/ 0 h 1602667"/>
              <a:gd name="connsiteX1" fmla="*/ 556670 w 1548359"/>
              <a:gd name="connsiteY1" fmla="*/ 57964 h 1602667"/>
              <a:gd name="connsiteX2" fmla="*/ 0 w 1548359"/>
              <a:gd name="connsiteY2" fmla="*/ 1498759 h 1602667"/>
              <a:gd name="connsiteX3" fmla="*/ 5247 w 1548359"/>
              <a:gd name="connsiteY3" fmla="*/ 1602667 h 1602667"/>
              <a:gd name="connsiteX4" fmla="*/ 1360691 w 1548359"/>
              <a:gd name="connsiteY4" fmla="*/ 1602667 h 1602667"/>
              <a:gd name="connsiteX5" fmla="*/ 1357228 w 1548359"/>
              <a:gd name="connsiteY5" fmla="*/ 1579974 h 1602667"/>
              <a:gd name="connsiteX6" fmla="*/ 1353127 w 1548359"/>
              <a:gd name="connsiteY6" fmla="*/ 1498759 h 1602667"/>
              <a:gd name="connsiteX7" fmla="*/ 1473148 w 1548359"/>
              <a:gd name="connsiteY7" fmla="*/ 1078716 h 1602667"/>
              <a:gd name="connsiteX8" fmla="*/ 1548359 w 1548359"/>
              <a:gd name="connsiteY8" fmla="*/ 979363 h 1602667"/>
              <a:gd name="connsiteX9" fmla="*/ 614290 w 1548359"/>
              <a:gd name="connsiteY9" fmla="*/ 0 h 1602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48359" h="1602667">
                <a:moveTo>
                  <a:pt x="614290" y="0"/>
                </a:moveTo>
                <a:lnTo>
                  <a:pt x="556670" y="57964"/>
                </a:lnTo>
                <a:cubicBezTo>
                  <a:pt x="210801" y="438505"/>
                  <a:pt x="0" y="944014"/>
                  <a:pt x="0" y="1498759"/>
                </a:cubicBezTo>
                <a:lnTo>
                  <a:pt x="5247" y="1602667"/>
                </a:lnTo>
                <a:lnTo>
                  <a:pt x="1360691" y="1602667"/>
                </a:lnTo>
                <a:lnTo>
                  <a:pt x="1357228" y="1579974"/>
                </a:lnTo>
                <a:cubicBezTo>
                  <a:pt x="1354516" y="1553271"/>
                  <a:pt x="1353127" y="1526177"/>
                  <a:pt x="1353127" y="1498759"/>
                </a:cubicBezTo>
                <a:cubicBezTo>
                  <a:pt x="1353127" y="1344531"/>
                  <a:pt x="1397082" y="1200568"/>
                  <a:pt x="1473148" y="1078716"/>
                </a:cubicBezTo>
                <a:lnTo>
                  <a:pt x="1548359" y="979363"/>
                </a:lnTo>
                <a:lnTo>
                  <a:pt x="614290" y="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sz="2800" b="1">
              <a:solidFill>
                <a:schemeClr val="tx1"/>
              </a:solidFill>
              <a:highlight>
                <a:srgbClr val="000000"/>
              </a:highlight>
            </a:endParaRPr>
          </a:p>
        </p:txBody>
      </p:sp>
      <p:sp>
        <p:nvSpPr>
          <p:cNvPr id="36" name="iṥ1ïḑe">
            <a:extLst>
              <a:ext uri="{FF2B5EF4-FFF2-40B4-BE49-F238E27FC236}">
                <a16:creationId xmlns:a16="http://schemas.microsoft.com/office/drawing/2014/main" id="{0377619D-F2BB-5C73-8552-740A20ABD77F}"/>
              </a:ext>
            </a:extLst>
          </p:cNvPr>
          <p:cNvSpPr/>
          <p:nvPr/>
        </p:nvSpPr>
        <p:spPr>
          <a:xfrm flipH="1">
            <a:off x="6096000" y="3207346"/>
            <a:ext cx="1773616" cy="1883725"/>
          </a:xfrm>
          <a:custGeom>
            <a:avLst/>
            <a:gdLst>
              <a:gd name="connsiteX0" fmla="*/ 1528545 w 1528545"/>
              <a:gd name="connsiteY0" fmla="*/ 0 h 1623440"/>
              <a:gd name="connsiteX1" fmla="*/ 1309453 w 1528545"/>
              <a:gd name="connsiteY1" fmla="*/ 11063 h 1623440"/>
              <a:gd name="connsiteX2" fmla="*/ 78264 w 1528545"/>
              <a:gd name="connsiteY2" fmla="*/ 565345 h 1623440"/>
              <a:gd name="connsiteX3" fmla="*/ 0 w 1528545"/>
              <a:gd name="connsiteY3" fmla="*/ 644077 h 1623440"/>
              <a:gd name="connsiteX4" fmla="*/ 934069 w 1528545"/>
              <a:gd name="connsiteY4" fmla="*/ 1623440 h 1623440"/>
              <a:gd name="connsiteX5" fmla="*/ 945189 w 1528545"/>
              <a:gd name="connsiteY5" fmla="*/ 1608749 h 1623440"/>
              <a:gd name="connsiteX6" fmla="*/ 1451949 w 1528545"/>
              <a:gd name="connsiteY6" fmla="*/ 1352610 h 1623440"/>
              <a:gd name="connsiteX7" fmla="*/ 1528545 w 1528545"/>
              <a:gd name="connsiteY7" fmla="*/ 1348742 h 1623440"/>
              <a:gd name="connsiteX8" fmla="*/ 1528545 w 1528545"/>
              <a:gd name="connsiteY8" fmla="*/ 0 h 1623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28545" h="1623440">
                <a:moveTo>
                  <a:pt x="1528545" y="0"/>
                </a:moveTo>
                <a:lnTo>
                  <a:pt x="1309453" y="11063"/>
                </a:lnTo>
                <a:cubicBezTo>
                  <a:pt x="836718" y="59072"/>
                  <a:pt x="409410" y="260745"/>
                  <a:pt x="78264" y="565345"/>
                </a:cubicBezTo>
                <a:lnTo>
                  <a:pt x="0" y="644077"/>
                </a:lnTo>
                <a:lnTo>
                  <a:pt x="934069" y="1623440"/>
                </a:lnTo>
                <a:lnTo>
                  <a:pt x="945189" y="1608749"/>
                </a:lnTo>
                <a:cubicBezTo>
                  <a:pt x="1073399" y="1467687"/>
                  <a:pt x="1251677" y="1372949"/>
                  <a:pt x="1451949" y="1352610"/>
                </a:cubicBezTo>
                <a:lnTo>
                  <a:pt x="1528545" y="1348742"/>
                </a:lnTo>
                <a:lnTo>
                  <a:pt x="1528545" y="0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sz="2800" b="1">
              <a:solidFill>
                <a:schemeClr val="tx1"/>
              </a:solidFill>
              <a:highlight>
                <a:srgbClr val="000000"/>
              </a:highlight>
            </a:endParaRPr>
          </a:p>
        </p:txBody>
      </p: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11FB977E-0770-34AB-0D7D-8CD67735A81E}"/>
              </a:ext>
            </a:extLst>
          </p:cNvPr>
          <p:cNvCxnSpPr/>
          <p:nvPr/>
        </p:nvCxnSpPr>
        <p:spPr>
          <a:xfrm>
            <a:off x="633409" y="3603491"/>
            <a:ext cx="3311075" cy="0"/>
          </a:xfrm>
          <a:prstGeom prst="line">
            <a:avLst/>
          </a:prstGeom>
          <a:ln>
            <a:headEnd type="none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DD4FB538-512F-1E5A-F799-57685B281A0E}"/>
              </a:ext>
            </a:extLst>
          </p:cNvPr>
          <p:cNvCxnSpPr/>
          <p:nvPr/>
        </p:nvCxnSpPr>
        <p:spPr>
          <a:xfrm>
            <a:off x="8219484" y="3603491"/>
            <a:ext cx="3264488" cy="0"/>
          </a:xfrm>
          <a:prstGeom prst="line">
            <a:avLst/>
          </a:prstGeom>
          <a:ln>
            <a:headEnd type="none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694AAD4B-4547-2A93-DD19-0B8A5133822E}"/>
              </a:ext>
            </a:extLst>
          </p:cNvPr>
          <p:cNvCxnSpPr>
            <a:stCxn id="33" idx="0"/>
          </p:cNvCxnSpPr>
          <p:nvPr/>
        </p:nvCxnSpPr>
        <p:spPr>
          <a:xfrm flipH="1" flipV="1">
            <a:off x="3944484" y="3603491"/>
            <a:ext cx="376932" cy="350186"/>
          </a:xfrm>
          <a:prstGeom prst="line">
            <a:avLst/>
          </a:prstGeom>
          <a:ln>
            <a:headEnd type="none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B7F710ED-25D4-EE74-4DCA-2F08FAD5FAD9}"/>
              </a:ext>
            </a:extLst>
          </p:cNvPr>
          <p:cNvCxnSpPr>
            <a:stCxn id="36" idx="3"/>
          </p:cNvCxnSpPr>
          <p:nvPr/>
        </p:nvCxnSpPr>
        <p:spPr>
          <a:xfrm flipV="1">
            <a:off x="7869616" y="3603491"/>
            <a:ext cx="349868" cy="351196"/>
          </a:xfrm>
          <a:prstGeom prst="line">
            <a:avLst/>
          </a:prstGeom>
          <a:ln>
            <a:headEnd type="none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B76C31B0-0DCA-743E-3523-EC6F66FF66F5}"/>
              </a:ext>
            </a:extLst>
          </p:cNvPr>
          <p:cNvCxnSpPr>
            <a:stCxn id="34" idx="0"/>
          </p:cNvCxnSpPr>
          <p:nvPr/>
        </p:nvCxnSpPr>
        <p:spPr>
          <a:xfrm flipV="1">
            <a:off x="6095997" y="1951086"/>
            <a:ext cx="1" cy="1256260"/>
          </a:xfrm>
          <a:prstGeom prst="line">
            <a:avLst/>
          </a:prstGeom>
          <a:ln>
            <a:headEnd type="none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îšľîḋé">
            <a:extLst>
              <a:ext uri="{FF2B5EF4-FFF2-40B4-BE49-F238E27FC236}">
                <a16:creationId xmlns:a16="http://schemas.microsoft.com/office/drawing/2014/main" id="{045F0BCB-3FA0-51FD-C400-638E6CBE824D}"/>
              </a:ext>
            </a:extLst>
          </p:cNvPr>
          <p:cNvSpPr txBox="1"/>
          <p:nvPr/>
        </p:nvSpPr>
        <p:spPr>
          <a:xfrm>
            <a:off x="5674525" y="5262120"/>
            <a:ext cx="438349" cy="525802"/>
          </a:xfrm>
          <a:prstGeom prst="rect">
            <a:avLst/>
          </a:prstGeom>
          <a:noFill/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endParaRPr lang="zh-CN" altLang="en-US" sz="2800" b="1" dirty="0">
              <a:highlight>
                <a:srgbClr val="000000"/>
              </a:highlight>
              <a:latin typeface="Impact" panose="020B0806030902050204" pitchFamily="34" charset="0"/>
            </a:endParaRPr>
          </a:p>
        </p:txBody>
      </p:sp>
      <p:pic>
        <p:nvPicPr>
          <p:cNvPr id="43" name="图形 42" descr="正义天平">
            <a:extLst>
              <a:ext uri="{FF2B5EF4-FFF2-40B4-BE49-F238E27FC236}">
                <a16:creationId xmlns:a16="http://schemas.microsoft.com/office/drawing/2014/main" id="{8844A6A2-675D-F417-9B1B-65F8057C80D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301193" y="3604962"/>
            <a:ext cx="766079" cy="766079"/>
          </a:xfrm>
          <a:prstGeom prst="rect">
            <a:avLst/>
          </a:prstGeom>
        </p:spPr>
      </p:pic>
      <p:pic>
        <p:nvPicPr>
          <p:cNvPr id="44" name="图形 43" descr="眼睛">
            <a:extLst>
              <a:ext uri="{FF2B5EF4-FFF2-40B4-BE49-F238E27FC236}">
                <a16:creationId xmlns:a16="http://schemas.microsoft.com/office/drawing/2014/main" id="{3FB0D37D-45BB-C99E-F657-DB8913F588E4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48032"/>
          <a:stretch>
            <a:fillRect/>
          </a:stretch>
        </p:blipFill>
        <p:spPr>
          <a:xfrm>
            <a:off x="4059741" y="4493990"/>
            <a:ext cx="695873" cy="1339043"/>
          </a:xfrm>
          <a:prstGeom prst="rect">
            <a:avLst/>
          </a:prstGeom>
        </p:spPr>
      </p:pic>
      <p:pic>
        <p:nvPicPr>
          <p:cNvPr id="45" name="图形 44" descr="试管">
            <a:extLst>
              <a:ext uri="{FF2B5EF4-FFF2-40B4-BE49-F238E27FC236}">
                <a16:creationId xmlns:a16="http://schemas.microsoft.com/office/drawing/2014/main" id="{76505800-1DBA-4742-3CB2-994900B59DF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38926" y="3633763"/>
            <a:ext cx="779142" cy="779142"/>
          </a:xfrm>
          <a:prstGeom prst="rect">
            <a:avLst/>
          </a:prstGeom>
        </p:spPr>
      </p:pic>
      <p:pic>
        <p:nvPicPr>
          <p:cNvPr id="46" name="图形 45" descr="可持续性">
            <a:extLst>
              <a:ext uri="{FF2B5EF4-FFF2-40B4-BE49-F238E27FC236}">
                <a16:creationId xmlns:a16="http://schemas.microsoft.com/office/drawing/2014/main" id="{BF713082-A9D8-D1C3-15DE-55C0286C994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13312" y="4783464"/>
            <a:ext cx="741557" cy="741557"/>
          </a:xfrm>
          <a:prstGeom prst="rect">
            <a:avLst/>
          </a:prstGeom>
        </p:spPr>
      </p:pic>
      <p:cxnSp>
        <p:nvCxnSpPr>
          <p:cNvPr id="47" name="直接连接符 46">
            <a:extLst>
              <a:ext uri="{FF2B5EF4-FFF2-40B4-BE49-F238E27FC236}">
                <a16:creationId xmlns:a16="http://schemas.microsoft.com/office/drawing/2014/main" id="{B04C5B53-00E4-B059-C75A-EE4419DF2A73}"/>
              </a:ext>
            </a:extLst>
          </p:cNvPr>
          <p:cNvCxnSpPr/>
          <p:nvPr/>
        </p:nvCxnSpPr>
        <p:spPr>
          <a:xfrm>
            <a:off x="633409" y="5804784"/>
            <a:ext cx="10850563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8" name="图片 47">
            <a:extLst>
              <a:ext uri="{FF2B5EF4-FFF2-40B4-BE49-F238E27FC236}">
                <a16:creationId xmlns:a16="http://schemas.microsoft.com/office/drawing/2014/main" id="{6BC1054D-F398-B51F-CFF2-148C11F3D056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5521279" y="5086702"/>
            <a:ext cx="1416449" cy="1121954"/>
          </a:xfrm>
          <a:prstGeom prst="rect">
            <a:avLst/>
          </a:prstGeom>
        </p:spPr>
      </p:pic>
      <p:sp>
        <p:nvSpPr>
          <p:cNvPr id="49" name="文本框 48">
            <a:extLst>
              <a:ext uri="{FF2B5EF4-FFF2-40B4-BE49-F238E27FC236}">
                <a16:creationId xmlns:a16="http://schemas.microsoft.com/office/drawing/2014/main" id="{6D4069BE-7A7F-FE19-96BF-A4910C4A25B1}"/>
              </a:ext>
            </a:extLst>
          </p:cNvPr>
          <p:cNvSpPr txBox="1"/>
          <p:nvPr/>
        </p:nvSpPr>
        <p:spPr>
          <a:xfrm>
            <a:off x="7598464" y="5878645"/>
            <a:ext cx="66846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>
                <a:solidFill>
                  <a:srgbClr val="002060"/>
                </a:solidFill>
              </a:rPr>
              <a:t>阶段 </a:t>
            </a:r>
            <a:r>
              <a:rPr lang="en-US" altLang="zh-CN" sz="2800" b="1" dirty="0">
                <a:solidFill>
                  <a:srgbClr val="002060"/>
                </a:solidFill>
              </a:rPr>
              <a:t>4</a:t>
            </a:r>
            <a:endParaRPr lang="zh-CN" altLang="en-US" sz="2800" b="1" dirty="0">
              <a:solidFill>
                <a:srgbClr val="002060"/>
              </a:solidFill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3079F96B-4FF3-B7AB-EA7C-707BDA56AB20}"/>
              </a:ext>
            </a:extLst>
          </p:cNvPr>
          <p:cNvSpPr txBox="1"/>
          <p:nvPr/>
        </p:nvSpPr>
        <p:spPr>
          <a:xfrm>
            <a:off x="8496992" y="3672030"/>
            <a:ext cx="34352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>
                <a:solidFill>
                  <a:srgbClr val="002060"/>
                </a:solidFill>
              </a:rPr>
              <a:t>阶段 </a:t>
            </a:r>
            <a:r>
              <a:rPr lang="en-US" altLang="zh-CN" sz="2800" b="1" dirty="0">
                <a:solidFill>
                  <a:srgbClr val="002060"/>
                </a:solidFill>
              </a:rPr>
              <a:t>3</a:t>
            </a:r>
            <a:endParaRPr lang="zh-CN" altLang="en-US" sz="2800" b="1" dirty="0">
              <a:solidFill>
                <a:srgbClr val="002060"/>
              </a:solidFill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35D6C36B-1D35-BBBC-7BD5-F267E388ABDE}"/>
              </a:ext>
            </a:extLst>
          </p:cNvPr>
          <p:cNvSpPr txBox="1"/>
          <p:nvPr/>
        </p:nvSpPr>
        <p:spPr>
          <a:xfrm>
            <a:off x="2753679" y="1911976"/>
            <a:ext cx="66846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>
                <a:solidFill>
                  <a:srgbClr val="002060"/>
                </a:solidFill>
              </a:rPr>
              <a:t>阶段 </a:t>
            </a:r>
            <a:r>
              <a:rPr lang="en-US" altLang="zh-CN" sz="2800" b="1" dirty="0">
                <a:solidFill>
                  <a:srgbClr val="002060"/>
                </a:solidFill>
              </a:rPr>
              <a:t>2</a:t>
            </a:r>
            <a:endParaRPr lang="zh-CN" altLang="en-US" sz="2800" b="1" dirty="0">
              <a:solidFill>
                <a:srgbClr val="002060"/>
              </a:solidFill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BD31B04F-B5BC-FA38-2EF4-A083BC49E7AD}"/>
              </a:ext>
            </a:extLst>
          </p:cNvPr>
          <p:cNvSpPr txBox="1"/>
          <p:nvPr/>
        </p:nvSpPr>
        <p:spPr>
          <a:xfrm>
            <a:off x="-1058906" y="3669905"/>
            <a:ext cx="59125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>
                <a:solidFill>
                  <a:srgbClr val="002060"/>
                </a:solidFill>
              </a:rPr>
              <a:t>阶段 </a:t>
            </a:r>
            <a:r>
              <a:rPr lang="en-US" altLang="zh-CN" sz="2800" b="1" dirty="0">
                <a:solidFill>
                  <a:srgbClr val="002060"/>
                </a:solidFill>
              </a:rPr>
              <a:t>1</a:t>
            </a:r>
            <a:endParaRPr lang="zh-CN" altLang="en-US" sz="2800" b="1" dirty="0">
              <a:solidFill>
                <a:srgbClr val="002060"/>
              </a:solidFill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C575430D-A0BC-3C02-A0BC-BB7FD93F98B4}"/>
              </a:ext>
            </a:extLst>
          </p:cNvPr>
          <p:cNvSpPr txBox="1"/>
          <p:nvPr/>
        </p:nvSpPr>
        <p:spPr>
          <a:xfrm>
            <a:off x="-2266891" y="5949962"/>
            <a:ext cx="66846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>
                <a:solidFill>
                  <a:srgbClr val="002060"/>
                </a:solidFill>
              </a:rPr>
              <a:t>阶段 </a:t>
            </a:r>
            <a:r>
              <a:rPr lang="en-US" altLang="zh-CN" sz="2800" b="1" dirty="0">
                <a:solidFill>
                  <a:srgbClr val="002060"/>
                </a:solidFill>
              </a:rPr>
              <a:t>0</a:t>
            </a:r>
            <a:endParaRPr lang="zh-CN" altLang="en-US" sz="2800" b="1" dirty="0">
              <a:solidFill>
                <a:srgbClr val="002060"/>
              </a:solidFill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9E7A1D7B-E972-13AC-20E5-4E164C944555}"/>
              </a:ext>
            </a:extLst>
          </p:cNvPr>
          <p:cNvSpPr txBox="1"/>
          <p:nvPr/>
        </p:nvSpPr>
        <p:spPr>
          <a:xfrm>
            <a:off x="497636" y="4456864"/>
            <a:ext cx="3012457" cy="128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zh-CN" altLang="zh-CN" dirty="0">
                <a:latin typeface="+mn-ea"/>
              </a:rPr>
              <a:t>冻结并核实硬件，确认 Flash/PSRAM 容量与电源稳定性，统一型号描述</a:t>
            </a: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7F8B55F2-FF3F-8718-54B5-D63A14218FAD}"/>
              </a:ext>
            </a:extLst>
          </p:cNvPr>
          <p:cNvSpPr txBox="1"/>
          <p:nvPr/>
        </p:nvSpPr>
        <p:spPr>
          <a:xfrm>
            <a:off x="8457267" y="4400029"/>
            <a:ext cx="3151834" cy="128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50000"/>
              </a:lnSpc>
              <a:buNone/>
            </a:pPr>
            <a:r>
              <a:rPr lang="zh-CN" altLang="en-US" dirty="0">
                <a:latin typeface="+mn-ea"/>
              </a:rPr>
              <a:t>有余力时训练轻量 </a:t>
            </a:r>
            <a:r>
              <a:rPr lang="en-US" altLang="zh-CN" dirty="0">
                <a:latin typeface="+mn-ea"/>
              </a:rPr>
              <a:t>IMU </a:t>
            </a:r>
            <a:r>
              <a:rPr lang="zh-CN" altLang="en-US" dirty="0">
                <a:latin typeface="+mn-ea"/>
              </a:rPr>
              <a:t>分类器，评估震动马达、心率血氧等增强项</a:t>
            </a:r>
            <a:endParaRPr lang="zh-CN" altLang="zh-CN" dirty="0">
              <a:latin typeface="+mn-ea"/>
            </a:endParaRP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BE361A89-8C74-FD7D-E9BC-5C2157F51F6C}"/>
              </a:ext>
            </a:extLst>
          </p:cNvPr>
          <p:cNvSpPr txBox="1"/>
          <p:nvPr/>
        </p:nvSpPr>
        <p:spPr>
          <a:xfrm>
            <a:off x="6670719" y="2606822"/>
            <a:ext cx="4843455" cy="8739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50000"/>
              </a:lnSpc>
              <a:buNone/>
            </a:pPr>
            <a:r>
              <a:rPr lang="zh-CN" altLang="en-US" dirty="0">
                <a:latin typeface="+mn-ea"/>
              </a:rPr>
              <a:t>完成路由器</a:t>
            </a:r>
            <a:r>
              <a:rPr lang="en-US" altLang="zh-CN" dirty="0">
                <a:latin typeface="+mn-ea"/>
              </a:rPr>
              <a:t>/</a:t>
            </a:r>
            <a:r>
              <a:rPr lang="zh-CN" altLang="en-US" dirty="0">
                <a:latin typeface="+mn-ea"/>
              </a:rPr>
              <a:t>手机热点远程看护演示、事件上传与断网重试机制</a:t>
            </a:r>
            <a:endParaRPr lang="zh-CN" altLang="zh-CN" dirty="0">
              <a:latin typeface="+mn-ea"/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5987DD12-66B1-7555-B5F7-642E44C33040}"/>
              </a:ext>
            </a:extLst>
          </p:cNvPr>
          <p:cNvSpPr txBox="1"/>
          <p:nvPr/>
        </p:nvSpPr>
        <p:spPr>
          <a:xfrm>
            <a:off x="2180154" y="1301520"/>
            <a:ext cx="8098697" cy="4584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zh-CN" altLang="en-US" dirty="0">
                <a:latin typeface="+mn-ea"/>
              </a:rPr>
              <a:t>实现 </a:t>
            </a:r>
            <a:r>
              <a:rPr lang="en-US" altLang="zh-CN" dirty="0">
                <a:latin typeface="+mn-ea"/>
              </a:rPr>
              <a:t>TTC </a:t>
            </a:r>
            <a:r>
              <a:rPr lang="zh-CN" altLang="en-US" dirty="0">
                <a:latin typeface="+mn-ea"/>
              </a:rPr>
              <a:t>风险判断、二阶段异常确认、</a:t>
            </a:r>
            <a:r>
              <a:rPr lang="en-US" altLang="zh-CN" dirty="0" err="1">
                <a:latin typeface="+mn-ea"/>
              </a:rPr>
              <a:t>CareEvent</a:t>
            </a:r>
            <a:r>
              <a:rPr lang="en-US" altLang="zh-CN" dirty="0">
                <a:latin typeface="+mn-ea"/>
              </a:rPr>
              <a:t> </a:t>
            </a:r>
            <a:r>
              <a:rPr lang="zh-CN" altLang="en-US" dirty="0">
                <a:latin typeface="+mn-ea"/>
              </a:rPr>
              <a:t>证据包与传感器特征缓冲</a:t>
            </a:r>
            <a:endParaRPr lang="zh-CN" altLang="zh-CN" dirty="0">
              <a:latin typeface="+mn-ea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92BACB6F-F67F-1A36-C870-D7B49F6A7188}"/>
              </a:ext>
            </a:extLst>
          </p:cNvPr>
          <p:cNvSpPr txBox="1"/>
          <p:nvPr/>
        </p:nvSpPr>
        <p:spPr>
          <a:xfrm>
            <a:off x="633409" y="2587974"/>
            <a:ext cx="4959114" cy="8739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zh-CN" altLang="en-US" dirty="0">
                <a:latin typeface="+mn-ea"/>
              </a:rPr>
              <a:t>完成 </a:t>
            </a:r>
            <a:r>
              <a:rPr lang="en-US" altLang="zh-CN" dirty="0" err="1">
                <a:latin typeface="+mn-ea"/>
              </a:rPr>
              <a:t>FreeRTOS</a:t>
            </a:r>
            <a:r>
              <a:rPr lang="en-US" altLang="zh-CN" dirty="0">
                <a:latin typeface="+mn-ea"/>
              </a:rPr>
              <a:t> </a:t>
            </a:r>
            <a:r>
              <a:rPr lang="zh-CN" altLang="en-US" dirty="0">
                <a:latin typeface="+mn-ea"/>
              </a:rPr>
              <a:t>任务化、超声波滤波滞回与本地基本功能稳定</a:t>
            </a:r>
            <a:endParaRPr lang="zh-CN" altLang="zh-CN" dirty="0">
              <a:latin typeface="+mn-ea"/>
            </a:endParaRPr>
          </a:p>
        </p:txBody>
      </p:sp>
      <p:grpSp>
        <p:nvGrpSpPr>
          <p:cNvPr id="61" name="组合 60">
            <a:extLst>
              <a:ext uri="{FF2B5EF4-FFF2-40B4-BE49-F238E27FC236}">
                <a16:creationId xmlns:a16="http://schemas.microsoft.com/office/drawing/2014/main" id="{106D7536-89EF-37E7-3F80-18A567C7CFB9}"/>
              </a:ext>
            </a:extLst>
          </p:cNvPr>
          <p:cNvGrpSpPr/>
          <p:nvPr/>
        </p:nvGrpSpPr>
        <p:grpSpPr>
          <a:xfrm>
            <a:off x="220311" y="260658"/>
            <a:ext cx="9557028" cy="1147380"/>
            <a:chOff x="3757353" y="2483040"/>
            <a:chExt cx="9557028" cy="1147380"/>
          </a:xfrm>
        </p:grpSpPr>
        <p:sp>
          <p:nvSpPr>
            <p:cNvPr id="62" name="椭圆 61">
              <a:extLst>
                <a:ext uri="{FF2B5EF4-FFF2-40B4-BE49-F238E27FC236}">
                  <a16:creationId xmlns:a16="http://schemas.microsoft.com/office/drawing/2014/main" id="{5176C6DE-BB34-6E97-FFAF-E096EAB0DB86}"/>
                </a:ext>
              </a:extLst>
            </p:cNvPr>
            <p:cNvSpPr/>
            <p:nvPr/>
          </p:nvSpPr>
          <p:spPr>
            <a:xfrm>
              <a:off x="3757353" y="2603655"/>
              <a:ext cx="1420191" cy="58110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accent2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63" name="文本框 62">
              <a:extLst>
                <a:ext uri="{FF2B5EF4-FFF2-40B4-BE49-F238E27FC236}">
                  <a16:creationId xmlns:a16="http://schemas.microsoft.com/office/drawing/2014/main" id="{C21DB713-8E29-389D-68E7-62EA21AFBDEB}"/>
                </a:ext>
              </a:extLst>
            </p:cNvPr>
            <p:cNvSpPr txBox="1"/>
            <p:nvPr/>
          </p:nvSpPr>
          <p:spPr>
            <a:xfrm>
              <a:off x="4022118" y="2483040"/>
              <a:ext cx="89066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4800" dirty="0">
                  <a:solidFill>
                    <a:srgbClr val="003F88"/>
                  </a:solidFill>
                  <a:effectLst>
                    <a:outerShdw blurRad="38100" dist="38100" dir="2700000" algn="tl" rotWithShape="0">
                      <a:schemeClr val="accent5">
                        <a:lumMod val="75000"/>
                        <a:alpha val="51000"/>
                      </a:schemeClr>
                    </a:outerShdw>
                  </a:effectLst>
                  <a:latin typeface="Impact" panose="020B0806030902050204" pitchFamily="34" charset="0"/>
                </a:rPr>
                <a:t>06</a:t>
              </a:r>
              <a:endParaRPr lang="zh-CN" altLang="en-US" sz="4800" dirty="0">
                <a:solidFill>
                  <a:srgbClr val="003F88"/>
                </a:solidFill>
                <a:effectLst>
                  <a:outerShdw blurRad="38100" dist="38100" dir="2700000" algn="tl" rotWithShape="0">
                    <a:schemeClr val="accent5">
                      <a:lumMod val="75000"/>
                      <a:alpha val="51000"/>
                    </a:schemeClr>
                  </a:outerShdw>
                </a:effectLst>
                <a:latin typeface="Impact" panose="020B0806030902050204" pitchFamily="34" charset="0"/>
              </a:endParaRPr>
            </a:p>
          </p:txBody>
        </p:sp>
        <p:sp>
          <p:nvSpPr>
            <p:cNvPr id="64" name="文本占位符 9">
              <a:extLst>
                <a:ext uri="{FF2B5EF4-FFF2-40B4-BE49-F238E27FC236}">
                  <a16:creationId xmlns:a16="http://schemas.microsoft.com/office/drawing/2014/main" id="{BAE60956-ED80-7C76-D26E-82B839C2EF46}"/>
                </a:ext>
              </a:extLst>
            </p:cNvPr>
            <p:cNvSpPr txBox="1">
              <a:spLocks/>
            </p:cNvSpPr>
            <p:nvPr/>
          </p:nvSpPr>
          <p:spPr>
            <a:xfrm>
              <a:off x="5215684" y="2808095"/>
              <a:ext cx="8098697" cy="822325"/>
            </a:xfrm>
            <a:prstGeom prst="rect">
              <a:avLst/>
            </a:prstGeom>
            <a:ln>
              <a:noFill/>
            </a:ln>
          </p:spPr>
          <p:txBody>
            <a:bodyPr vert="horz" lIns="91440" tIns="45720" rIns="91440" bIns="45720" rtlCol="0" anchor="ctr">
              <a:noAutofit/>
            </a:bodyPr>
            <a:lstStyle>
              <a:defPPr>
                <a:defRPr lang="zh-CN"/>
              </a:defPPr>
              <a:lvl1pPr marL="0" indent="0" algn="dist" defTabSz="914400" rtl="0" eaLnBrk="1" latinLnBrk="0" hangingPunct="1">
                <a:buNone/>
                <a:defRPr sz="8000" b="1" kern="1200">
                  <a:solidFill>
                    <a:srgbClr val="002060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zh-CN" altLang="en-US" sz="4400" spc="400" dirty="0">
                  <a:solidFill>
                    <a:srgbClr val="003F88"/>
                  </a:solidFill>
                  <a:effectLst>
                    <a:outerShdw blurRad="12700" dist="38100" dir="3600000" sx="102000" sy="102000" algn="tl" rotWithShape="0">
                      <a:schemeClr val="accent5">
                        <a:lumMod val="75000"/>
                        <a:alpha val="30000"/>
                      </a:schemeClr>
                    </a:outerShdw>
                  </a:effectLst>
                </a:rPr>
                <a:t>下一阶段规划</a:t>
              </a:r>
              <a:r>
                <a:rPr lang="en-US" altLang="zh-CN" sz="3600" spc="400" dirty="0">
                  <a:solidFill>
                    <a:srgbClr val="003F88"/>
                  </a:solidFill>
                  <a:effectLst>
                    <a:outerShdw blurRad="12700" dist="38100" dir="3600000" sx="102000" sy="102000" algn="tl" rotWithShape="0">
                      <a:schemeClr val="accent5">
                        <a:lumMod val="75000"/>
                        <a:alpha val="30000"/>
                      </a:schemeClr>
                    </a:outerShdw>
                  </a:effectLst>
                </a:rPr>
                <a:t>-</a:t>
              </a:r>
              <a:r>
                <a:rPr lang="zh-CN" altLang="en-US" sz="3600" spc="400" dirty="0">
                  <a:solidFill>
                    <a:srgbClr val="003F88"/>
                  </a:solidFill>
                  <a:effectLst>
                    <a:outerShdw blurRad="12700" dist="38100" dir="3600000" sx="102000" sy="102000" algn="tl" rotWithShape="0">
                      <a:schemeClr val="accent5">
                        <a:lumMod val="75000"/>
                        <a:alpha val="30000"/>
                      </a:schemeClr>
                    </a:outerShdw>
                  </a:effectLst>
                </a:rPr>
                <a:t>提升安全性📌</a:t>
              </a:r>
              <a:endParaRPr lang="zh-CN" altLang="en-US" sz="4400" spc="400" dirty="0">
                <a:solidFill>
                  <a:srgbClr val="003F88"/>
                </a:solidFill>
                <a:effectLst>
                  <a:outerShdw blurRad="12700" dist="38100" dir="3600000" sx="102000" sy="102000" algn="tl" rotWithShape="0">
                    <a:schemeClr val="accent5">
                      <a:lumMod val="75000"/>
                      <a:alpha val="30000"/>
                    </a:schemeClr>
                  </a:outerShdw>
                </a:effectLst>
              </a:endParaRPr>
            </a:p>
            <a:p>
              <a:pPr algn="l"/>
              <a:endParaRPr lang="zh-CN" altLang="en-US" sz="4400" spc="400" dirty="0">
                <a:solidFill>
                  <a:srgbClr val="003F88"/>
                </a:solidFill>
                <a:effectLst>
                  <a:outerShdw blurRad="12700" dist="38100" dir="3600000" sx="102000" sy="102000" algn="tl" rotWithShape="0">
                    <a:schemeClr val="accent5">
                      <a:lumMod val="75000"/>
                      <a:alpha val="30000"/>
                    </a:schemeClr>
                  </a:outerShd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66011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4.26519685039364,&quot;left&quot;:340.73110236220475,&quot;top&quot;:95.15700787401575,&quot;width&quot;:575.5021259842518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4.26519685039364,&quot;left&quot;:340.73110236220475,&quot;top&quot;:95.15700787401575,&quot;width&quot;:575.5021259842518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4.26519685039364,&quot;left&quot;:340.73110236220475,&quot;top&quot;:95.15700787401575,&quot;width&quot;:575.5021259842518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4.26519685039364,&quot;left&quot;:340.73110236220475,&quot;top&quot;:95.15700787401575,&quot;width&quot;:575.5021259842518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4.26519685039364,&quot;left&quot;:340.73110236220475,&quot;top&quot;:95.15700787401575,&quot;width&quot;:575.5021259842518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4.26519685039364,&quot;left&quot;:340.73110236220475,&quot;top&quot;:95.15700787401575,&quot;width&quot;:575.5021259842518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4.26519685039364,&quot;left&quot;:340.73110236220475,&quot;top&quot;:95.15700787401575,&quot;width&quot;:575.5021259842518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4.26519685039364,&quot;left&quot;:340.73110236220475,&quot;top&quot;:95.15700787401575,&quot;width&quot;:575.5021259842518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4.26519685039364,&quot;left&quot;:340.73110236220475,&quot;top&quot;:95.15700787401575,&quot;width&quot;:575.5021259842518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4.26519685039364,&quot;left&quot;:340.73110236220475,&quot;top&quot;:95.15700787401575,&quot;width&quot;:575.5021259842518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4.26519685039364,&quot;left&quot;:340.73110236220475,&quot;top&quot;:95.15700787401575,&quot;width&quot;:575.5021259842518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4.26519685039364,&quot;left&quot;:340.73110236220475,&quot;top&quot;:95.15700787401575,&quot;width&quot;:575.5021259842518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4.26519685039364,&quot;left&quot;:340.73110236220475,&quot;top&quot;:95.15700787401575,&quot;width&quot;:575.5021259842518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4.26519685039364,&quot;left&quot;:340.73110236220475,&quot;top&quot;:95.15700787401575,&quot;width&quot;:575.5021259842518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4.26519685039364,&quot;left&quot;:340.73110236220475,&quot;top&quot;:95.15700787401575,&quot;width&quot;:575.5021259842518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4.26519685039364,&quot;left&quot;:340.73110236220475,&quot;top&quot;:95.15700787401575,&quot;width&quot;:575.5021259842518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4.26519685039364,&quot;left&quot;:340.73110236220475,&quot;top&quot;:95.15700787401575,&quot;width&quot;:575.5021259842518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4.26519685039364,&quot;left&quot;:340.73110236220475,&quot;top&quot;:95.15700787401575,&quot;width&quot;:575.5021259842518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2.07322834645663,&quot;left&quot;:23.148188976377952,&quot;top&quot;:106.34338582677165,&quot;width&quot;:1072.9655118110236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2.07322834645663,&quot;left&quot;:23.148188976377952,&quot;top&quot;:106.34338582677165,&quot;width&quot;:1072.9655118110236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2.07322834645663,&quot;left&quot;:23.148188976377952,&quot;top&quot;:106.34338582677165,&quot;width&quot;:1072.9655118110236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2.07322834645663,&quot;left&quot;:23.148188976377952,&quot;top&quot;:106.34338582677165,&quot;width&quot;:1072.9655118110236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2.07322834645663,&quot;left&quot;:23.148188976377952,&quot;top&quot;:106.34338582677165,&quot;width&quot;:1072.9655118110236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2.07322834645663,&quot;left&quot;:23.148188976377952,&quot;top&quot;:106.34338582677165,&quot;width&quot;:1072.9655118110236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2.07322834645663,&quot;left&quot;:23.148188976377952,&quot;top&quot;:106.34338582677165,&quot;width&quot;:1072.9655118110236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2.07322834645663,&quot;left&quot;:23.148188976377952,&quot;top&quot;:106.34338582677165,&quot;width&quot;:1072.9655118110236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2.07322834645663,&quot;left&quot;:23.148188976377952,&quot;top&quot;:106.34338582677165,&quot;width&quot;:1072.9655118110236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2.07322834645663,&quot;left&quot;:23.148188976377952,&quot;top&quot;:106.34338582677165,&quot;width&quot;:1072.9655118110236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2.07322834645663,&quot;left&quot;:23.148188976377952,&quot;top&quot;:106.34338582677165,&quot;width&quot;:1072.9655118110236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2.07322834645663,&quot;left&quot;:23.148188976377952,&quot;top&quot;:106.34338582677165,&quot;width&quot;:1072.9655118110236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2.07322834645663,&quot;left&quot;:23.148188976377952,&quot;top&quot;:106.34338582677165,&quot;width&quot;:1072.9655118110236}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2.07322834645663,&quot;left&quot;:23.148188976377952,&quot;top&quot;:106.34338582677165,&quot;width&quot;:1072.9655118110236}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2.07322834645663,&quot;left&quot;:23.148188976377952,&quot;top&quot;:106.34338582677165,&quot;width&quot;:1072.9655118110236}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2.07322834645663,&quot;left&quot;:23.148188976377952,&quot;top&quot;:106.34338582677165,&quot;width&quot;:1072.9655118110236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微arial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1493</TotalTime>
  <Words>2932</Words>
  <Application>Microsoft Office PowerPoint</Application>
  <PresentationFormat>宽屏</PresentationFormat>
  <Paragraphs>230</Paragraphs>
  <Slides>16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5" baseType="lpstr">
      <vt:lpstr>等线</vt:lpstr>
      <vt:lpstr>黑体</vt:lpstr>
      <vt:lpstr>宋体</vt:lpstr>
      <vt:lpstr>微软雅黑</vt:lpstr>
      <vt:lpstr>Arial</vt:lpstr>
      <vt:lpstr>Calibri</vt:lpstr>
      <vt:lpstr>Georgia</vt:lpstr>
      <vt:lpstr>Impact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s</dc:creator>
  <cp:lastModifiedBy>yh z</cp:lastModifiedBy>
  <cp:revision>49</cp:revision>
  <dcterms:created xsi:type="dcterms:W3CDTF">2024-06-04T23:12:24Z</dcterms:created>
  <dcterms:modified xsi:type="dcterms:W3CDTF">2026-08-13T04:27:20Z</dcterms:modified>
</cp:coreProperties>
</file>