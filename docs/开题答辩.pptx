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307" r:id="rId4"/>
    <p:sldId id="347" r:id="rId5"/>
    <p:sldId id="319" r:id="rId7"/>
    <p:sldId id="348" r:id="rId8"/>
    <p:sldId id="350" r:id="rId9"/>
    <p:sldId id="351" r:id="rId10"/>
    <p:sldId id="352" r:id="rId11"/>
    <p:sldId id="353" r:id="rId12"/>
    <p:sldId id="339" r:id="rId13"/>
    <p:sldId id="349" r:id="rId14"/>
    <p:sldId id="345" r:id="rId15"/>
    <p:sldId id="340" r:id="rId16"/>
    <p:sldId id="341" r:id="rId17"/>
    <p:sldId id="336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8"/>
    <a:srgbClr val="E6E6E6"/>
    <a:srgbClr val="93BFF5"/>
    <a:srgbClr val="1F3D8C"/>
    <a:srgbClr val="8994BD"/>
    <a:srgbClr val="96A2D0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120" y="67"/>
      </p:cViewPr>
      <p:guideLst>
        <p:guide orient="horz" pos="2181"/>
        <p:guide pos="3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56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E9EBC71-470F-4178-8939-B7F43C998C3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7F53EF-5364-44E3-BFA2-84231755F7E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当检测到跌倒、</a:t>
            </a:r>
            <a:r>
              <a:rPr lang="en-US" altLang="zh-CN"/>
              <a:t>SOS </a:t>
            </a:r>
            <a:r>
              <a:rPr lang="zh-CN" altLang="en-US"/>
              <a:t>或异常状态时，系统可立即触发蜂鸣器、震动马达和</a:t>
            </a:r>
            <a:r>
              <a:rPr lang="en-US" altLang="zh-CN"/>
              <a:t> LED </a:t>
            </a:r>
            <a:r>
              <a:rPr lang="zh-CN" altLang="en-US"/>
              <a:t>报警，并通过</a:t>
            </a:r>
            <a:r>
              <a:rPr lang="en-US" altLang="zh-CN"/>
              <a:t> WiFi </a:t>
            </a:r>
            <a:r>
              <a:rPr lang="zh-CN" altLang="en-US"/>
              <a:t>将位置信息、设备状态和现场图像回传到手机或电脑网页端，辅助家属远程判断现场情况。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WiFi </a:t>
            </a:r>
            <a:r>
              <a:rPr lang="zh-CN" altLang="en-US" dirty="0"/>
              <a:t>网页显示，通过</a:t>
            </a:r>
            <a:r>
              <a:rPr lang="en-US" altLang="zh-CN" dirty="0"/>
              <a:t>wifi</a:t>
            </a:r>
            <a:r>
              <a:rPr lang="zh-CN" altLang="en-US" dirty="0"/>
              <a:t>模块和蓝牙模块连接手机或电脑访问网页端查看状态，显示</a:t>
            </a:r>
            <a:r>
              <a:rPr lang="en-US" altLang="zh-CN" dirty="0"/>
              <a:t>GPS</a:t>
            </a:r>
            <a:r>
              <a:rPr lang="zh-CN" altLang="en-US" dirty="0"/>
              <a:t>定位、现场图像和设备状态等信息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系统基于</a:t>
            </a:r>
            <a:r>
              <a:rPr lang="en-US" altLang="zh-CN" dirty="0"/>
              <a:t>FreeRTOS</a:t>
            </a:r>
            <a:r>
              <a:rPr lang="zh-CN" altLang="en-US" dirty="0"/>
              <a:t>构建多任务架构，各任务之间通过消息队列进行通信，实现传感器数据采集、状态判断、报警控制和网络传输的并行处理。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供电不稳定：摄像头和</a:t>
            </a:r>
            <a:r>
              <a:rPr lang="en-US" altLang="zh-CN">
                <a:sym typeface="+mn-ea"/>
              </a:rPr>
              <a:t> WiFi </a:t>
            </a:r>
            <a:r>
              <a:rPr lang="zh-CN" altLang="en-US">
                <a:sym typeface="+mn-ea"/>
              </a:rPr>
              <a:t>工作时电流波动较大。使用独立稳压模块，保证</a:t>
            </a:r>
            <a:r>
              <a:rPr lang="en-US" altLang="zh-CN">
                <a:sym typeface="+mn-ea"/>
              </a:rPr>
              <a:t> 5V/3.3V </a:t>
            </a:r>
            <a:r>
              <a:rPr lang="zh-CN" altLang="en-US">
                <a:sym typeface="+mn-ea"/>
              </a:rPr>
              <a:t>电源余量</a:t>
            </a:r>
            <a:endParaRPr lang="zh-CN" altLang="en-US">
              <a:sym typeface="+mn-ea"/>
            </a:endParaRPr>
          </a:p>
          <a:p>
            <a:pPr indent="0">
              <a:lnSpc>
                <a:spcPct val="150000"/>
              </a:lnSpc>
              <a:buFont typeface="+mj-lt"/>
              <a:buNone/>
            </a:pPr>
            <a:r>
              <a:rPr lang="zh-CN" altLang="en-US"/>
              <a:t>摄像头图传卡顿：</a:t>
            </a:r>
            <a:r>
              <a:rPr lang="en-US" altLang="zh-CN"/>
              <a:t>WiFi </a:t>
            </a:r>
            <a:r>
              <a:rPr lang="zh-CN" altLang="en-US"/>
              <a:t>环境差或图像分辨率过高。优先采用</a:t>
            </a:r>
            <a:r>
              <a:rPr lang="en-US" altLang="zh-CN"/>
              <a:t> AP </a:t>
            </a:r>
            <a:r>
              <a:rPr lang="zh-CN" altLang="en-US"/>
              <a:t>模式演示，使用</a:t>
            </a:r>
            <a:r>
              <a:rPr lang="en-US" altLang="zh-CN"/>
              <a:t> QVGA/VGA </a:t>
            </a:r>
            <a:r>
              <a:rPr lang="zh-CN" altLang="en-US"/>
              <a:t>分辨率</a:t>
            </a:r>
            <a:br>
              <a:rPr lang="zh-CN" altLang="en-US"/>
            </a:br>
            <a:r>
              <a:rPr kumimoji="1" lang="en-US" altLang="zh-CN" b="1" dirty="0">
                <a:solidFill>
                  <a:schemeClr val="bg1"/>
                </a:solidFill>
                <a:sym typeface="+mn-ea"/>
              </a:rPr>
              <a:t>ESP32-CAM 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引脚不足：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优先选择 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ESP32-S3-CAM 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或合理规划串口、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I2C</a:t>
            </a:r>
            <a:r>
              <a:rPr kumimoji="1" lang="zh-CN" altLang="pl-PL" b="1" dirty="0">
                <a:solidFill>
                  <a:schemeClr val="bg1"/>
                </a:solidFill>
                <a:latin typeface="+mn-ea"/>
                <a:sym typeface="+mn-ea"/>
              </a:rPr>
              <a:t>、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GPIO</a:t>
            </a:r>
            <a:r>
              <a:rPr kumimoji="1" lang="zh-CN" altLang="pl-PL" b="1" dirty="0">
                <a:solidFill>
                  <a:schemeClr val="bg1"/>
                </a:solidFill>
                <a:latin typeface="+mn-ea"/>
                <a:sym typeface="+mn-ea"/>
              </a:rPr>
              <a:t>。或者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可以考虑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stm32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和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esp32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双</a:t>
            </a:r>
            <a:r>
              <a:rPr kumimoji="1" lang="pl-PL" altLang="zh-CN" b="1" dirty="0">
                <a:solidFill>
                  <a:schemeClr val="bg1"/>
                </a:solidFill>
                <a:latin typeface="+mn-ea"/>
                <a:sym typeface="+mn-ea"/>
              </a:rPr>
              <a:t>mcu</a:t>
            </a:r>
            <a:r>
              <a:rPr kumimoji="1" lang="zh-CN" altLang="pl-PL" b="1" dirty="0">
                <a:solidFill>
                  <a:schemeClr val="bg1"/>
                </a:solidFill>
                <a:latin typeface="+mn-ea"/>
                <a:sym typeface="+mn-ea"/>
              </a:rPr>
              <a:t>。</a:t>
            </a:r>
            <a:endParaRPr kumimoji="1" lang="en-US" altLang="zh-CN" b="1" dirty="0">
              <a:solidFill>
                <a:schemeClr val="bg1"/>
              </a:solidFill>
              <a:latin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25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7.svg"/><Relationship Id="rId17" Type="http://schemas.openxmlformats.org/officeDocument/2006/relationships/image" Target="../media/image6.png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.png"/><Relationship Id="rId17" Type="http://schemas.openxmlformats.org/officeDocument/2006/relationships/tags" Target="../tags/tag55.xml"/><Relationship Id="rId16" Type="http://schemas.openxmlformats.org/officeDocument/2006/relationships/image" Target="../media/image12.png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2596045" y="4879768"/>
            <a:ext cx="663094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小组成员：成员A、成员B、成员C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2026 / 7 / 8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829192" y="1955764"/>
            <a:ext cx="8371201" cy="1667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pl-PL" altLang="zh-CN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ESP32</a:t>
            </a:r>
            <a:r>
              <a:rPr lang="zh-CN" altLang="en-US" sz="48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的智能拐杖系统</a:t>
            </a:r>
            <a:endParaRPr lang="en-US" altLang="zh-CN" sz="48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嵌入式系统高级实验开题报告</a:t>
            </a:r>
            <a:endParaRPr lang="en-US" altLang="zh-CN" sz="32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+mj-ea"/>
                <a:ea typeface="+mj-ea"/>
              </a:rPr>
              <a:t>目 录</a:t>
            </a:r>
            <a:endParaRPr lang="en-US" altLang="zh-CN" sz="5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4327285" y="1248255"/>
            <a:ext cx="3746950" cy="4169682"/>
            <a:chOff x="4752596" y="703301"/>
            <a:chExt cx="5686546" cy="4169682"/>
          </a:xfrm>
        </p:grpSpPr>
        <p:grpSp>
          <p:nvGrpSpPr>
            <p:cNvPr id="38" name="组合 37"/>
            <p:cNvGrpSpPr/>
            <p:nvPr/>
          </p:nvGrpSpPr>
          <p:grpSpPr>
            <a:xfrm>
              <a:off x="4752596" y="703301"/>
              <a:ext cx="5686546" cy="931253"/>
              <a:chOff x="5399714" y="1249447"/>
              <a:chExt cx="5686546" cy="931253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18" name="矩形: 对角圆角 17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文本框 15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1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6" name="文本框 3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88424" y="1380521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项目背景与目标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4752596" y="1844084"/>
              <a:ext cx="5686546" cy="931253"/>
              <a:chOff x="5399714" y="1249447"/>
              <a:chExt cx="5686546" cy="931253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23" name="矩形: 对角圆角 2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文本框 23"/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2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2" name="文本框 2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388424" y="1380521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平台选择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752596" y="2888637"/>
              <a:ext cx="5686546" cy="931253"/>
              <a:chOff x="5399714" y="1249447"/>
              <a:chExt cx="5686546" cy="931253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28" name="矩形: 对角圆角 2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文本框 28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3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7" name="文本框 2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388425" y="1380521"/>
                <a:ext cx="469783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硬件组成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4752596" y="3941730"/>
              <a:ext cx="5686546" cy="931253"/>
              <a:chOff x="5399714" y="1249447"/>
              <a:chExt cx="5686546" cy="931253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33" name="矩形: 对角圆角 32"/>
                <p:cNvSpPr/>
                <p:nvPr/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4" name="文本框 3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4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2" name="文本框 31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6388424" y="1380521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功能和性能指标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" name="组合 2"/>
          <p:cNvGrpSpPr/>
          <p:nvPr>
            <p:custDataLst>
              <p:tags r:id="rId13"/>
            </p:custDataLst>
          </p:nvPr>
        </p:nvGrpSpPr>
        <p:grpSpPr>
          <a:xfrm>
            <a:off x="7844838" y="1208494"/>
            <a:ext cx="3791324" cy="4322638"/>
            <a:chOff x="4685252" y="703301"/>
            <a:chExt cx="5753890" cy="4322638"/>
          </a:xfrm>
        </p:grpSpPr>
        <p:grpSp>
          <p:nvGrpSpPr>
            <p:cNvPr id="4" name="组合 3"/>
            <p:cNvGrpSpPr/>
            <p:nvPr/>
          </p:nvGrpSpPr>
          <p:grpSpPr>
            <a:xfrm>
              <a:off x="4752596" y="703301"/>
              <a:ext cx="5686546" cy="931253"/>
              <a:chOff x="5399714" y="1249447"/>
              <a:chExt cx="5686546" cy="931253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54" name="矩形: 对角圆角 5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5" name="文本框 54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5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3" name="文本框 5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388424" y="1380521"/>
                <a:ext cx="46978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系统设计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4685252" y="1879505"/>
              <a:ext cx="5753890" cy="895832"/>
              <a:chOff x="5332370" y="1284868"/>
              <a:chExt cx="5753890" cy="895832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5332370" y="1284868"/>
                <a:ext cx="763630" cy="895832"/>
                <a:chOff x="5332370" y="1284868"/>
                <a:chExt cx="763630" cy="895832"/>
              </a:xfrm>
            </p:grpSpPr>
            <p:sp>
              <p:nvSpPr>
                <p:cNvPr id="50" name="矩形: 对角圆角 4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" name="文本框 50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5332370" y="1284868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6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文本框 48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388424" y="1380521"/>
                <a:ext cx="4697836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开发难点估计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4752596" y="2888637"/>
              <a:ext cx="5686546" cy="931253"/>
              <a:chOff x="5399714" y="1249447"/>
              <a:chExt cx="5686546" cy="931253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46" name="矩形: 对角圆角 45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7" name="文本框 46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7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5" name="文本框 44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6388424" y="1380521"/>
                <a:ext cx="4697836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预期成果及创新点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4752596" y="3941730"/>
              <a:ext cx="5686546" cy="1084209"/>
              <a:chOff x="5399714" y="1249447"/>
              <a:chExt cx="5686546" cy="1084209"/>
            </a:xfrm>
          </p:grpSpPr>
          <p:grpSp>
            <p:nvGrpSpPr>
              <p:cNvPr id="40" name="组合 39"/>
              <p:cNvGrpSpPr/>
              <p:nvPr/>
            </p:nvGrpSpPr>
            <p:grpSpPr>
              <a:xfrm>
                <a:off x="5399714" y="1249447"/>
                <a:ext cx="770179" cy="931253"/>
                <a:chOff x="5399714" y="1249447"/>
                <a:chExt cx="770179" cy="931253"/>
              </a:xfrm>
            </p:grpSpPr>
            <p:sp>
              <p:nvSpPr>
                <p:cNvPr id="42" name="矩形: 对角圆角 41"/>
                <p:cNvSpPr/>
                <p:nvPr/>
              </p:nvSpPr>
              <p:spPr>
                <a:xfrm>
                  <a:off x="5399714" y="1895803"/>
                  <a:ext cx="696286" cy="284897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 flip="none" rotWithShape="1">
                  <a:gsLst>
                    <a:gs pos="100000">
                      <a:schemeClr val="accent1">
                        <a:lumMod val="0"/>
                        <a:lumOff val="100000"/>
                        <a:alpha val="36000"/>
                      </a:schemeClr>
                    </a:gs>
                    <a:gs pos="0">
                      <a:srgbClr val="003F88"/>
                    </a:gs>
                  </a:gsLst>
                  <a:lin ang="1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3" name="文本框 42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5473607" y="1249447"/>
                  <a:ext cx="69628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zh-CN" sz="3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cs typeface="Arial" panose="020B0604020202020204" pitchFamily="34" charset="0"/>
                    </a:rPr>
                    <a:t>8</a:t>
                  </a:r>
                  <a:endParaRPr lang="zh-CN" altLang="en-US" sz="3600" b="1" i="1" dirty="0">
                    <a:solidFill>
                      <a:schemeClr val="bg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1" name="文本框 40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6388424" y="1380521"/>
                <a:ext cx="4697836" cy="95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任务分工</a:t>
                </a:r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endPara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highlight>
                  <a:srgbClr val="FFFF00"/>
                </a:highlight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65161" y="269066"/>
            <a:ext cx="62331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项目背景与目标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648335" y="1223010"/>
            <a:ext cx="10895330" cy="3949700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b="1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effectLst/>
              </a:rPr>
              <a:t>随着全球人口老龄化进程加速，老年人安全问题日益凸显。在中国，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60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岁以上老年人口已达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2.8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亿，占总人口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20.4%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，跌倒已成为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65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岁以上老年人伤害死亡的首位原因。此外我国视障人士超过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1700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万，日常出行面临诸多挑战：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40%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的视障人士因害怕碰撞障碍物而减少户外活动，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58%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曾因跌倒或碰撞导致身体受伤。传统辅助拐杖功能单一，无法主动感知环境危险，也缺乏紧急求助机制。</a:t>
            </a:r>
            <a:endParaRPr lang="zh-CN" altLang="en-US" b="1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effectLst/>
              </a:rPr>
              <a:t>本项目基于老年人与视障群体的实际需求，设计一套基于 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ESP32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的智能拐杖系统。</a:t>
            </a:r>
            <a:endParaRPr lang="en-US" altLang="zh-CN" b="1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effectLst/>
              </a:rPr>
              <a:t>通过超声波、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IMU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、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GPS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、光照与摄像头等模块采集外部环境与运动状态，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ESP32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完成读取、判断、本地报警和图像回传。</a:t>
            </a:r>
            <a:endParaRPr lang="zh-CN" altLang="en-US" b="1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chemeClr val="tx1"/>
                </a:solidFill>
                <a:effectLst/>
              </a:rPr>
              <a:t>关键目标：障碍物分级提醒、跌倒检测、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GPS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定位、夜间示廓灯自动开启、</a:t>
            </a:r>
            <a:r>
              <a:rPr lang="en-US" altLang="zh-CN" b="1" dirty="0">
                <a:solidFill>
                  <a:schemeClr val="tx1"/>
                </a:solidFill>
                <a:effectLst/>
              </a:rPr>
              <a:t>SOS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求助、网页端状态显示与摄像头环境图传。</a:t>
            </a:r>
            <a:endParaRPr lang="en-US" altLang="zh-CN" b="1" dirty="0">
              <a:solidFill>
                <a:schemeClr val="tx1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8798" y="5405664"/>
            <a:ext cx="9553074" cy="1076192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系统架构：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感知层 → 数据处理层 → 状态决策层 → 执行报警层 →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WiFi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通信与远程看护层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6143"/>
                    </a14:imgEffect>
                    <a14:imgEffect>
                      <a14:saturation sat="77000"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597" y="1714500"/>
            <a:ext cx="4947979" cy="361980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平台选择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7100229" y="1937717"/>
            <a:ext cx="4433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200" dirty="0"/>
              <a:t>选择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ESP32</a:t>
            </a:r>
            <a:r>
              <a:rPr lang="zh-CN" altLang="en-US" sz="2400" b="1" spc="200" dirty="0"/>
              <a:t>的原因</a:t>
            </a:r>
            <a:endParaRPr lang="zh-CN" altLang="en-US" sz="2400" b="1" spc="200" dirty="0"/>
          </a:p>
        </p:txBody>
      </p:sp>
      <p:sp>
        <p:nvSpPr>
          <p:cNvPr id="27" name="文本框 26"/>
          <p:cNvSpPr txBox="1"/>
          <p:nvPr/>
        </p:nvSpPr>
        <p:spPr>
          <a:xfrm>
            <a:off x="7026498" y="2439719"/>
            <a:ext cx="4947979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spc="200" dirty="0"/>
              <a:t>集成</a:t>
            </a:r>
            <a:r>
              <a:rPr lang="en-US" altLang="zh-CN" sz="1600" b="1" spc="200" dirty="0"/>
              <a:t>WiFi/</a:t>
            </a:r>
            <a:r>
              <a:rPr lang="zh-CN" altLang="en-US" sz="1600" b="1" spc="200" dirty="0"/>
              <a:t>蓝牙，支持远程监控与通信</a:t>
            </a:r>
            <a:endParaRPr lang="en-US" altLang="zh-CN" sz="1600" b="1" spc="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spc="200" dirty="0"/>
              <a:t>支持</a:t>
            </a:r>
            <a:r>
              <a:rPr lang="en-US" altLang="zh-CN" sz="1600" b="1" spc="200" dirty="0" err="1"/>
              <a:t>FreeRTOS</a:t>
            </a:r>
            <a:r>
              <a:rPr lang="zh-CN" altLang="en-US" sz="1600" b="1" spc="200" dirty="0"/>
              <a:t>多任务调度，适合并行处理传感器读取、状态判断、图传和网页服务</a:t>
            </a:r>
            <a:endParaRPr lang="zh-CN" altLang="en-US" sz="1600" b="1" spc="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spc="200" dirty="0"/>
              <a:t>支持摄像头与</a:t>
            </a:r>
            <a:r>
              <a:rPr lang="en-US" altLang="zh-CN" sz="1600" b="1" spc="200" dirty="0"/>
              <a:t>PSRAM</a:t>
            </a:r>
            <a:r>
              <a:rPr lang="zh-CN" altLang="en-US" sz="1600" b="1" spc="200" dirty="0"/>
              <a:t>，满足图传需求</a:t>
            </a:r>
            <a:endParaRPr lang="en-US" altLang="zh-CN" sz="1600" b="1" spc="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spc="200" dirty="0"/>
              <a:t>开发生态成熟，</a:t>
            </a:r>
            <a:r>
              <a:rPr lang="en-US" altLang="zh-CN" sz="1600" b="1" spc="200" dirty="0"/>
              <a:t>Arduino</a:t>
            </a:r>
            <a:r>
              <a:rPr lang="zh-CN" altLang="en-US" sz="1600" b="1" spc="200" dirty="0"/>
              <a:t>可快速完成传感器驱动、网页服务和图传功能</a:t>
            </a:r>
            <a:endParaRPr lang="zh-CN" altLang="en-US" sz="1600" b="1" spc="2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spc="200" dirty="0"/>
              <a:t>成本低，适合本课程设计和展示</a:t>
            </a:r>
            <a:endParaRPr lang="zh-CN" altLang="en-US" sz="1600" b="1" spc="2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1054" y="1714500"/>
          <a:ext cx="6078402" cy="361980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0015"/>
                <a:gridCol w="4718387"/>
              </a:tblGrid>
              <a:tr h="49882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项目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内容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24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主控平台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ESP32-S3-CAM / ESP32-CAM / 带 PSRAM 的 ESP32 开发板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开发环境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Arduino IDE / PlatformIO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编程语言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C/C++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通信方式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WiFi，后续可扩展 4G Cat.1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24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显示方式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手机网页端 / 电脑网页端 / 串口监视器 / OLED 可选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00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系统结构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20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ESP32 单主控，多任务调度</a:t>
                      </a:r>
                      <a:endParaRPr lang="zh-CN" sz="20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硬件组成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52124" y="1227843"/>
          <a:ext cx="11048379" cy="472213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99052"/>
                <a:gridCol w="3641558"/>
                <a:gridCol w="3906253"/>
                <a:gridCol w="2101516"/>
              </a:tblGrid>
              <a:tr h="5905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模块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marL="29601" marR="29601" marT="14800" marB="14800"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选型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marL="29601" marR="29601" marT="14800" marB="14800"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作用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marL="29601" marR="29601" marT="14800" marB="14800"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2400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预算</a:t>
                      </a:r>
                      <a:endParaRPr lang="zh-CN" sz="2400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</a:txBody>
                  <a:tcPr marL="29601" marR="29601" marT="14800" marB="14800"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8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主控模块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ESP32-S3-CAM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负责传感器采集、状态判断、WiFi 通信和摄像头图传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52.8元（含摄像头）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避障传感器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HC-SR04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检测前方障碍物距离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2.65元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姿态传感器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MPU6050 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检测倾斜、跌倒、运动状态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9.5元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定位模块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ATGM336H GPS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获取经纬度位置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20元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光照检测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BH1750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判断环境明暗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3.6元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摄像头模块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OV2640 摄像头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实现环境图像采集与网页图传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略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241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本地提醒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蜂鸣器、震动马达、LED 示廓灯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避障、跌倒、SOS 等状态提醒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4.41元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0.8元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求助模块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SOS 按键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用户主动触发紧急求助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4.1元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显示模块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OLED 屏，可选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显示距离、姿态、GPS、系统状态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8.8元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372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供电模块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锂电池 + 5V/3.3V 稳压模块</a:t>
                      </a: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为 ESP32 和外设供电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16.9+2.65+2.38</a:t>
                      </a:r>
                      <a:r>
                        <a:rPr lang="zh-CN" altLang="en-US" sz="18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元</a:t>
                      </a: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720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sz="180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zh-CN" sz="18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800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128.59元</a:t>
                      </a:r>
                      <a:endParaRPr lang="zh-CN" sz="1800" b="1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601" marR="29601" marT="14800" marB="148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功能与性能指标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>
            <p:custDataLst>
              <p:tags r:id="rId2"/>
            </p:custDataLst>
          </p:nvPr>
        </p:nvGrpSpPr>
        <p:grpSpPr>
          <a:xfrm>
            <a:off x="496118" y="1039956"/>
            <a:ext cx="10831523" cy="4547521"/>
            <a:chOff x="496119" y="1412259"/>
            <a:chExt cx="8151762" cy="3080508"/>
          </a:xfrm>
        </p:grpSpPr>
        <p:sp>
          <p:nvSpPr>
            <p:cNvPr id="5" name="Shape 1"/>
            <p:cNvSpPr/>
            <p:nvPr>
              <p:custDataLst>
                <p:tags r:id="rId3"/>
              </p:custDataLst>
            </p:nvPr>
          </p:nvSpPr>
          <p:spPr>
            <a:xfrm>
              <a:off x="512321" y="1412259"/>
              <a:ext cx="4004965" cy="1062707"/>
            </a:xfrm>
            <a:prstGeom prst="roundRect">
              <a:avLst>
                <a:gd name="adj" fmla="val 560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6" name="Text 2"/>
            <p:cNvSpPr/>
            <p:nvPr/>
          </p:nvSpPr>
          <p:spPr>
            <a:xfrm>
              <a:off x="642640" y="1572518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cs typeface="Gelasio" pitchFamily="34" charset="-120"/>
                </a:rPr>
                <a:t>🦯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Gelasio" pitchFamily="34" charset="-120"/>
                </a:rPr>
                <a:t> 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分级超声波避障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7" name="Text 3"/>
            <p:cNvSpPr/>
            <p:nvPr>
              <p:custDataLst>
                <p:tags r:id="rId4"/>
              </p:custDataLst>
            </p:nvPr>
          </p:nvSpPr>
          <p:spPr>
            <a:xfrm>
              <a:off x="642640" y="1782853"/>
              <a:ext cx="3853681" cy="5340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根据距离远近提供不同强度的蜂鸣器和振动提醒</a:t>
              </a:r>
              <a:b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</a:b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20–300 cm 测距，刷新频率 ≥ 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5 </a:t>
              </a:r>
              <a:r>
                <a:rPr lang="pl-PL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Hz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；</a:t>
              </a:r>
              <a:endPara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&lt;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100 cm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轻提醒，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&lt;50 cm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强提醒，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&lt;30 cm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紧急报警</a:t>
              </a:r>
              <a:endParaRPr lang="zh-CN" sz="1600" b="1" dirty="0">
                <a:latin typeface="+mn-ea"/>
              </a:endParaRPr>
            </a:p>
          </p:txBody>
        </p:sp>
        <p:sp>
          <p:nvSpPr>
            <p:cNvPr id="9" name="Shape 4"/>
            <p:cNvSpPr/>
            <p:nvPr>
              <p:custDataLst>
                <p:tags r:id="rId5"/>
              </p:custDataLst>
            </p:nvPr>
          </p:nvSpPr>
          <p:spPr>
            <a:xfrm>
              <a:off x="4642842" y="1425997"/>
              <a:ext cx="4005039" cy="1062707"/>
            </a:xfrm>
            <a:prstGeom prst="roundRect">
              <a:avLst>
                <a:gd name="adj" fmla="val 560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10" name="Text 5"/>
            <p:cNvSpPr/>
            <p:nvPr/>
          </p:nvSpPr>
          <p:spPr>
            <a:xfrm>
              <a:off x="4789363" y="1572518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📉 </a:t>
              </a:r>
              <a:r>
                <a:rPr lang="en-US" altLang="zh-CN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IMU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跌倒检测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1" name="Text 6"/>
            <p:cNvSpPr/>
            <p:nvPr>
              <p:custDataLst>
                <p:tags r:id="rId6"/>
              </p:custDataLst>
            </p:nvPr>
          </p:nvSpPr>
          <p:spPr>
            <a:xfrm>
              <a:off x="4789363" y="1864211"/>
              <a:ext cx="3858518" cy="652792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判断拐杖姿态突变、倾倒或长时间异常静止，跌倒后 2 s</a:t>
              </a:r>
              <a:endPara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内触发报警并开启图传</a:t>
              </a:r>
              <a:endParaRPr lang="zh-CN" sz="1600" b="1" dirty="0">
                <a:latin typeface="+mn-ea"/>
              </a:endParaRPr>
            </a:p>
          </p:txBody>
        </p:sp>
        <p:sp>
          <p:nvSpPr>
            <p:cNvPr id="12" name="Shape 7"/>
            <p:cNvSpPr/>
            <p:nvPr>
              <p:custDataLst>
                <p:tags r:id="rId7"/>
              </p:custDataLst>
            </p:nvPr>
          </p:nvSpPr>
          <p:spPr>
            <a:xfrm>
              <a:off x="496119" y="2630463"/>
              <a:ext cx="4004965" cy="835893"/>
            </a:xfrm>
            <a:prstGeom prst="roundRect">
              <a:avLst>
                <a:gd name="adj" fmla="val 712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642640" y="2776984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+mn-ea"/>
                  <a:cs typeface="Gelasio" pitchFamily="34" charset="-120"/>
                </a:rPr>
                <a:t>📍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Gelasio" pitchFamily="34" charset="-120"/>
                </a:rPr>
                <a:t> 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GPS 定位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4" name="Text 9"/>
            <p:cNvSpPr/>
            <p:nvPr>
              <p:custDataLst>
                <p:tags r:id="rId8"/>
              </p:custDataLst>
            </p:nvPr>
          </p:nvSpPr>
          <p:spPr>
            <a:xfrm>
              <a:off x="642640" y="3093021"/>
              <a:ext cx="3711922" cy="2268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室外 1 Hz 更新，网页端实时显示经纬度</a:t>
              </a:r>
              <a:endParaRPr lang="zh-CN" sz="1600" b="1" dirty="0">
                <a:latin typeface="+mn-ea"/>
              </a:endParaRPr>
            </a:p>
          </p:txBody>
        </p:sp>
        <p:sp>
          <p:nvSpPr>
            <p:cNvPr id="16" name="Shape 10"/>
            <p:cNvSpPr/>
            <p:nvPr>
              <p:custDataLst>
                <p:tags r:id="rId9"/>
              </p:custDataLst>
            </p:nvPr>
          </p:nvSpPr>
          <p:spPr>
            <a:xfrm>
              <a:off x="4642842" y="2630463"/>
              <a:ext cx="4005039" cy="835893"/>
            </a:xfrm>
            <a:prstGeom prst="roundRect">
              <a:avLst>
                <a:gd name="adj" fmla="val 712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17" name="Text 11"/>
            <p:cNvSpPr/>
            <p:nvPr/>
          </p:nvSpPr>
          <p:spPr>
            <a:xfrm>
              <a:off x="4789363" y="2776984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🌙 夜间辅助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8" name="Text 12"/>
            <p:cNvSpPr/>
            <p:nvPr>
              <p:custDataLst>
                <p:tags r:id="rId10"/>
              </p:custDataLst>
            </p:nvPr>
          </p:nvSpPr>
          <p:spPr>
            <a:xfrm>
              <a:off x="4789363" y="3093021"/>
              <a:ext cx="3711997" cy="2268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光照低于阈值自动开启 LED 示廓灯</a:t>
              </a:r>
              <a:endParaRPr lang="zh-CN" sz="1600" b="1" dirty="0">
                <a:latin typeface="+mn-ea"/>
              </a:endParaRPr>
            </a:p>
          </p:txBody>
        </p:sp>
        <p:sp>
          <p:nvSpPr>
            <p:cNvPr id="19" name="Shape 13"/>
            <p:cNvSpPr/>
            <p:nvPr>
              <p:custDataLst>
                <p:tags r:id="rId11"/>
              </p:custDataLst>
            </p:nvPr>
          </p:nvSpPr>
          <p:spPr>
            <a:xfrm>
              <a:off x="496119" y="3608115"/>
              <a:ext cx="4004965" cy="835893"/>
            </a:xfrm>
            <a:prstGeom prst="roundRect">
              <a:avLst>
                <a:gd name="adj" fmla="val 712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21" name="Text 14"/>
            <p:cNvSpPr/>
            <p:nvPr/>
          </p:nvSpPr>
          <p:spPr>
            <a:xfrm>
              <a:off x="642640" y="3754636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🆘 SOS 求助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5" name="Text 15"/>
            <p:cNvSpPr/>
            <p:nvPr>
              <p:custDataLst>
                <p:tags r:id="rId12"/>
              </p:custDataLst>
            </p:nvPr>
          </p:nvSpPr>
          <p:spPr>
            <a:xfrm>
              <a:off x="658842" y="3972910"/>
              <a:ext cx="3711922" cy="519857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按键触发立即报警，上传 GPS 与现场图像；</a:t>
              </a:r>
              <a:endPara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不同状态对应不同报警模式</a:t>
              </a:r>
              <a:endParaRPr lang="zh-CN" sz="1600" b="1" dirty="0">
                <a:latin typeface="+mn-ea"/>
              </a:endParaRPr>
            </a:p>
          </p:txBody>
        </p:sp>
        <p:sp>
          <p:nvSpPr>
            <p:cNvPr id="26" name="Shape 16"/>
            <p:cNvSpPr/>
            <p:nvPr>
              <p:custDataLst>
                <p:tags r:id="rId13"/>
              </p:custDataLst>
            </p:nvPr>
          </p:nvSpPr>
          <p:spPr>
            <a:xfrm>
              <a:off x="4642842" y="3608115"/>
              <a:ext cx="4005039" cy="835893"/>
            </a:xfrm>
            <a:prstGeom prst="roundRect">
              <a:avLst>
                <a:gd name="adj" fmla="val 7123"/>
              </a:avLst>
            </a:prstGeom>
            <a:solidFill>
              <a:srgbClr val="E8E8E3"/>
            </a:solidFill>
            <a:ln w="4763">
              <a:solidFill>
                <a:srgbClr val="CECEC9"/>
              </a:solidFill>
              <a:prstDash val="solid"/>
            </a:ln>
          </p:spPr>
        </p:sp>
        <p:sp>
          <p:nvSpPr>
            <p:cNvPr id="27" name="Text 17"/>
            <p:cNvSpPr/>
            <p:nvPr/>
          </p:nvSpPr>
          <p:spPr>
            <a:xfrm>
              <a:off x="4789363" y="3754636"/>
              <a:ext cx="1772022" cy="2309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+mn-ea"/>
                  <a:cs typeface="Gelasio" pitchFamily="34" charset="-120"/>
                </a:rPr>
                <a:t>📷 异常图传</a:t>
              </a:r>
              <a:endParaRPr 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28" name="Text 18"/>
            <p:cNvSpPr/>
            <p:nvPr>
              <p:custDataLst>
                <p:tags r:id="rId14"/>
              </p:custDataLst>
            </p:nvPr>
          </p:nvSpPr>
          <p:spPr>
            <a:xfrm>
              <a:off x="4789363" y="3981557"/>
              <a:ext cx="3711997" cy="2268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pl-PL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QVGA/VGA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分辨率，约 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5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到 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10 </a:t>
              </a:r>
              <a:r>
                <a:rPr lang="pl-PL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fps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；</a:t>
              </a:r>
              <a:endPara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endParaRPr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跌倒或 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SOS 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时触发图像显示</a:t>
              </a:r>
              <a:r>
                <a:rPr lang="en-US" altLang="zh-CN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/</a:t>
              </a:r>
              <a:r>
                <a:rPr lang="zh-CN" altLang="en-US" sz="1600" b="1" dirty="0">
                  <a:solidFill>
                    <a:srgbClr val="272525"/>
                  </a:solidFill>
                  <a:latin typeface="+mn-ea"/>
                  <a:cs typeface="Lato" pitchFamily="34" charset="-120"/>
                </a:rPr>
                <a:t>拍照</a:t>
              </a:r>
              <a:endParaRPr lang="zh-CN" sz="1600" b="1" dirty="0">
                <a:latin typeface="+mn-ea"/>
              </a:endParaRPr>
            </a:p>
          </p:txBody>
        </p:sp>
      </p:grpSp>
      <p:sp>
        <p:nvSpPr>
          <p:cNvPr id="4" name="Shape 13"/>
          <p:cNvSpPr/>
          <p:nvPr>
            <p:custDataLst>
              <p:tags r:id="rId15"/>
            </p:custDataLst>
          </p:nvPr>
        </p:nvSpPr>
        <p:spPr>
          <a:xfrm>
            <a:off x="476885" y="5708015"/>
            <a:ext cx="10851515" cy="705485"/>
          </a:xfrm>
          <a:prstGeom prst="roundRect">
            <a:avLst>
              <a:gd name="adj" fmla="val 7123"/>
            </a:avLst>
          </a:prstGeom>
          <a:solidFill>
            <a:srgbClr val="E8E8E3"/>
          </a:solidFill>
          <a:ln w="4763">
            <a:solidFill>
              <a:srgbClr val="CECEC9"/>
            </a:solidFill>
            <a:prstDash val="solid"/>
          </a:ln>
        </p:spPr>
        <p:txBody>
          <a:bodyPr/>
          <a:p>
            <a:pPr marL="0" indent="0" algn="l">
              <a:lnSpc>
                <a:spcPct val="133000"/>
              </a:lnSpc>
              <a:buNone/>
            </a:pPr>
            <a:endParaRPr lang="zh-CN" altLang="en-US"/>
          </a:p>
        </p:txBody>
      </p:sp>
      <p:sp>
        <p:nvSpPr>
          <p:cNvPr id="8" name="Text 15"/>
          <p:cNvSpPr/>
          <p:nvPr>
            <p:custDataLst>
              <p:tags r:id="rId16"/>
            </p:custDataLst>
          </p:nvPr>
        </p:nvSpPr>
        <p:spPr>
          <a:xfrm>
            <a:off x="2701290" y="5838825"/>
            <a:ext cx="7228205" cy="4432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600" b="1" dirty="0">
                <a:solidFill>
                  <a:srgbClr val="272525"/>
                </a:solidFill>
                <a:latin typeface="+mn-ea"/>
                <a:cs typeface="Lato" pitchFamily="34" charset="-120"/>
              </a:rPr>
              <a:t>通过</a:t>
            </a:r>
            <a:r>
              <a: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rPr>
              <a:t>WiFi</a:t>
            </a:r>
            <a:r>
              <a:rPr lang="zh-CN" altLang="en-US" sz="1600" b="1" dirty="0">
                <a:solidFill>
                  <a:srgbClr val="272525"/>
                </a:solidFill>
                <a:latin typeface="+mn-ea"/>
                <a:cs typeface="Lato" pitchFamily="34" charset="-120"/>
              </a:rPr>
              <a:t>模块连接手机或电脑网页端查看状态、</a:t>
            </a:r>
            <a:r>
              <a:rPr lang="en-US" altLang="zh-CN" sz="1600" b="1" dirty="0">
                <a:solidFill>
                  <a:srgbClr val="272525"/>
                </a:solidFill>
                <a:latin typeface="+mn-ea"/>
                <a:cs typeface="Lato" pitchFamily="34" charset="-120"/>
              </a:rPr>
              <a:t>GPS</a:t>
            </a:r>
            <a:r>
              <a:rPr lang="zh-CN" altLang="en-US" sz="1600" b="1" dirty="0">
                <a:solidFill>
                  <a:srgbClr val="272525"/>
                </a:solidFill>
                <a:latin typeface="+mn-ea"/>
                <a:cs typeface="Lato" pitchFamily="34" charset="-120"/>
              </a:rPr>
              <a:t>定位、现场图像等信息</a:t>
            </a:r>
            <a:endParaRPr lang="zh-CN" altLang="en-US" sz="1600" b="1" dirty="0">
              <a:solidFill>
                <a:srgbClr val="272525"/>
              </a:solidFill>
              <a:latin typeface="+mn-ea"/>
              <a:cs typeface="Lato" pitchFamily="34" charset="-120"/>
            </a:endParaRPr>
          </a:p>
        </p:txBody>
      </p:sp>
      <p:sp>
        <p:nvSpPr>
          <p:cNvPr id="30" name="Text 5"/>
          <p:cNvSpPr/>
          <p:nvPr/>
        </p:nvSpPr>
        <p:spPr>
          <a:xfrm>
            <a:off x="690802" y="5941244"/>
            <a:ext cx="2354546" cy="340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Gelasio" pitchFamily="34" charset="-120"/>
              </a:rPr>
              <a:t> WiFi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Gelasio" pitchFamily="34" charset="-120"/>
              </a:rPr>
              <a:t>网页显示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+mn-ea"/>
              <a:cs typeface="Gelasio" pitchFamily="34" charset="-120"/>
            </a:endParaRPr>
          </a:p>
        </p:txBody>
      </p:sp>
      <p:pic>
        <p:nvPicPr>
          <p:cNvPr id="31" name="图片 30" descr="无线网络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8660" y="5941695"/>
            <a:ext cx="274320" cy="274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8276" y="1997241"/>
            <a:ext cx="4390798" cy="34089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系统软件设计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42139" y="2207696"/>
          <a:ext cx="6078401" cy="280417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17686"/>
                <a:gridCol w="2593571"/>
                <a:gridCol w="1267144"/>
              </a:tblGrid>
              <a:tr h="5905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任务</a:t>
                      </a:r>
                      <a:endParaRPr lang="zh-CN" b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内容</a:t>
                      </a:r>
                      <a:endParaRPr lang="zh-CN" b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核心</a:t>
                      </a:r>
                      <a:endParaRPr lang="zh-CN" b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8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WiFi/Web任务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网页服务与数据通信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Core0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Camera任务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图像采集与MJPEG传输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Core0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Sensor任务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传感器数据读取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Core1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State Machine任务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状态判断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Core1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Actuator任务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>
                          <a:solidFill>
                            <a:schemeClr val="bg1"/>
                          </a:solidFill>
                        </a:rPr>
                        <a:t>报警控制</a:t>
                      </a:r>
                      <a:endParaRPr lang="zh-C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Core1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6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Data更新任务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数据刷新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>
                          <a:solidFill>
                            <a:schemeClr val="bg1"/>
                          </a:solidFill>
                        </a:rPr>
                        <a:t>双核</a:t>
                      </a:r>
                      <a:endParaRPr lang="zh-C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900736" y="2436643"/>
            <a:ext cx="3874169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采用双核任务绑定策略：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Core0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：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WiFi + 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图传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Core1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：传感器 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+ 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控制逻辑</a:t>
            </a:r>
            <a:endParaRPr lang="en-US" altLang="zh-CN" sz="2000" b="1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以降低图传对实时控制的影响，提高系统稳定性。</a:t>
            </a:r>
            <a:endParaRPr lang="zh-CN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2138" y="1445198"/>
            <a:ext cx="6093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系统采用 </a:t>
            </a:r>
            <a:r>
              <a:rPr lang="en-US" altLang="zh-CN" sz="2000" b="1" dirty="0" err="1">
                <a:solidFill>
                  <a:schemeClr val="bg1"/>
                </a:solidFill>
                <a:latin typeface="+mn-ea"/>
              </a:rPr>
              <a:t>FreeRTOS</a:t>
            </a:r>
            <a:r>
              <a:rPr lang="en-US" altLang="zh-CN" sz="200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+mn-ea"/>
              </a:rPr>
              <a:t>多任务架构：</a:t>
            </a:r>
            <a:endParaRPr lang="zh-CN" altLang="en-US" sz="20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系统状态设计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圆: 空心 3"/>
          <p:cNvSpPr/>
          <p:nvPr/>
        </p:nvSpPr>
        <p:spPr>
          <a:xfrm>
            <a:off x="5190816" y="2637814"/>
            <a:ext cx="1810367" cy="1724890"/>
          </a:xfrm>
          <a:prstGeom prst="donut">
            <a:avLst>
              <a:gd name="adj" fmla="val 1263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22448" y="3023205"/>
            <a:ext cx="9471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正常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状态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4" name="箭头: V 形 13"/>
          <p:cNvSpPr/>
          <p:nvPr/>
        </p:nvSpPr>
        <p:spPr>
          <a:xfrm>
            <a:off x="7094009" y="2963779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箭头: V 形 15"/>
          <p:cNvSpPr/>
          <p:nvPr/>
        </p:nvSpPr>
        <p:spPr>
          <a:xfrm rot="3600000">
            <a:off x="6474183" y="4090180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箭头: V 形 16"/>
          <p:cNvSpPr/>
          <p:nvPr/>
        </p:nvSpPr>
        <p:spPr>
          <a:xfrm rot="10800000">
            <a:off x="4536517" y="2963779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箭头: V 形 17"/>
          <p:cNvSpPr/>
          <p:nvPr/>
        </p:nvSpPr>
        <p:spPr>
          <a:xfrm rot="18000000">
            <a:off x="6485702" y="1889550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箭头: V 形 18"/>
          <p:cNvSpPr/>
          <p:nvPr/>
        </p:nvSpPr>
        <p:spPr>
          <a:xfrm rot="7200000">
            <a:off x="5144825" y="4090179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箭头: V 形 20"/>
          <p:cNvSpPr/>
          <p:nvPr/>
        </p:nvSpPr>
        <p:spPr>
          <a:xfrm rot="14400000">
            <a:off x="5156344" y="1889551"/>
            <a:ext cx="561473" cy="930442"/>
          </a:xfrm>
          <a:prstGeom prst="chevr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911653" y="2880634"/>
            <a:ext cx="1169343" cy="1144171"/>
            <a:chOff x="9244656" y="1449094"/>
            <a:chExt cx="1810367" cy="1819386"/>
          </a:xfrm>
        </p:grpSpPr>
        <p:sp>
          <p:nvSpPr>
            <p:cNvPr id="25" name="圆: 空心 24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避障提醒状态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260440" y="873262"/>
            <a:ext cx="1169343" cy="1144171"/>
            <a:chOff x="9244656" y="1449094"/>
            <a:chExt cx="1810367" cy="1819386"/>
          </a:xfrm>
        </p:grpSpPr>
        <p:sp>
          <p:nvSpPr>
            <p:cNvPr id="32" name="圆: 空心 31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低电量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111003" y="2856914"/>
            <a:ext cx="1169343" cy="1144171"/>
            <a:chOff x="9244656" y="1449094"/>
            <a:chExt cx="1810367" cy="1819386"/>
          </a:xfrm>
        </p:grpSpPr>
        <p:sp>
          <p:nvSpPr>
            <p:cNvPr id="35" name="圆: 空心 34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跌倒报警状态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227536" y="4890886"/>
            <a:ext cx="1169343" cy="1144171"/>
            <a:chOff x="9244656" y="1449094"/>
            <a:chExt cx="1810367" cy="1819386"/>
          </a:xfrm>
        </p:grpSpPr>
        <p:sp>
          <p:nvSpPr>
            <p:cNvPr id="38" name="圆: 空心 37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</a:rPr>
                <a:t>SOS</a:t>
              </a:r>
              <a:r>
                <a:rPr lang="zh-CN" altLang="en-US" sz="1600" b="1" dirty="0">
                  <a:solidFill>
                    <a:schemeClr val="bg1"/>
                  </a:solidFill>
                </a:rPr>
                <a:t>求助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800234" y="4890886"/>
            <a:ext cx="1169343" cy="1144171"/>
            <a:chOff x="9244656" y="1449094"/>
            <a:chExt cx="1810367" cy="1819386"/>
          </a:xfrm>
        </p:grpSpPr>
        <p:sp>
          <p:nvSpPr>
            <p:cNvPr id="41" name="圆: 空心 40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夜间辅助状态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620540" y="870381"/>
            <a:ext cx="1169343" cy="1144171"/>
            <a:chOff x="9244656" y="1449094"/>
            <a:chExt cx="1810367" cy="1819386"/>
          </a:xfrm>
        </p:grpSpPr>
        <p:sp>
          <p:nvSpPr>
            <p:cNvPr id="44" name="圆: 空心 43"/>
            <p:cNvSpPr/>
            <p:nvPr/>
          </p:nvSpPr>
          <p:spPr>
            <a:xfrm>
              <a:off x="9244656" y="1449094"/>
              <a:ext cx="1810367" cy="1724890"/>
            </a:xfrm>
            <a:prstGeom prst="donut">
              <a:avLst>
                <a:gd name="adj" fmla="val 8936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370493" y="1947083"/>
              <a:ext cx="1626470" cy="13213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紧急避障状态</a:t>
              </a:r>
              <a:endParaRPr lang="zh-CN" altLang="en-US" sz="1600" b="1" dirty="0">
                <a:solidFill>
                  <a:schemeClr val="bg1"/>
                </a:solidFill>
              </a:endParaRPr>
            </a:p>
            <a:p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819661" y="998888"/>
            <a:ext cx="3579859" cy="1200329"/>
            <a:chOff x="7819661" y="998888"/>
            <a:chExt cx="2574169" cy="1200329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7819661" y="1412753"/>
              <a:ext cx="1948477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/>
            <p:cNvSpPr txBox="1"/>
            <p:nvPr/>
          </p:nvSpPr>
          <p:spPr>
            <a:xfrm>
              <a:off x="7871163" y="998888"/>
              <a:ext cx="25226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dirty="0">
                  <a:solidFill>
                    <a:schemeClr val="bg1"/>
                  </a:solidFill>
                  <a:latin typeface="+mn-ea"/>
                </a:rPr>
                <a:t>距离小于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 3</a:t>
              </a:r>
              <a:r>
                <a:rPr lang="zh-CN" altLang="zh-CN" dirty="0">
                  <a:solidFill>
                    <a:schemeClr val="bg1"/>
                  </a:solidFill>
                  <a:latin typeface="+mn-ea"/>
                </a:rPr>
                <a:t>0 cm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高频蜂鸣、强震动、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LED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闪烁</a:t>
              </a:r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78454" y="836119"/>
            <a:ext cx="3872685" cy="1200329"/>
            <a:chOff x="6475999" y="966781"/>
            <a:chExt cx="3504609" cy="1200329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6475999" y="1412753"/>
              <a:ext cx="3364899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6510928" y="966781"/>
              <a:ext cx="34696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 电池电压低于阈值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提醒充电，降低图传或上传频率</a:t>
              </a:r>
              <a:endParaRPr lang="zh-CN" altLang="zh-CN" dirty="0">
                <a:solidFill>
                  <a:schemeClr val="bg1"/>
                </a:solidFill>
                <a:latin typeface="+mn-ea"/>
              </a:endParaRPr>
            </a:p>
            <a:p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659" y="2985421"/>
            <a:ext cx="3055121" cy="1200329"/>
            <a:chOff x="7739901" y="975168"/>
            <a:chExt cx="2259613" cy="1200329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7797693" y="1412753"/>
              <a:ext cx="2148677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7739901" y="975168"/>
              <a:ext cx="22596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IMU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检测到倾倒或异常冲击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本地报警，网页端显示跌倒信息，开启图像回传</a:t>
              </a:r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716701" y="5049140"/>
            <a:ext cx="3859497" cy="1200329"/>
            <a:chOff x="6305068" y="976629"/>
            <a:chExt cx="3859497" cy="1200329"/>
          </a:xfrm>
        </p:grpSpPr>
        <p:cxnSp>
          <p:nvCxnSpPr>
            <p:cNvPr id="59" name="直接连接符 58"/>
            <p:cNvCxnSpPr/>
            <p:nvPr/>
          </p:nvCxnSpPr>
          <p:spPr>
            <a:xfrm>
              <a:off x="6426567" y="1412753"/>
              <a:ext cx="3341571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6305068" y="976629"/>
              <a:ext cx="385949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 用户按下 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SOS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按键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立即报警，上传 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GPS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和现场画面</a:t>
              </a:r>
              <a:endParaRPr lang="zh-CN" altLang="zh-CN" dirty="0">
                <a:solidFill>
                  <a:schemeClr val="bg1"/>
                </a:solidFill>
                <a:latin typeface="+mn-ea"/>
              </a:endParaRPr>
            </a:p>
            <a:p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7998534" y="5043557"/>
            <a:ext cx="2574169" cy="1200329"/>
            <a:chOff x="7819661" y="998888"/>
            <a:chExt cx="2574169" cy="1200329"/>
          </a:xfrm>
        </p:grpSpPr>
        <p:cxnSp>
          <p:nvCxnSpPr>
            <p:cNvPr id="62" name="直接连接符 61"/>
            <p:cNvCxnSpPr/>
            <p:nvPr/>
          </p:nvCxnSpPr>
          <p:spPr>
            <a:xfrm>
              <a:off x="7819661" y="1412753"/>
              <a:ext cx="1948477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/>
            <p:cNvSpPr txBox="1"/>
            <p:nvPr/>
          </p:nvSpPr>
          <p:spPr>
            <a:xfrm>
              <a:off x="7871163" y="998888"/>
              <a:ext cx="25226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光照低于设定阈值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自动开启 </a:t>
              </a:r>
              <a:r>
                <a:rPr lang="en-US" altLang="zh-CN" dirty="0">
                  <a:solidFill>
                    <a:schemeClr val="bg1"/>
                  </a:solidFill>
                  <a:latin typeface="+mn-ea"/>
                </a:rPr>
                <a:t>LED </a:t>
              </a:r>
              <a:r>
                <a:rPr lang="zh-CN" altLang="en-US" dirty="0">
                  <a:solidFill>
                    <a:schemeClr val="bg1"/>
                  </a:solidFill>
                  <a:latin typeface="+mn-ea"/>
                </a:rPr>
                <a:t>示廓灯</a:t>
              </a:r>
              <a:endParaRPr lang="zh-CN" altLang="zh-CN" dirty="0">
                <a:solidFill>
                  <a:schemeClr val="bg1"/>
                </a:solidFill>
                <a:latin typeface="+mn-ea"/>
              </a:endParaRPr>
            </a:p>
            <a:p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9098699" y="3042753"/>
            <a:ext cx="2574169" cy="1200329"/>
            <a:chOff x="7819661" y="998888"/>
            <a:chExt cx="2574169" cy="1200329"/>
          </a:xfrm>
        </p:grpSpPr>
        <p:cxnSp>
          <p:nvCxnSpPr>
            <p:cNvPr id="65" name="直接连接符 64"/>
            <p:cNvCxnSpPr/>
            <p:nvPr/>
          </p:nvCxnSpPr>
          <p:spPr>
            <a:xfrm>
              <a:off x="7819661" y="1412753"/>
              <a:ext cx="1948477" cy="0"/>
            </a:xfrm>
            <a:prstGeom prst="line">
              <a:avLst/>
            </a:prstGeom>
            <a:ln w="5715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65"/>
            <p:cNvSpPr txBox="1"/>
            <p:nvPr/>
          </p:nvSpPr>
          <p:spPr>
            <a:xfrm>
              <a:off x="7871163" y="998888"/>
              <a:ext cx="252266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dirty="0">
                  <a:solidFill>
                    <a:schemeClr val="bg1"/>
                  </a:solidFill>
                  <a:latin typeface="+mn-ea"/>
                </a:rPr>
                <a:t>距离小于 100 cm</a:t>
              </a:r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endParaRPr lang="en-US" altLang="zh-CN" dirty="0">
                <a:solidFill>
                  <a:schemeClr val="bg1"/>
                </a:solidFill>
                <a:latin typeface="+mn-ea"/>
              </a:endParaRPr>
            </a:p>
            <a:p>
              <a:r>
                <a:rPr lang="zh-CN" altLang="zh-CN" dirty="0">
                  <a:solidFill>
                    <a:schemeClr val="bg1"/>
                  </a:solidFill>
                  <a:latin typeface="+mn-ea"/>
                </a:rPr>
                <a:t>低频蜂鸣或轻微震动</a:t>
              </a:r>
              <a:endParaRPr lang="zh-CN" altLang="zh-CN" dirty="0">
                <a:solidFill>
                  <a:schemeClr val="bg1"/>
                </a:solidFill>
                <a:latin typeface="+mn-ea"/>
              </a:endParaRPr>
            </a:p>
            <a:p>
              <a:endParaRPr lang="zh-CN" altLang="zh-CN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远程看护与图像回传设计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15" name="椭圆 14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23" name="任意多边形: 形状 22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1472738" y="1078214"/>
            <a:ext cx="3794760" cy="3834511"/>
            <a:chOff x="7924800" y="1997241"/>
            <a:chExt cx="3688080" cy="391142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4800" y="1997241"/>
              <a:ext cx="3688080" cy="383451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8039419" y="1997241"/>
              <a:ext cx="3390581" cy="39114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+mn-ea"/>
                </a:rPr>
                <a:t> 智能拐杖监护系统（示例）</a:t>
              </a:r>
              <a:endParaRPr lang="en-US" altLang="zh-CN" sz="20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状态：正常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距离：</a:t>
              </a:r>
              <a:r>
                <a:rPr lang="en-US" altLang="zh-CN" sz="1600" b="1" dirty="0">
                  <a:solidFill>
                    <a:schemeClr val="bg1"/>
                  </a:solidFill>
                  <a:latin typeface="+mn-ea"/>
                </a:rPr>
                <a:t>56 cm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姿态：正常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+mn-ea"/>
                </a:rPr>
                <a:t>GPS</a:t>
              </a: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：</a:t>
              </a:r>
              <a:r>
                <a:rPr lang="en-US" altLang="zh-CN" sz="1600" b="1" dirty="0">
                  <a:solidFill>
                    <a:schemeClr val="bg1"/>
                  </a:solidFill>
                  <a:latin typeface="+mn-ea"/>
                </a:rPr>
                <a:t>120.xxx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光照：较暗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+mn-ea"/>
                </a:rPr>
                <a:t>SOS</a:t>
              </a: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：无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────────────────────── 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 摄像头画面</a:t>
              </a:r>
              <a:endParaRPr lang="en-US" altLang="zh-CN" sz="1600" b="1" dirty="0">
                <a:solidFill>
                  <a:schemeClr val="bg1"/>
                </a:solidFill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+mn-ea"/>
                </a:rPr>
                <a:t>──────────────────────</a:t>
              </a:r>
              <a:endParaRPr lang="zh-CN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11" name="矩形: 圆角 10"/>
          <p:cNvSpPr/>
          <p:nvPr/>
        </p:nvSpPr>
        <p:spPr>
          <a:xfrm>
            <a:off x="1786300" y="5311833"/>
            <a:ext cx="3167635" cy="1081494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图像格式：</a:t>
            </a:r>
            <a:r>
              <a:rPr lang="pl-PL" altLang="zh-CN" b="1" dirty="0">
                <a:solidFill>
                  <a:schemeClr val="tx1"/>
                </a:solidFill>
                <a:latin typeface="+mn-ea"/>
              </a:rPr>
              <a:t>JPEG(MJPEG)</a:t>
            </a:r>
            <a:endParaRPr lang="pl-PL" altLang="zh-CN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分辨率：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320×240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帧率：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5~10 </a:t>
            </a:r>
            <a:r>
              <a:rPr lang="pl-PL" altLang="zh-CN" b="1" dirty="0">
                <a:solidFill>
                  <a:schemeClr val="tx1"/>
                </a:solidFill>
                <a:latin typeface="+mn-ea"/>
              </a:rPr>
              <a:t>fps</a:t>
            </a:r>
            <a:endParaRPr lang="zh-CN" altLang="en-US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568" y="218394"/>
            <a:ext cx="3794760" cy="6420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对角圆角 15"/>
          <p:cNvSpPr/>
          <p:nvPr/>
        </p:nvSpPr>
        <p:spPr>
          <a:xfrm flipH="1">
            <a:off x="1141446" y="1607034"/>
            <a:ext cx="4943582" cy="2201591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n"/>
            </a:pPr>
            <a:endParaRPr lang="zh-CN" alt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1070793" y="1146410"/>
            <a:ext cx="4216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ESP32 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资源占用较高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306927" y="1831136"/>
            <a:ext cx="4778389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同时运行传感器采集、图传，资源压力较大</a:t>
            </a:r>
            <a:br>
              <a:rPr kumimoji="1" lang="zh-CN" altLang="en-US" b="1" dirty="0">
                <a:solidFill>
                  <a:schemeClr val="bg1"/>
                </a:solidFill>
                <a:latin typeface="+mn-ea"/>
              </a:rPr>
            </a:b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解决：使用双核任务绑定，将图传和传感器分开到不同核心。同时适当降低图传的分辨率和帧率</a:t>
            </a:r>
            <a:endParaRPr kumimoji="1" lang="zh-CN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9" name="图形 18" descr="齿轮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884349">
            <a:off x="5743903" y="3492017"/>
            <a:ext cx="704193" cy="70419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28" name="矩形: 对角圆角 27"/>
          <p:cNvSpPr/>
          <p:nvPr/>
        </p:nvSpPr>
        <p:spPr>
          <a:xfrm>
            <a:off x="6149451" y="1587894"/>
            <a:ext cx="4901102" cy="2222843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29" name="文本框 28"/>
          <p:cNvSpPr txBox="1"/>
          <p:nvPr/>
        </p:nvSpPr>
        <p:spPr>
          <a:xfrm>
            <a:off x="8429105" y="1115929"/>
            <a:ext cx="2632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pl-PL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IMU 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跌倒误判</a:t>
            </a:r>
            <a:endParaRPr kumimoji="1"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39223" y="1645827"/>
            <a:ext cx="4778389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+mj-lt"/>
              <a:buNone/>
            </a:pP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普通晃动或放到拐杖可能误触发</a:t>
            </a:r>
            <a:br>
              <a:rPr kumimoji="1" lang="zh-CN" altLang="en-US" b="1" dirty="0">
                <a:solidFill>
                  <a:schemeClr val="bg1"/>
                </a:solidFill>
                <a:latin typeface="+mn-ea"/>
              </a:rPr>
            </a:b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解决：采用加速度突变 </a:t>
            </a:r>
            <a:r>
              <a:rPr kumimoji="1" lang="en-US" altLang="zh-CN" b="1" dirty="0">
                <a:solidFill>
                  <a:schemeClr val="bg1"/>
                </a:solidFill>
                <a:latin typeface="+mn-ea"/>
              </a:rPr>
              <a:t>+ 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倾角持续时间 </a:t>
            </a:r>
            <a:r>
              <a:rPr kumimoji="1" lang="en-US" altLang="zh-CN" b="1" dirty="0">
                <a:solidFill>
                  <a:schemeClr val="bg1"/>
                </a:solidFill>
                <a:latin typeface="+mn-ea"/>
              </a:rPr>
              <a:t>+ 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静止时间联合判断。或者用</a:t>
            </a:r>
            <a:r>
              <a:rPr kumimoji="1" lang="en-US" altLang="zh-CN" b="1" dirty="0">
                <a:solidFill>
                  <a:schemeClr val="bg1"/>
                </a:solidFill>
                <a:latin typeface="+mn-ea"/>
              </a:rPr>
              <a:t>ESP32 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本地运行轻量分类模型，识别正常行走、静止、剧烈晃动和跌倒状态。</a:t>
            </a:r>
            <a:endParaRPr kumimoji="1" lang="zh-CN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2" name="矩形: 对角圆角 31"/>
          <p:cNvSpPr/>
          <p:nvPr/>
        </p:nvSpPr>
        <p:spPr>
          <a:xfrm>
            <a:off x="1195090" y="3909329"/>
            <a:ext cx="4900910" cy="2201591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33" name="矩形 32"/>
          <p:cNvSpPr/>
          <p:nvPr/>
        </p:nvSpPr>
        <p:spPr>
          <a:xfrm>
            <a:off x="1204144" y="4055595"/>
            <a:ext cx="4083097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传感器数据抖动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306927" y="4656566"/>
            <a:ext cx="4410045" cy="1337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+mj-lt"/>
              <a:buNone/>
            </a:pP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超声波、</a:t>
            </a:r>
            <a:r>
              <a:rPr kumimoji="1" lang="en-US" altLang="zh-CN" b="1" dirty="0">
                <a:solidFill>
                  <a:schemeClr val="bg1"/>
                </a:solidFill>
                <a:latin typeface="+mn-ea"/>
              </a:rPr>
              <a:t>IMU</a:t>
            </a: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数据可能存在噪声</a:t>
            </a:r>
            <a:br>
              <a:rPr kumimoji="1" lang="zh-CN" altLang="en-US" b="1" dirty="0">
                <a:solidFill>
                  <a:schemeClr val="bg1"/>
                </a:solidFill>
                <a:latin typeface="+mn-ea"/>
              </a:rPr>
            </a:br>
            <a:r>
              <a:rPr kumimoji="1" lang="zh-CN" altLang="en-US" b="1" dirty="0">
                <a:solidFill>
                  <a:schemeClr val="bg1"/>
                </a:solidFill>
                <a:latin typeface="+mn-ea"/>
              </a:rPr>
              <a:t>解决：加入滑动平均、中值滤波和阈值滞回</a:t>
            </a:r>
            <a:endParaRPr kumimoji="1" lang="zh-CN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矩形: 对角圆角 35"/>
          <p:cNvSpPr/>
          <p:nvPr/>
        </p:nvSpPr>
        <p:spPr>
          <a:xfrm flipH="1">
            <a:off x="6160421" y="3909330"/>
            <a:ext cx="4900910" cy="2201590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37" name="矩形 36"/>
          <p:cNvSpPr/>
          <p:nvPr/>
        </p:nvSpPr>
        <p:spPr>
          <a:xfrm>
            <a:off x="6407150" y="4295775"/>
            <a:ext cx="440690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还可能存在供电不稳定、摄像头图传卡顿、</a:t>
            </a: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ESP32-CAM 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引脚不足</a:t>
            </a:r>
            <a:r>
              <a:rPr kumimoji="1"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等难点</a:t>
            </a:r>
            <a:endParaRPr kumimoji="1"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6598" y="201496"/>
            <a:ext cx="2244650" cy="8536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开发难点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5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356870" y="201295"/>
            <a:ext cx="3416935" cy="85344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预期可展示效果</a:t>
            </a:r>
            <a:endParaRPr lang="zh-CN" altLang="en-US" sz="2800" b="1" dirty="0"/>
          </a:p>
        </p:txBody>
      </p:sp>
      <p:sp>
        <p:nvSpPr>
          <p:cNvPr id="15" name="矩形: 圆角 14"/>
          <p:cNvSpPr/>
          <p:nvPr/>
        </p:nvSpPr>
        <p:spPr>
          <a:xfrm>
            <a:off x="1650878" y="1812758"/>
            <a:ext cx="9418173" cy="3560948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实现障碍物检测，并根据距离进行蜂鸣器和振动分级预警，</a:t>
            </a:r>
            <a:r>
              <a:rPr lang="zh-CN" altLang="en-US" b="1" dirty="0">
                <a:solidFill>
                  <a:schemeClr val="tx1"/>
                </a:solidFill>
              </a:rPr>
              <a:t>距离越近提醒越强</a:t>
            </a:r>
            <a:r>
              <a:rPr lang="zh-CN" altLang="zh-CN" b="1" dirty="0">
                <a:solidFill>
                  <a:schemeClr val="tx1"/>
                </a:solidFill>
              </a:rPr>
              <a:t>。 </a:t>
            </a:r>
            <a:endParaRPr lang="zh-CN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实现跌倒检测与 SOS 一键求助报警功能。 </a:t>
            </a:r>
            <a:endParaRPr lang="zh-CN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实现环境光检测，自动控制 LED 示廓灯开关。 </a:t>
            </a:r>
            <a:endParaRPr lang="zh-CN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实现网页端实时显示距离、姿态、GPS、光照及系统状态，并支持摄像头画面查看。 </a:t>
            </a:r>
            <a:endParaRPr lang="zh-CN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异常情况下自动进行图像回传，实现远程环境监测。 </a:t>
            </a:r>
            <a:endParaRPr lang="zh-CN" altLang="zh-CN" b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b="1" dirty="0">
                <a:solidFill>
                  <a:schemeClr val="tx1"/>
                </a:solidFill>
              </a:rPr>
              <a:t>OLED（或串口）实时显示系统运行状态及传感器数据。 </a:t>
            </a:r>
            <a:endParaRPr lang="zh-CN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肘形连接符 22"/>
          <p:cNvCxnSpPr>
            <a:endCxn id="11" idx="1"/>
          </p:cNvCxnSpPr>
          <p:nvPr>
            <p:custDataLst>
              <p:tags r:id="rId1"/>
            </p:custDataLst>
          </p:nvPr>
        </p:nvCxnSpPr>
        <p:spPr>
          <a:xfrm rot="5400000" flipH="1" flipV="1">
            <a:off x="2907125" y="1195995"/>
            <a:ext cx="2132084" cy="1998890"/>
          </a:xfrm>
          <a:prstGeom prst="bentConnector3">
            <a:avLst>
              <a:gd name="adj1" fmla="val 114204"/>
            </a:avLst>
          </a:prstGeom>
          <a:ln w="19050" cap="rnd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肘形连接符 26"/>
          <p:cNvCxnSpPr>
            <a:endCxn id="12" idx="2"/>
          </p:cNvCxnSpPr>
          <p:nvPr>
            <p:custDataLst>
              <p:tags r:id="rId2"/>
            </p:custDataLst>
          </p:nvPr>
        </p:nvCxnSpPr>
        <p:spPr>
          <a:xfrm flipV="1">
            <a:off x="981335" y="2811897"/>
            <a:ext cx="4589422" cy="1749146"/>
          </a:xfrm>
          <a:prstGeom prst="bentConnector3">
            <a:avLst>
              <a:gd name="adj1" fmla="val 59962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肘形连接符 23"/>
          <p:cNvCxnSpPr/>
          <p:nvPr>
            <p:custDataLst>
              <p:tags r:id="rId3"/>
            </p:custDataLst>
          </p:nvPr>
        </p:nvCxnSpPr>
        <p:spPr>
          <a:xfrm>
            <a:off x="2435436" y="4011326"/>
            <a:ext cx="2230064" cy="1635824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11"/>
          <p:cNvGrpSpPr/>
          <p:nvPr>
            <p:custDataLst>
              <p:tags r:id="rId4"/>
            </p:custDataLst>
          </p:nvPr>
        </p:nvGrpSpPr>
        <p:grpSpPr bwMode="auto">
          <a:xfrm>
            <a:off x="798187" y="2429132"/>
            <a:ext cx="2649893" cy="2649893"/>
            <a:chOff x="0" y="0"/>
            <a:chExt cx="1232" cy="1232"/>
          </a:xfrm>
          <a:solidFill>
            <a:schemeClr val="bg1"/>
          </a:solidFill>
        </p:grpSpPr>
        <p:sp>
          <p:nvSpPr>
            <p:cNvPr id="7" name="Freeform 3"/>
            <p:cNvSpPr>
              <a:spLocks noEditPoints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32" y="432"/>
              <a:ext cx="368" cy="368"/>
            </a:xfrm>
            <a:custGeom>
              <a:avLst/>
              <a:gdLst>
                <a:gd name="T0" fmla="*/ 0 w 368"/>
                <a:gd name="T1" fmla="*/ 184 h 368"/>
                <a:gd name="T2" fmla="*/ 4 w 368"/>
                <a:gd name="T3" fmla="*/ 222 h 368"/>
                <a:gd name="T4" fmla="*/ 14 w 368"/>
                <a:gd name="T5" fmla="*/ 256 h 368"/>
                <a:gd name="T6" fmla="*/ 32 w 368"/>
                <a:gd name="T7" fmla="*/ 286 h 368"/>
                <a:gd name="T8" fmla="*/ 54 w 368"/>
                <a:gd name="T9" fmla="*/ 314 h 368"/>
                <a:gd name="T10" fmla="*/ 82 w 368"/>
                <a:gd name="T11" fmla="*/ 336 h 368"/>
                <a:gd name="T12" fmla="*/ 112 w 368"/>
                <a:gd name="T13" fmla="*/ 354 h 368"/>
                <a:gd name="T14" fmla="*/ 146 w 368"/>
                <a:gd name="T15" fmla="*/ 364 h 368"/>
                <a:gd name="T16" fmla="*/ 184 w 368"/>
                <a:gd name="T17" fmla="*/ 368 h 368"/>
                <a:gd name="T18" fmla="*/ 222 w 368"/>
                <a:gd name="T19" fmla="*/ 364 h 368"/>
                <a:gd name="T20" fmla="*/ 256 w 368"/>
                <a:gd name="T21" fmla="*/ 354 h 368"/>
                <a:gd name="T22" fmla="*/ 286 w 368"/>
                <a:gd name="T23" fmla="*/ 336 h 368"/>
                <a:gd name="T24" fmla="*/ 314 w 368"/>
                <a:gd name="T25" fmla="*/ 314 h 368"/>
                <a:gd name="T26" fmla="*/ 336 w 368"/>
                <a:gd name="T27" fmla="*/ 286 h 368"/>
                <a:gd name="T28" fmla="*/ 354 w 368"/>
                <a:gd name="T29" fmla="*/ 256 h 368"/>
                <a:gd name="T30" fmla="*/ 364 w 368"/>
                <a:gd name="T31" fmla="*/ 222 h 368"/>
                <a:gd name="T32" fmla="*/ 368 w 368"/>
                <a:gd name="T33" fmla="*/ 184 h 368"/>
                <a:gd name="T34" fmla="*/ 364 w 368"/>
                <a:gd name="T35" fmla="*/ 146 h 368"/>
                <a:gd name="T36" fmla="*/ 354 w 368"/>
                <a:gd name="T37" fmla="*/ 112 h 368"/>
                <a:gd name="T38" fmla="*/ 336 w 368"/>
                <a:gd name="T39" fmla="*/ 82 h 368"/>
                <a:gd name="T40" fmla="*/ 314 w 368"/>
                <a:gd name="T41" fmla="*/ 54 h 368"/>
                <a:gd name="T42" fmla="*/ 286 w 368"/>
                <a:gd name="T43" fmla="*/ 32 h 368"/>
                <a:gd name="T44" fmla="*/ 256 w 368"/>
                <a:gd name="T45" fmla="*/ 14 h 368"/>
                <a:gd name="T46" fmla="*/ 222 w 368"/>
                <a:gd name="T47" fmla="*/ 4 h 368"/>
                <a:gd name="T48" fmla="*/ 184 w 368"/>
                <a:gd name="T49" fmla="*/ 0 h 368"/>
                <a:gd name="T50" fmla="*/ 146 w 368"/>
                <a:gd name="T51" fmla="*/ 4 h 368"/>
                <a:gd name="T52" fmla="*/ 112 w 368"/>
                <a:gd name="T53" fmla="*/ 14 h 368"/>
                <a:gd name="T54" fmla="*/ 82 w 368"/>
                <a:gd name="T55" fmla="*/ 32 h 368"/>
                <a:gd name="T56" fmla="*/ 54 w 368"/>
                <a:gd name="T57" fmla="*/ 54 h 368"/>
                <a:gd name="T58" fmla="*/ 32 w 368"/>
                <a:gd name="T59" fmla="*/ 82 h 368"/>
                <a:gd name="T60" fmla="*/ 14 w 368"/>
                <a:gd name="T61" fmla="*/ 112 h 368"/>
                <a:gd name="T62" fmla="*/ 4 w 368"/>
                <a:gd name="T63" fmla="*/ 146 h 368"/>
                <a:gd name="T64" fmla="*/ 0 w 368"/>
                <a:gd name="T65" fmla="*/ 184 h 368"/>
                <a:gd name="T66" fmla="*/ 80 w 368"/>
                <a:gd name="T67" fmla="*/ 184 h 368"/>
                <a:gd name="T68" fmla="*/ 88 w 368"/>
                <a:gd name="T69" fmla="*/ 144 h 368"/>
                <a:gd name="T70" fmla="*/ 110 w 368"/>
                <a:gd name="T71" fmla="*/ 110 h 368"/>
                <a:gd name="T72" fmla="*/ 144 w 368"/>
                <a:gd name="T73" fmla="*/ 88 h 368"/>
                <a:gd name="T74" fmla="*/ 184 w 368"/>
                <a:gd name="T75" fmla="*/ 80 h 368"/>
                <a:gd name="T76" fmla="*/ 224 w 368"/>
                <a:gd name="T77" fmla="*/ 88 h 368"/>
                <a:gd name="T78" fmla="*/ 258 w 368"/>
                <a:gd name="T79" fmla="*/ 110 h 368"/>
                <a:gd name="T80" fmla="*/ 280 w 368"/>
                <a:gd name="T81" fmla="*/ 144 h 368"/>
                <a:gd name="T82" fmla="*/ 288 w 368"/>
                <a:gd name="T83" fmla="*/ 184 h 368"/>
                <a:gd name="T84" fmla="*/ 280 w 368"/>
                <a:gd name="T85" fmla="*/ 224 h 368"/>
                <a:gd name="T86" fmla="*/ 258 w 368"/>
                <a:gd name="T87" fmla="*/ 258 h 368"/>
                <a:gd name="T88" fmla="*/ 224 w 368"/>
                <a:gd name="T89" fmla="*/ 280 h 368"/>
                <a:gd name="T90" fmla="*/ 184 w 368"/>
                <a:gd name="T91" fmla="*/ 288 h 368"/>
                <a:gd name="T92" fmla="*/ 144 w 368"/>
                <a:gd name="T93" fmla="*/ 280 h 368"/>
                <a:gd name="T94" fmla="*/ 110 w 368"/>
                <a:gd name="T95" fmla="*/ 258 h 368"/>
                <a:gd name="T96" fmla="*/ 88 w 368"/>
                <a:gd name="T97" fmla="*/ 224 h 368"/>
                <a:gd name="T98" fmla="*/ 80 w 368"/>
                <a:gd name="T99" fmla="*/ 184 h 36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68"/>
                <a:gd name="T151" fmla="*/ 0 h 368"/>
                <a:gd name="T152" fmla="*/ 368 w 368"/>
                <a:gd name="T153" fmla="*/ 368 h 368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68" h="368">
                  <a:moveTo>
                    <a:pt x="0" y="184"/>
                  </a:moveTo>
                  <a:lnTo>
                    <a:pt x="0" y="184"/>
                  </a:lnTo>
                  <a:lnTo>
                    <a:pt x="0" y="202"/>
                  </a:lnTo>
                  <a:lnTo>
                    <a:pt x="4" y="222"/>
                  </a:lnTo>
                  <a:lnTo>
                    <a:pt x="8" y="238"/>
                  </a:lnTo>
                  <a:lnTo>
                    <a:pt x="14" y="256"/>
                  </a:lnTo>
                  <a:lnTo>
                    <a:pt x="22" y="272"/>
                  </a:lnTo>
                  <a:lnTo>
                    <a:pt x="32" y="286"/>
                  </a:lnTo>
                  <a:lnTo>
                    <a:pt x="42" y="300"/>
                  </a:lnTo>
                  <a:lnTo>
                    <a:pt x="54" y="314"/>
                  </a:lnTo>
                  <a:lnTo>
                    <a:pt x="68" y="326"/>
                  </a:lnTo>
                  <a:lnTo>
                    <a:pt x="82" y="336"/>
                  </a:lnTo>
                  <a:lnTo>
                    <a:pt x="96" y="346"/>
                  </a:lnTo>
                  <a:lnTo>
                    <a:pt x="112" y="354"/>
                  </a:lnTo>
                  <a:lnTo>
                    <a:pt x="130" y="360"/>
                  </a:lnTo>
                  <a:lnTo>
                    <a:pt x="146" y="364"/>
                  </a:lnTo>
                  <a:lnTo>
                    <a:pt x="166" y="368"/>
                  </a:lnTo>
                  <a:lnTo>
                    <a:pt x="184" y="368"/>
                  </a:lnTo>
                  <a:lnTo>
                    <a:pt x="202" y="368"/>
                  </a:lnTo>
                  <a:lnTo>
                    <a:pt x="222" y="364"/>
                  </a:lnTo>
                  <a:lnTo>
                    <a:pt x="238" y="360"/>
                  </a:lnTo>
                  <a:lnTo>
                    <a:pt x="256" y="354"/>
                  </a:lnTo>
                  <a:lnTo>
                    <a:pt x="272" y="346"/>
                  </a:lnTo>
                  <a:lnTo>
                    <a:pt x="286" y="336"/>
                  </a:lnTo>
                  <a:lnTo>
                    <a:pt x="300" y="326"/>
                  </a:lnTo>
                  <a:lnTo>
                    <a:pt x="314" y="314"/>
                  </a:lnTo>
                  <a:lnTo>
                    <a:pt x="326" y="300"/>
                  </a:lnTo>
                  <a:lnTo>
                    <a:pt x="336" y="286"/>
                  </a:lnTo>
                  <a:lnTo>
                    <a:pt x="346" y="272"/>
                  </a:lnTo>
                  <a:lnTo>
                    <a:pt x="354" y="256"/>
                  </a:lnTo>
                  <a:lnTo>
                    <a:pt x="360" y="238"/>
                  </a:lnTo>
                  <a:lnTo>
                    <a:pt x="364" y="222"/>
                  </a:lnTo>
                  <a:lnTo>
                    <a:pt x="368" y="202"/>
                  </a:lnTo>
                  <a:lnTo>
                    <a:pt x="368" y="184"/>
                  </a:lnTo>
                  <a:lnTo>
                    <a:pt x="368" y="166"/>
                  </a:lnTo>
                  <a:lnTo>
                    <a:pt x="364" y="146"/>
                  </a:lnTo>
                  <a:lnTo>
                    <a:pt x="360" y="130"/>
                  </a:lnTo>
                  <a:lnTo>
                    <a:pt x="354" y="112"/>
                  </a:lnTo>
                  <a:lnTo>
                    <a:pt x="346" y="96"/>
                  </a:lnTo>
                  <a:lnTo>
                    <a:pt x="336" y="82"/>
                  </a:lnTo>
                  <a:lnTo>
                    <a:pt x="326" y="68"/>
                  </a:lnTo>
                  <a:lnTo>
                    <a:pt x="314" y="54"/>
                  </a:lnTo>
                  <a:lnTo>
                    <a:pt x="300" y="42"/>
                  </a:lnTo>
                  <a:lnTo>
                    <a:pt x="286" y="32"/>
                  </a:lnTo>
                  <a:lnTo>
                    <a:pt x="272" y="22"/>
                  </a:lnTo>
                  <a:lnTo>
                    <a:pt x="256" y="14"/>
                  </a:lnTo>
                  <a:lnTo>
                    <a:pt x="238" y="8"/>
                  </a:lnTo>
                  <a:lnTo>
                    <a:pt x="222" y="4"/>
                  </a:lnTo>
                  <a:lnTo>
                    <a:pt x="202" y="0"/>
                  </a:lnTo>
                  <a:lnTo>
                    <a:pt x="184" y="0"/>
                  </a:lnTo>
                  <a:lnTo>
                    <a:pt x="166" y="0"/>
                  </a:lnTo>
                  <a:lnTo>
                    <a:pt x="146" y="4"/>
                  </a:lnTo>
                  <a:lnTo>
                    <a:pt x="130" y="8"/>
                  </a:lnTo>
                  <a:lnTo>
                    <a:pt x="112" y="14"/>
                  </a:lnTo>
                  <a:lnTo>
                    <a:pt x="96" y="22"/>
                  </a:lnTo>
                  <a:lnTo>
                    <a:pt x="82" y="32"/>
                  </a:lnTo>
                  <a:lnTo>
                    <a:pt x="68" y="42"/>
                  </a:lnTo>
                  <a:lnTo>
                    <a:pt x="54" y="54"/>
                  </a:lnTo>
                  <a:lnTo>
                    <a:pt x="42" y="68"/>
                  </a:lnTo>
                  <a:lnTo>
                    <a:pt x="32" y="82"/>
                  </a:lnTo>
                  <a:lnTo>
                    <a:pt x="22" y="96"/>
                  </a:lnTo>
                  <a:lnTo>
                    <a:pt x="14" y="112"/>
                  </a:lnTo>
                  <a:lnTo>
                    <a:pt x="8" y="130"/>
                  </a:lnTo>
                  <a:lnTo>
                    <a:pt x="4" y="146"/>
                  </a:lnTo>
                  <a:lnTo>
                    <a:pt x="0" y="166"/>
                  </a:lnTo>
                  <a:lnTo>
                    <a:pt x="0" y="184"/>
                  </a:lnTo>
                  <a:close/>
                  <a:moveTo>
                    <a:pt x="80" y="184"/>
                  </a:moveTo>
                  <a:lnTo>
                    <a:pt x="80" y="184"/>
                  </a:lnTo>
                  <a:lnTo>
                    <a:pt x="82" y="164"/>
                  </a:lnTo>
                  <a:lnTo>
                    <a:pt x="88" y="144"/>
                  </a:lnTo>
                  <a:lnTo>
                    <a:pt x="98" y="126"/>
                  </a:lnTo>
                  <a:lnTo>
                    <a:pt x="110" y="110"/>
                  </a:lnTo>
                  <a:lnTo>
                    <a:pt x="126" y="98"/>
                  </a:lnTo>
                  <a:lnTo>
                    <a:pt x="144" y="88"/>
                  </a:lnTo>
                  <a:lnTo>
                    <a:pt x="164" y="82"/>
                  </a:lnTo>
                  <a:lnTo>
                    <a:pt x="184" y="80"/>
                  </a:lnTo>
                  <a:lnTo>
                    <a:pt x="204" y="82"/>
                  </a:lnTo>
                  <a:lnTo>
                    <a:pt x="224" y="88"/>
                  </a:lnTo>
                  <a:lnTo>
                    <a:pt x="242" y="98"/>
                  </a:lnTo>
                  <a:lnTo>
                    <a:pt x="258" y="110"/>
                  </a:lnTo>
                  <a:lnTo>
                    <a:pt x="270" y="126"/>
                  </a:lnTo>
                  <a:lnTo>
                    <a:pt x="280" y="144"/>
                  </a:lnTo>
                  <a:lnTo>
                    <a:pt x="286" y="164"/>
                  </a:lnTo>
                  <a:lnTo>
                    <a:pt x="288" y="184"/>
                  </a:lnTo>
                  <a:lnTo>
                    <a:pt x="286" y="204"/>
                  </a:lnTo>
                  <a:lnTo>
                    <a:pt x="280" y="224"/>
                  </a:lnTo>
                  <a:lnTo>
                    <a:pt x="270" y="242"/>
                  </a:lnTo>
                  <a:lnTo>
                    <a:pt x="258" y="258"/>
                  </a:lnTo>
                  <a:lnTo>
                    <a:pt x="242" y="270"/>
                  </a:lnTo>
                  <a:lnTo>
                    <a:pt x="224" y="280"/>
                  </a:lnTo>
                  <a:lnTo>
                    <a:pt x="204" y="286"/>
                  </a:lnTo>
                  <a:lnTo>
                    <a:pt x="184" y="288"/>
                  </a:lnTo>
                  <a:lnTo>
                    <a:pt x="164" y="286"/>
                  </a:lnTo>
                  <a:lnTo>
                    <a:pt x="144" y="280"/>
                  </a:lnTo>
                  <a:lnTo>
                    <a:pt x="126" y="270"/>
                  </a:lnTo>
                  <a:lnTo>
                    <a:pt x="110" y="258"/>
                  </a:lnTo>
                  <a:lnTo>
                    <a:pt x="98" y="242"/>
                  </a:lnTo>
                  <a:lnTo>
                    <a:pt x="88" y="224"/>
                  </a:lnTo>
                  <a:lnTo>
                    <a:pt x="82" y="204"/>
                  </a:lnTo>
                  <a:lnTo>
                    <a:pt x="80" y="1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3F88"/>
                </a:solidFill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Freeform 4"/>
            <p:cNvSpPr>
              <a:spLocks noEditPoints="1"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8" y="288"/>
              <a:ext cx="656" cy="656"/>
            </a:xfrm>
            <a:custGeom>
              <a:avLst/>
              <a:gdLst>
                <a:gd name="T0" fmla="*/ 2 w 656"/>
                <a:gd name="T1" fmla="*/ 362 h 656"/>
                <a:gd name="T2" fmla="*/ 26 w 656"/>
                <a:gd name="T3" fmla="*/ 456 h 656"/>
                <a:gd name="T4" fmla="*/ 74 w 656"/>
                <a:gd name="T5" fmla="*/ 536 h 656"/>
                <a:gd name="T6" fmla="*/ 144 w 656"/>
                <a:gd name="T7" fmla="*/ 600 h 656"/>
                <a:gd name="T8" fmla="*/ 230 w 656"/>
                <a:gd name="T9" fmla="*/ 642 h 656"/>
                <a:gd name="T10" fmla="*/ 328 w 656"/>
                <a:gd name="T11" fmla="*/ 656 h 656"/>
                <a:gd name="T12" fmla="*/ 426 w 656"/>
                <a:gd name="T13" fmla="*/ 642 h 656"/>
                <a:gd name="T14" fmla="*/ 512 w 656"/>
                <a:gd name="T15" fmla="*/ 600 h 656"/>
                <a:gd name="T16" fmla="*/ 582 w 656"/>
                <a:gd name="T17" fmla="*/ 536 h 656"/>
                <a:gd name="T18" fmla="*/ 630 w 656"/>
                <a:gd name="T19" fmla="*/ 456 h 656"/>
                <a:gd name="T20" fmla="*/ 654 w 656"/>
                <a:gd name="T21" fmla="*/ 362 h 656"/>
                <a:gd name="T22" fmla="*/ 650 w 656"/>
                <a:gd name="T23" fmla="*/ 262 h 656"/>
                <a:gd name="T24" fmla="*/ 616 w 656"/>
                <a:gd name="T25" fmla="*/ 172 h 656"/>
                <a:gd name="T26" fmla="*/ 560 w 656"/>
                <a:gd name="T27" fmla="*/ 96 h 656"/>
                <a:gd name="T28" fmla="*/ 484 w 656"/>
                <a:gd name="T29" fmla="*/ 40 h 656"/>
                <a:gd name="T30" fmla="*/ 394 w 656"/>
                <a:gd name="T31" fmla="*/ 6 h 656"/>
                <a:gd name="T32" fmla="*/ 294 w 656"/>
                <a:gd name="T33" fmla="*/ 2 h 656"/>
                <a:gd name="T34" fmla="*/ 200 w 656"/>
                <a:gd name="T35" fmla="*/ 26 h 656"/>
                <a:gd name="T36" fmla="*/ 120 w 656"/>
                <a:gd name="T37" fmla="*/ 74 h 656"/>
                <a:gd name="T38" fmla="*/ 56 w 656"/>
                <a:gd name="T39" fmla="*/ 144 h 656"/>
                <a:gd name="T40" fmla="*/ 14 w 656"/>
                <a:gd name="T41" fmla="*/ 230 h 656"/>
                <a:gd name="T42" fmla="*/ 0 w 656"/>
                <a:gd name="T43" fmla="*/ 328 h 656"/>
                <a:gd name="T44" fmla="*/ 82 w 656"/>
                <a:gd name="T45" fmla="*/ 302 h 656"/>
                <a:gd name="T46" fmla="*/ 100 w 656"/>
                <a:gd name="T47" fmla="*/ 232 h 656"/>
                <a:gd name="T48" fmla="*/ 136 w 656"/>
                <a:gd name="T49" fmla="*/ 170 h 656"/>
                <a:gd name="T50" fmla="*/ 190 w 656"/>
                <a:gd name="T51" fmla="*/ 122 h 656"/>
                <a:gd name="T52" fmla="*/ 254 w 656"/>
                <a:gd name="T53" fmla="*/ 92 h 656"/>
                <a:gd name="T54" fmla="*/ 328 w 656"/>
                <a:gd name="T55" fmla="*/ 80 h 656"/>
                <a:gd name="T56" fmla="*/ 402 w 656"/>
                <a:gd name="T57" fmla="*/ 92 h 656"/>
                <a:gd name="T58" fmla="*/ 466 w 656"/>
                <a:gd name="T59" fmla="*/ 122 h 656"/>
                <a:gd name="T60" fmla="*/ 520 w 656"/>
                <a:gd name="T61" fmla="*/ 170 h 656"/>
                <a:gd name="T62" fmla="*/ 556 w 656"/>
                <a:gd name="T63" fmla="*/ 232 h 656"/>
                <a:gd name="T64" fmla="*/ 574 w 656"/>
                <a:gd name="T65" fmla="*/ 302 h 656"/>
                <a:gd name="T66" fmla="*/ 570 w 656"/>
                <a:gd name="T67" fmla="*/ 378 h 656"/>
                <a:gd name="T68" fmla="*/ 546 w 656"/>
                <a:gd name="T69" fmla="*/ 446 h 656"/>
                <a:gd name="T70" fmla="*/ 504 w 656"/>
                <a:gd name="T71" fmla="*/ 504 h 656"/>
                <a:gd name="T72" fmla="*/ 446 w 656"/>
                <a:gd name="T73" fmla="*/ 546 h 656"/>
                <a:gd name="T74" fmla="*/ 378 w 656"/>
                <a:gd name="T75" fmla="*/ 570 h 656"/>
                <a:gd name="T76" fmla="*/ 302 w 656"/>
                <a:gd name="T77" fmla="*/ 574 h 656"/>
                <a:gd name="T78" fmla="*/ 232 w 656"/>
                <a:gd name="T79" fmla="*/ 556 h 656"/>
                <a:gd name="T80" fmla="*/ 170 w 656"/>
                <a:gd name="T81" fmla="*/ 520 h 656"/>
                <a:gd name="T82" fmla="*/ 122 w 656"/>
                <a:gd name="T83" fmla="*/ 466 h 656"/>
                <a:gd name="T84" fmla="*/ 92 w 656"/>
                <a:gd name="T85" fmla="*/ 402 h 656"/>
                <a:gd name="T86" fmla="*/ 80 w 656"/>
                <a:gd name="T87" fmla="*/ 328 h 65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656"/>
                <a:gd name="T133" fmla="*/ 0 h 656"/>
                <a:gd name="T134" fmla="*/ 656 w 656"/>
                <a:gd name="T135" fmla="*/ 656 h 65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656" h="656">
                  <a:moveTo>
                    <a:pt x="0" y="328"/>
                  </a:moveTo>
                  <a:lnTo>
                    <a:pt x="0" y="328"/>
                  </a:lnTo>
                  <a:lnTo>
                    <a:pt x="2" y="362"/>
                  </a:lnTo>
                  <a:lnTo>
                    <a:pt x="6" y="394"/>
                  </a:lnTo>
                  <a:lnTo>
                    <a:pt x="14" y="426"/>
                  </a:lnTo>
                  <a:lnTo>
                    <a:pt x="26" y="456"/>
                  </a:lnTo>
                  <a:lnTo>
                    <a:pt x="40" y="484"/>
                  </a:lnTo>
                  <a:lnTo>
                    <a:pt x="56" y="512"/>
                  </a:lnTo>
                  <a:lnTo>
                    <a:pt x="74" y="536"/>
                  </a:lnTo>
                  <a:lnTo>
                    <a:pt x="96" y="560"/>
                  </a:lnTo>
                  <a:lnTo>
                    <a:pt x="120" y="582"/>
                  </a:lnTo>
                  <a:lnTo>
                    <a:pt x="144" y="600"/>
                  </a:lnTo>
                  <a:lnTo>
                    <a:pt x="172" y="616"/>
                  </a:lnTo>
                  <a:lnTo>
                    <a:pt x="200" y="630"/>
                  </a:lnTo>
                  <a:lnTo>
                    <a:pt x="230" y="642"/>
                  </a:lnTo>
                  <a:lnTo>
                    <a:pt x="262" y="650"/>
                  </a:lnTo>
                  <a:lnTo>
                    <a:pt x="294" y="654"/>
                  </a:lnTo>
                  <a:lnTo>
                    <a:pt x="328" y="656"/>
                  </a:lnTo>
                  <a:lnTo>
                    <a:pt x="362" y="654"/>
                  </a:lnTo>
                  <a:lnTo>
                    <a:pt x="394" y="650"/>
                  </a:lnTo>
                  <a:lnTo>
                    <a:pt x="426" y="642"/>
                  </a:lnTo>
                  <a:lnTo>
                    <a:pt x="456" y="630"/>
                  </a:lnTo>
                  <a:lnTo>
                    <a:pt x="484" y="616"/>
                  </a:lnTo>
                  <a:lnTo>
                    <a:pt x="512" y="600"/>
                  </a:lnTo>
                  <a:lnTo>
                    <a:pt x="536" y="582"/>
                  </a:lnTo>
                  <a:lnTo>
                    <a:pt x="560" y="560"/>
                  </a:lnTo>
                  <a:lnTo>
                    <a:pt x="582" y="536"/>
                  </a:lnTo>
                  <a:lnTo>
                    <a:pt x="600" y="512"/>
                  </a:lnTo>
                  <a:lnTo>
                    <a:pt x="616" y="484"/>
                  </a:lnTo>
                  <a:lnTo>
                    <a:pt x="630" y="456"/>
                  </a:lnTo>
                  <a:lnTo>
                    <a:pt x="642" y="426"/>
                  </a:lnTo>
                  <a:lnTo>
                    <a:pt x="650" y="394"/>
                  </a:lnTo>
                  <a:lnTo>
                    <a:pt x="654" y="362"/>
                  </a:lnTo>
                  <a:lnTo>
                    <a:pt x="656" y="328"/>
                  </a:lnTo>
                  <a:lnTo>
                    <a:pt x="654" y="294"/>
                  </a:lnTo>
                  <a:lnTo>
                    <a:pt x="650" y="262"/>
                  </a:lnTo>
                  <a:lnTo>
                    <a:pt x="642" y="230"/>
                  </a:lnTo>
                  <a:lnTo>
                    <a:pt x="630" y="200"/>
                  </a:lnTo>
                  <a:lnTo>
                    <a:pt x="616" y="172"/>
                  </a:lnTo>
                  <a:lnTo>
                    <a:pt x="600" y="144"/>
                  </a:lnTo>
                  <a:lnTo>
                    <a:pt x="582" y="120"/>
                  </a:lnTo>
                  <a:lnTo>
                    <a:pt x="560" y="96"/>
                  </a:lnTo>
                  <a:lnTo>
                    <a:pt x="536" y="74"/>
                  </a:lnTo>
                  <a:lnTo>
                    <a:pt x="512" y="56"/>
                  </a:lnTo>
                  <a:lnTo>
                    <a:pt x="484" y="40"/>
                  </a:lnTo>
                  <a:lnTo>
                    <a:pt x="456" y="26"/>
                  </a:lnTo>
                  <a:lnTo>
                    <a:pt x="426" y="14"/>
                  </a:lnTo>
                  <a:lnTo>
                    <a:pt x="394" y="6"/>
                  </a:lnTo>
                  <a:lnTo>
                    <a:pt x="362" y="2"/>
                  </a:lnTo>
                  <a:lnTo>
                    <a:pt x="328" y="0"/>
                  </a:lnTo>
                  <a:lnTo>
                    <a:pt x="294" y="2"/>
                  </a:lnTo>
                  <a:lnTo>
                    <a:pt x="262" y="6"/>
                  </a:lnTo>
                  <a:lnTo>
                    <a:pt x="230" y="14"/>
                  </a:lnTo>
                  <a:lnTo>
                    <a:pt x="200" y="26"/>
                  </a:lnTo>
                  <a:lnTo>
                    <a:pt x="172" y="40"/>
                  </a:lnTo>
                  <a:lnTo>
                    <a:pt x="144" y="56"/>
                  </a:lnTo>
                  <a:lnTo>
                    <a:pt x="120" y="74"/>
                  </a:lnTo>
                  <a:lnTo>
                    <a:pt x="96" y="96"/>
                  </a:lnTo>
                  <a:lnTo>
                    <a:pt x="74" y="120"/>
                  </a:lnTo>
                  <a:lnTo>
                    <a:pt x="56" y="144"/>
                  </a:lnTo>
                  <a:lnTo>
                    <a:pt x="40" y="172"/>
                  </a:lnTo>
                  <a:lnTo>
                    <a:pt x="26" y="200"/>
                  </a:lnTo>
                  <a:lnTo>
                    <a:pt x="14" y="230"/>
                  </a:lnTo>
                  <a:lnTo>
                    <a:pt x="6" y="262"/>
                  </a:lnTo>
                  <a:lnTo>
                    <a:pt x="2" y="294"/>
                  </a:lnTo>
                  <a:lnTo>
                    <a:pt x="0" y="328"/>
                  </a:lnTo>
                  <a:close/>
                  <a:moveTo>
                    <a:pt x="80" y="328"/>
                  </a:moveTo>
                  <a:lnTo>
                    <a:pt x="80" y="328"/>
                  </a:lnTo>
                  <a:lnTo>
                    <a:pt x="82" y="302"/>
                  </a:lnTo>
                  <a:lnTo>
                    <a:pt x="86" y="278"/>
                  </a:lnTo>
                  <a:lnTo>
                    <a:pt x="92" y="254"/>
                  </a:lnTo>
                  <a:lnTo>
                    <a:pt x="100" y="232"/>
                  </a:lnTo>
                  <a:lnTo>
                    <a:pt x="110" y="210"/>
                  </a:lnTo>
                  <a:lnTo>
                    <a:pt x="122" y="190"/>
                  </a:lnTo>
                  <a:lnTo>
                    <a:pt x="136" y="170"/>
                  </a:lnTo>
                  <a:lnTo>
                    <a:pt x="152" y="152"/>
                  </a:lnTo>
                  <a:lnTo>
                    <a:pt x="170" y="136"/>
                  </a:lnTo>
                  <a:lnTo>
                    <a:pt x="190" y="122"/>
                  </a:lnTo>
                  <a:lnTo>
                    <a:pt x="210" y="110"/>
                  </a:lnTo>
                  <a:lnTo>
                    <a:pt x="232" y="100"/>
                  </a:lnTo>
                  <a:lnTo>
                    <a:pt x="254" y="92"/>
                  </a:lnTo>
                  <a:lnTo>
                    <a:pt x="278" y="86"/>
                  </a:lnTo>
                  <a:lnTo>
                    <a:pt x="302" y="82"/>
                  </a:lnTo>
                  <a:lnTo>
                    <a:pt x="328" y="80"/>
                  </a:lnTo>
                  <a:lnTo>
                    <a:pt x="354" y="82"/>
                  </a:lnTo>
                  <a:lnTo>
                    <a:pt x="378" y="86"/>
                  </a:lnTo>
                  <a:lnTo>
                    <a:pt x="402" y="92"/>
                  </a:lnTo>
                  <a:lnTo>
                    <a:pt x="424" y="100"/>
                  </a:lnTo>
                  <a:lnTo>
                    <a:pt x="446" y="110"/>
                  </a:lnTo>
                  <a:lnTo>
                    <a:pt x="466" y="122"/>
                  </a:lnTo>
                  <a:lnTo>
                    <a:pt x="486" y="136"/>
                  </a:lnTo>
                  <a:lnTo>
                    <a:pt x="504" y="152"/>
                  </a:lnTo>
                  <a:lnTo>
                    <a:pt x="520" y="170"/>
                  </a:lnTo>
                  <a:lnTo>
                    <a:pt x="534" y="190"/>
                  </a:lnTo>
                  <a:lnTo>
                    <a:pt x="546" y="210"/>
                  </a:lnTo>
                  <a:lnTo>
                    <a:pt x="556" y="232"/>
                  </a:lnTo>
                  <a:lnTo>
                    <a:pt x="564" y="254"/>
                  </a:lnTo>
                  <a:lnTo>
                    <a:pt x="570" y="278"/>
                  </a:lnTo>
                  <a:lnTo>
                    <a:pt x="574" y="302"/>
                  </a:lnTo>
                  <a:lnTo>
                    <a:pt x="576" y="328"/>
                  </a:lnTo>
                  <a:lnTo>
                    <a:pt x="574" y="354"/>
                  </a:lnTo>
                  <a:lnTo>
                    <a:pt x="570" y="378"/>
                  </a:lnTo>
                  <a:lnTo>
                    <a:pt x="564" y="402"/>
                  </a:lnTo>
                  <a:lnTo>
                    <a:pt x="556" y="424"/>
                  </a:lnTo>
                  <a:lnTo>
                    <a:pt x="546" y="446"/>
                  </a:lnTo>
                  <a:lnTo>
                    <a:pt x="534" y="466"/>
                  </a:lnTo>
                  <a:lnTo>
                    <a:pt x="520" y="486"/>
                  </a:lnTo>
                  <a:lnTo>
                    <a:pt x="504" y="504"/>
                  </a:lnTo>
                  <a:lnTo>
                    <a:pt x="486" y="520"/>
                  </a:lnTo>
                  <a:lnTo>
                    <a:pt x="466" y="534"/>
                  </a:lnTo>
                  <a:lnTo>
                    <a:pt x="446" y="546"/>
                  </a:lnTo>
                  <a:lnTo>
                    <a:pt x="424" y="556"/>
                  </a:lnTo>
                  <a:lnTo>
                    <a:pt x="402" y="564"/>
                  </a:lnTo>
                  <a:lnTo>
                    <a:pt x="378" y="570"/>
                  </a:lnTo>
                  <a:lnTo>
                    <a:pt x="354" y="574"/>
                  </a:lnTo>
                  <a:lnTo>
                    <a:pt x="328" y="576"/>
                  </a:lnTo>
                  <a:lnTo>
                    <a:pt x="302" y="574"/>
                  </a:lnTo>
                  <a:lnTo>
                    <a:pt x="278" y="570"/>
                  </a:lnTo>
                  <a:lnTo>
                    <a:pt x="254" y="564"/>
                  </a:lnTo>
                  <a:lnTo>
                    <a:pt x="232" y="556"/>
                  </a:lnTo>
                  <a:lnTo>
                    <a:pt x="210" y="546"/>
                  </a:lnTo>
                  <a:lnTo>
                    <a:pt x="190" y="534"/>
                  </a:lnTo>
                  <a:lnTo>
                    <a:pt x="170" y="520"/>
                  </a:lnTo>
                  <a:lnTo>
                    <a:pt x="152" y="504"/>
                  </a:lnTo>
                  <a:lnTo>
                    <a:pt x="136" y="486"/>
                  </a:lnTo>
                  <a:lnTo>
                    <a:pt x="122" y="466"/>
                  </a:lnTo>
                  <a:lnTo>
                    <a:pt x="110" y="446"/>
                  </a:lnTo>
                  <a:lnTo>
                    <a:pt x="100" y="424"/>
                  </a:lnTo>
                  <a:lnTo>
                    <a:pt x="92" y="402"/>
                  </a:lnTo>
                  <a:lnTo>
                    <a:pt x="86" y="378"/>
                  </a:lnTo>
                  <a:lnTo>
                    <a:pt x="82" y="354"/>
                  </a:lnTo>
                  <a:lnTo>
                    <a:pt x="80" y="3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3F88"/>
                </a:solidFill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Freeform 5"/>
            <p:cNvSpPr>
              <a:spLocks noEditPoints="1"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44" y="144"/>
              <a:ext cx="944" cy="944"/>
            </a:xfrm>
            <a:custGeom>
              <a:avLst/>
              <a:gdLst>
                <a:gd name="T0" fmla="*/ 0 w 944"/>
                <a:gd name="T1" fmla="*/ 496 h 944"/>
                <a:gd name="T2" fmla="*/ 10 w 944"/>
                <a:gd name="T3" fmla="*/ 568 h 944"/>
                <a:gd name="T4" fmla="*/ 58 w 944"/>
                <a:gd name="T5" fmla="*/ 696 h 944"/>
                <a:gd name="T6" fmla="*/ 138 w 944"/>
                <a:gd name="T7" fmla="*/ 806 h 944"/>
                <a:gd name="T8" fmla="*/ 248 w 944"/>
                <a:gd name="T9" fmla="*/ 886 h 944"/>
                <a:gd name="T10" fmla="*/ 376 w 944"/>
                <a:gd name="T11" fmla="*/ 934 h 944"/>
                <a:gd name="T12" fmla="*/ 448 w 944"/>
                <a:gd name="T13" fmla="*/ 944 h 944"/>
                <a:gd name="T14" fmla="*/ 520 w 944"/>
                <a:gd name="T15" fmla="*/ 942 h 944"/>
                <a:gd name="T16" fmla="*/ 612 w 944"/>
                <a:gd name="T17" fmla="*/ 922 h 944"/>
                <a:gd name="T18" fmla="*/ 736 w 944"/>
                <a:gd name="T19" fmla="*/ 864 h 944"/>
                <a:gd name="T20" fmla="*/ 836 w 944"/>
                <a:gd name="T21" fmla="*/ 772 h 944"/>
                <a:gd name="T22" fmla="*/ 906 w 944"/>
                <a:gd name="T23" fmla="*/ 656 h 944"/>
                <a:gd name="T24" fmla="*/ 938 w 944"/>
                <a:gd name="T25" fmla="*/ 544 h 944"/>
                <a:gd name="T26" fmla="*/ 944 w 944"/>
                <a:gd name="T27" fmla="*/ 472 h 944"/>
                <a:gd name="T28" fmla="*/ 938 w 944"/>
                <a:gd name="T29" fmla="*/ 400 h 944"/>
                <a:gd name="T30" fmla="*/ 906 w 944"/>
                <a:gd name="T31" fmla="*/ 288 h 944"/>
                <a:gd name="T32" fmla="*/ 836 w 944"/>
                <a:gd name="T33" fmla="*/ 172 h 944"/>
                <a:gd name="T34" fmla="*/ 736 w 944"/>
                <a:gd name="T35" fmla="*/ 80 h 944"/>
                <a:gd name="T36" fmla="*/ 612 w 944"/>
                <a:gd name="T37" fmla="*/ 22 h 944"/>
                <a:gd name="T38" fmla="*/ 520 w 944"/>
                <a:gd name="T39" fmla="*/ 2 h 944"/>
                <a:gd name="T40" fmla="*/ 448 w 944"/>
                <a:gd name="T41" fmla="*/ 0 h 944"/>
                <a:gd name="T42" fmla="*/ 376 w 944"/>
                <a:gd name="T43" fmla="*/ 10 h 944"/>
                <a:gd name="T44" fmla="*/ 248 w 944"/>
                <a:gd name="T45" fmla="*/ 58 h 944"/>
                <a:gd name="T46" fmla="*/ 138 w 944"/>
                <a:gd name="T47" fmla="*/ 138 h 944"/>
                <a:gd name="T48" fmla="*/ 58 w 944"/>
                <a:gd name="T49" fmla="*/ 248 h 944"/>
                <a:gd name="T50" fmla="*/ 10 w 944"/>
                <a:gd name="T51" fmla="*/ 376 h 944"/>
                <a:gd name="T52" fmla="*/ 0 w 944"/>
                <a:gd name="T53" fmla="*/ 448 h 944"/>
                <a:gd name="T54" fmla="*/ 80 w 944"/>
                <a:gd name="T55" fmla="*/ 472 h 944"/>
                <a:gd name="T56" fmla="*/ 98 w 944"/>
                <a:gd name="T57" fmla="*/ 356 h 944"/>
                <a:gd name="T58" fmla="*/ 148 w 944"/>
                <a:gd name="T59" fmla="*/ 252 h 944"/>
                <a:gd name="T60" fmla="*/ 222 w 944"/>
                <a:gd name="T61" fmla="*/ 170 h 944"/>
                <a:gd name="T62" fmla="*/ 320 w 944"/>
                <a:gd name="T63" fmla="*/ 110 h 944"/>
                <a:gd name="T64" fmla="*/ 432 w 944"/>
                <a:gd name="T65" fmla="*/ 82 h 944"/>
                <a:gd name="T66" fmla="*/ 550 w 944"/>
                <a:gd name="T67" fmla="*/ 88 h 944"/>
                <a:gd name="T68" fmla="*/ 658 w 944"/>
                <a:gd name="T69" fmla="*/ 128 h 944"/>
                <a:gd name="T70" fmla="*/ 750 w 944"/>
                <a:gd name="T71" fmla="*/ 194 h 944"/>
                <a:gd name="T72" fmla="*/ 816 w 944"/>
                <a:gd name="T73" fmla="*/ 286 h 944"/>
                <a:gd name="T74" fmla="*/ 856 w 944"/>
                <a:gd name="T75" fmla="*/ 394 h 944"/>
                <a:gd name="T76" fmla="*/ 862 w 944"/>
                <a:gd name="T77" fmla="*/ 512 h 944"/>
                <a:gd name="T78" fmla="*/ 834 w 944"/>
                <a:gd name="T79" fmla="*/ 624 h 944"/>
                <a:gd name="T80" fmla="*/ 774 w 944"/>
                <a:gd name="T81" fmla="*/ 722 h 944"/>
                <a:gd name="T82" fmla="*/ 692 w 944"/>
                <a:gd name="T83" fmla="*/ 796 h 944"/>
                <a:gd name="T84" fmla="*/ 588 w 944"/>
                <a:gd name="T85" fmla="*/ 846 h 944"/>
                <a:gd name="T86" fmla="*/ 472 w 944"/>
                <a:gd name="T87" fmla="*/ 864 h 944"/>
                <a:gd name="T88" fmla="*/ 356 w 944"/>
                <a:gd name="T89" fmla="*/ 846 h 944"/>
                <a:gd name="T90" fmla="*/ 252 w 944"/>
                <a:gd name="T91" fmla="*/ 796 h 944"/>
                <a:gd name="T92" fmla="*/ 170 w 944"/>
                <a:gd name="T93" fmla="*/ 722 h 944"/>
                <a:gd name="T94" fmla="*/ 110 w 944"/>
                <a:gd name="T95" fmla="*/ 624 h 944"/>
                <a:gd name="T96" fmla="*/ 82 w 944"/>
                <a:gd name="T97" fmla="*/ 512 h 94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44"/>
                <a:gd name="T148" fmla="*/ 0 h 944"/>
                <a:gd name="T149" fmla="*/ 944 w 944"/>
                <a:gd name="T150" fmla="*/ 944 h 94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44" h="944">
                  <a:moveTo>
                    <a:pt x="0" y="472"/>
                  </a:moveTo>
                  <a:lnTo>
                    <a:pt x="0" y="472"/>
                  </a:lnTo>
                  <a:lnTo>
                    <a:pt x="0" y="496"/>
                  </a:lnTo>
                  <a:lnTo>
                    <a:pt x="2" y="520"/>
                  </a:lnTo>
                  <a:lnTo>
                    <a:pt x="6" y="544"/>
                  </a:lnTo>
                  <a:lnTo>
                    <a:pt x="10" y="568"/>
                  </a:lnTo>
                  <a:lnTo>
                    <a:pt x="22" y="612"/>
                  </a:lnTo>
                  <a:lnTo>
                    <a:pt x="38" y="656"/>
                  </a:lnTo>
                  <a:lnTo>
                    <a:pt x="58" y="696"/>
                  </a:lnTo>
                  <a:lnTo>
                    <a:pt x="80" y="736"/>
                  </a:lnTo>
                  <a:lnTo>
                    <a:pt x="108" y="772"/>
                  </a:lnTo>
                  <a:lnTo>
                    <a:pt x="138" y="806"/>
                  </a:lnTo>
                  <a:lnTo>
                    <a:pt x="172" y="836"/>
                  </a:lnTo>
                  <a:lnTo>
                    <a:pt x="208" y="864"/>
                  </a:lnTo>
                  <a:lnTo>
                    <a:pt x="248" y="886"/>
                  </a:lnTo>
                  <a:lnTo>
                    <a:pt x="288" y="906"/>
                  </a:lnTo>
                  <a:lnTo>
                    <a:pt x="332" y="922"/>
                  </a:lnTo>
                  <a:lnTo>
                    <a:pt x="376" y="934"/>
                  </a:lnTo>
                  <a:lnTo>
                    <a:pt x="400" y="938"/>
                  </a:lnTo>
                  <a:lnTo>
                    <a:pt x="424" y="942"/>
                  </a:lnTo>
                  <a:lnTo>
                    <a:pt x="448" y="944"/>
                  </a:lnTo>
                  <a:lnTo>
                    <a:pt x="472" y="944"/>
                  </a:lnTo>
                  <a:lnTo>
                    <a:pt x="496" y="944"/>
                  </a:lnTo>
                  <a:lnTo>
                    <a:pt x="520" y="942"/>
                  </a:lnTo>
                  <a:lnTo>
                    <a:pt x="544" y="938"/>
                  </a:lnTo>
                  <a:lnTo>
                    <a:pt x="568" y="934"/>
                  </a:lnTo>
                  <a:lnTo>
                    <a:pt x="612" y="922"/>
                  </a:lnTo>
                  <a:lnTo>
                    <a:pt x="656" y="906"/>
                  </a:lnTo>
                  <a:lnTo>
                    <a:pt x="696" y="886"/>
                  </a:lnTo>
                  <a:lnTo>
                    <a:pt x="736" y="864"/>
                  </a:lnTo>
                  <a:lnTo>
                    <a:pt x="772" y="836"/>
                  </a:lnTo>
                  <a:lnTo>
                    <a:pt x="806" y="806"/>
                  </a:lnTo>
                  <a:lnTo>
                    <a:pt x="836" y="772"/>
                  </a:lnTo>
                  <a:lnTo>
                    <a:pt x="864" y="736"/>
                  </a:lnTo>
                  <a:lnTo>
                    <a:pt x="886" y="696"/>
                  </a:lnTo>
                  <a:lnTo>
                    <a:pt x="906" y="656"/>
                  </a:lnTo>
                  <a:lnTo>
                    <a:pt x="922" y="612"/>
                  </a:lnTo>
                  <a:lnTo>
                    <a:pt x="934" y="568"/>
                  </a:lnTo>
                  <a:lnTo>
                    <a:pt x="938" y="544"/>
                  </a:lnTo>
                  <a:lnTo>
                    <a:pt x="942" y="520"/>
                  </a:lnTo>
                  <a:lnTo>
                    <a:pt x="944" y="496"/>
                  </a:lnTo>
                  <a:lnTo>
                    <a:pt x="944" y="472"/>
                  </a:lnTo>
                  <a:lnTo>
                    <a:pt x="944" y="448"/>
                  </a:lnTo>
                  <a:lnTo>
                    <a:pt x="942" y="424"/>
                  </a:lnTo>
                  <a:lnTo>
                    <a:pt x="938" y="400"/>
                  </a:lnTo>
                  <a:lnTo>
                    <a:pt x="934" y="376"/>
                  </a:lnTo>
                  <a:lnTo>
                    <a:pt x="922" y="332"/>
                  </a:lnTo>
                  <a:lnTo>
                    <a:pt x="906" y="288"/>
                  </a:lnTo>
                  <a:lnTo>
                    <a:pt x="886" y="248"/>
                  </a:lnTo>
                  <a:lnTo>
                    <a:pt x="864" y="208"/>
                  </a:lnTo>
                  <a:lnTo>
                    <a:pt x="836" y="172"/>
                  </a:lnTo>
                  <a:lnTo>
                    <a:pt x="806" y="138"/>
                  </a:lnTo>
                  <a:lnTo>
                    <a:pt x="772" y="108"/>
                  </a:lnTo>
                  <a:lnTo>
                    <a:pt x="736" y="80"/>
                  </a:lnTo>
                  <a:lnTo>
                    <a:pt x="696" y="58"/>
                  </a:lnTo>
                  <a:lnTo>
                    <a:pt x="656" y="38"/>
                  </a:lnTo>
                  <a:lnTo>
                    <a:pt x="612" y="22"/>
                  </a:lnTo>
                  <a:lnTo>
                    <a:pt x="568" y="10"/>
                  </a:lnTo>
                  <a:lnTo>
                    <a:pt x="544" y="6"/>
                  </a:lnTo>
                  <a:lnTo>
                    <a:pt x="520" y="2"/>
                  </a:lnTo>
                  <a:lnTo>
                    <a:pt x="496" y="0"/>
                  </a:lnTo>
                  <a:lnTo>
                    <a:pt x="472" y="0"/>
                  </a:lnTo>
                  <a:lnTo>
                    <a:pt x="448" y="0"/>
                  </a:lnTo>
                  <a:lnTo>
                    <a:pt x="424" y="2"/>
                  </a:lnTo>
                  <a:lnTo>
                    <a:pt x="400" y="6"/>
                  </a:lnTo>
                  <a:lnTo>
                    <a:pt x="376" y="10"/>
                  </a:lnTo>
                  <a:lnTo>
                    <a:pt x="332" y="22"/>
                  </a:lnTo>
                  <a:lnTo>
                    <a:pt x="288" y="38"/>
                  </a:lnTo>
                  <a:lnTo>
                    <a:pt x="248" y="58"/>
                  </a:lnTo>
                  <a:lnTo>
                    <a:pt x="208" y="80"/>
                  </a:lnTo>
                  <a:lnTo>
                    <a:pt x="172" y="108"/>
                  </a:lnTo>
                  <a:lnTo>
                    <a:pt x="138" y="138"/>
                  </a:lnTo>
                  <a:lnTo>
                    <a:pt x="108" y="172"/>
                  </a:lnTo>
                  <a:lnTo>
                    <a:pt x="80" y="208"/>
                  </a:lnTo>
                  <a:lnTo>
                    <a:pt x="58" y="248"/>
                  </a:lnTo>
                  <a:lnTo>
                    <a:pt x="38" y="288"/>
                  </a:lnTo>
                  <a:lnTo>
                    <a:pt x="22" y="332"/>
                  </a:lnTo>
                  <a:lnTo>
                    <a:pt x="10" y="376"/>
                  </a:lnTo>
                  <a:lnTo>
                    <a:pt x="6" y="400"/>
                  </a:lnTo>
                  <a:lnTo>
                    <a:pt x="2" y="424"/>
                  </a:lnTo>
                  <a:lnTo>
                    <a:pt x="0" y="448"/>
                  </a:lnTo>
                  <a:lnTo>
                    <a:pt x="0" y="472"/>
                  </a:lnTo>
                  <a:close/>
                  <a:moveTo>
                    <a:pt x="80" y="472"/>
                  </a:moveTo>
                  <a:lnTo>
                    <a:pt x="80" y="472"/>
                  </a:lnTo>
                  <a:lnTo>
                    <a:pt x="82" y="432"/>
                  </a:lnTo>
                  <a:lnTo>
                    <a:pt x="88" y="394"/>
                  </a:lnTo>
                  <a:lnTo>
                    <a:pt x="98" y="356"/>
                  </a:lnTo>
                  <a:lnTo>
                    <a:pt x="110" y="320"/>
                  </a:lnTo>
                  <a:lnTo>
                    <a:pt x="128" y="286"/>
                  </a:lnTo>
                  <a:lnTo>
                    <a:pt x="148" y="252"/>
                  </a:lnTo>
                  <a:lnTo>
                    <a:pt x="170" y="222"/>
                  </a:lnTo>
                  <a:lnTo>
                    <a:pt x="194" y="194"/>
                  </a:lnTo>
                  <a:lnTo>
                    <a:pt x="222" y="170"/>
                  </a:lnTo>
                  <a:lnTo>
                    <a:pt x="252" y="148"/>
                  </a:lnTo>
                  <a:lnTo>
                    <a:pt x="286" y="128"/>
                  </a:lnTo>
                  <a:lnTo>
                    <a:pt x="320" y="110"/>
                  </a:lnTo>
                  <a:lnTo>
                    <a:pt x="356" y="98"/>
                  </a:lnTo>
                  <a:lnTo>
                    <a:pt x="394" y="88"/>
                  </a:lnTo>
                  <a:lnTo>
                    <a:pt x="432" y="82"/>
                  </a:lnTo>
                  <a:lnTo>
                    <a:pt x="472" y="80"/>
                  </a:lnTo>
                  <a:lnTo>
                    <a:pt x="512" y="82"/>
                  </a:lnTo>
                  <a:lnTo>
                    <a:pt x="550" y="88"/>
                  </a:lnTo>
                  <a:lnTo>
                    <a:pt x="588" y="98"/>
                  </a:lnTo>
                  <a:lnTo>
                    <a:pt x="624" y="110"/>
                  </a:lnTo>
                  <a:lnTo>
                    <a:pt x="658" y="128"/>
                  </a:lnTo>
                  <a:lnTo>
                    <a:pt x="692" y="148"/>
                  </a:lnTo>
                  <a:lnTo>
                    <a:pt x="722" y="170"/>
                  </a:lnTo>
                  <a:lnTo>
                    <a:pt x="750" y="194"/>
                  </a:lnTo>
                  <a:lnTo>
                    <a:pt x="774" y="222"/>
                  </a:lnTo>
                  <a:lnTo>
                    <a:pt x="796" y="252"/>
                  </a:lnTo>
                  <a:lnTo>
                    <a:pt x="816" y="286"/>
                  </a:lnTo>
                  <a:lnTo>
                    <a:pt x="834" y="320"/>
                  </a:lnTo>
                  <a:lnTo>
                    <a:pt x="846" y="356"/>
                  </a:lnTo>
                  <a:lnTo>
                    <a:pt x="856" y="394"/>
                  </a:lnTo>
                  <a:lnTo>
                    <a:pt x="862" y="432"/>
                  </a:lnTo>
                  <a:lnTo>
                    <a:pt x="864" y="472"/>
                  </a:lnTo>
                  <a:lnTo>
                    <a:pt x="862" y="512"/>
                  </a:lnTo>
                  <a:lnTo>
                    <a:pt x="856" y="550"/>
                  </a:lnTo>
                  <a:lnTo>
                    <a:pt x="846" y="588"/>
                  </a:lnTo>
                  <a:lnTo>
                    <a:pt x="834" y="624"/>
                  </a:lnTo>
                  <a:lnTo>
                    <a:pt x="816" y="658"/>
                  </a:lnTo>
                  <a:lnTo>
                    <a:pt x="796" y="692"/>
                  </a:lnTo>
                  <a:lnTo>
                    <a:pt x="774" y="722"/>
                  </a:lnTo>
                  <a:lnTo>
                    <a:pt x="750" y="750"/>
                  </a:lnTo>
                  <a:lnTo>
                    <a:pt x="722" y="774"/>
                  </a:lnTo>
                  <a:lnTo>
                    <a:pt x="692" y="796"/>
                  </a:lnTo>
                  <a:lnTo>
                    <a:pt x="658" y="816"/>
                  </a:lnTo>
                  <a:lnTo>
                    <a:pt x="624" y="834"/>
                  </a:lnTo>
                  <a:lnTo>
                    <a:pt x="588" y="846"/>
                  </a:lnTo>
                  <a:lnTo>
                    <a:pt x="550" y="856"/>
                  </a:lnTo>
                  <a:lnTo>
                    <a:pt x="512" y="862"/>
                  </a:lnTo>
                  <a:lnTo>
                    <a:pt x="472" y="864"/>
                  </a:lnTo>
                  <a:lnTo>
                    <a:pt x="432" y="862"/>
                  </a:lnTo>
                  <a:lnTo>
                    <a:pt x="394" y="856"/>
                  </a:lnTo>
                  <a:lnTo>
                    <a:pt x="356" y="846"/>
                  </a:lnTo>
                  <a:lnTo>
                    <a:pt x="320" y="834"/>
                  </a:lnTo>
                  <a:lnTo>
                    <a:pt x="286" y="816"/>
                  </a:lnTo>
                  <a:lnTo>
                    <a:pt x="252" y="796"/>
                  </a:lnTo>
                  <a:lnTo>
                    <a:pt x="222" y="774"/>
                  </a:lnTo>
                  <a:lnTo>
                    <a:pt x="194" y="750"/>
                  </a:lnTo>
                  <a:lnTo>
                    <a:pt x="170" y="722"/>
                  </a:lnTo>
                  <a:lnTo>
                    <a:pt x="148" y="692"/>
                  </a:lnTo>
                  <a:lnTo>
                    <a:pt x="128" y="658"/>
                  </a:lnTo>
                  <a:lnTo>
                    <a:pt x="110" y="624"/>
                  </a:lnTo>
                  <a:lnTo>
                    <a:pt x="98" y="588"/>
                  </a:lnTo>
                  <a:lnTo>
                    <a:pt x="88" y="550"/>
                  </a:lnTo>
                  <a:lnTo>
                    <a:pt x="82" y="512"/>
                  </a:lnTo>
                  <a:lnTo>
                    <a:pt x="80" y="4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3F88"/>
                </a:solidFill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Freeform 6"/>
            <p:cNvSpPr>
              <a:spLocks noEditPoints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232" cy="1232"/>
            </a:xfrm>
            <a:custGeom>
              <a:avLst/>
              <a:gdLst>
                <a:gd name="T0" fmla="*/ 8 w 1232"/>
                <a:gd name="T1" fmla="*/ 710 h 1232"/>
                <a:gd name="T2" fmla="*/ 48 w 1232"/>
                <a:gd name="T3" fmla="*/ 856 h 1232"/>
                <a:gd name="T4" fmla="*/ 122 w 1232"/>
                <a:gd name="T5" fmla="*/ 984 h 1232"/>
                <a:gd name="T6" fmla="*/ 224 w 1232"/>
                <a:gd name="T7" fmla="*/ 1092 h 1232"/>
                <a:gd name="T8" fmla="*/ 350 w 1232"/>
                <a:gd name="T9" fmla="*/ 1172 h 1232"/>
                <a:gd name="T10" fmla="*/ 492 w 1232"/>
                <a:gd name="T11" fmla="*/ 1220 h 1232"/>
                <a:gd name="T12" fmla="*/ 648 w 1232"/>
                <a:gd name="T13" fmla="*/ 1232 h 1232"/>
                <a:gd name="T14" fmla="*/ 798 w 1232"/>
                <a:gd name="T15" fmla="*/ 1204 h 1232"/>
                <a:gd name="T16" fmla="*/ 936 w 1232"/>
                <a:gd name="T17" fmla="*/ 1142 h 1232"/>
                <a:gd name="T18" fmla="*/ 1052 w 1232"/>
                <a:gd name="T19" fmla="*/ 1052 h 1232"/>
                <a:gd name="T20" fmla="*/ 1142 w 1232"/>
                <a:gd name="T21" fmla="*/ 936 h 1232"/>
                <a:gd name="T22" fmla="*/ 1204 w 1232"/>
                <a:gd name="T23" fmla="*/ 798 h 1232"/>
                <a:gd name="T24" fmla="*/ 1232 w 1232"/>
                <a:gd name="T25" fmla="*/ 648 h 1232"/>
                <a:gd name="T26" fmla="*/ 1220 w 1232"/>
                <a:gd name="T27" fmla="*/ 492 h 1232"/>
                <a:gd name="T28" fmla="*/ 1172 w 1232"/>
                <a:gd name="T29" fmla="*/ 350 h 1232"/>
                <a:gd name="T30" fmla="*/ 1092 w 1232"/>
                <a:gd name="T31" fmla="*/ 224 h 1232"/>
                <a:gd name="T32" fmla="*/ 984 w 1232"/>
                <a:gd name="T33" fmla="*/ 122 h 1232"/>
                <a:gd name="T34" fmla="*/ 856 w 1232"/>
                <a:gd name="T35" fmla="*/ 48 h 1232"/>
                <a:gd name="T36" fmla="*/ 710 w 1232"/>
                <a:gd name="T37" fmla="*/ 8 h 1232"/>
                <a:gd name="T38" fmla="*/ 554 w 1232"/>
                <a:gd name="T39" fmla="*/ 4 h 1232"/>
                <a:gd name="T40" fmla="*/ 404 w 1232"/>
                <a:gd name="T41" fmla="*/ 38 h 1232"/>
                <a:gd name="T42" fmla="*/ 272 w 1232"/>
                <a:gd name="T43" fmla="*/ 106 h 1232"/>
                <a:gd name="T44" fmla="*/ 160 w 1232"/>
                <a:gd name="T45" fmla="*/ 202 h 1232"/>
                <a:gd name="T46" fmla="*/ 74 w 1232"/>
                <a:gd name="T47" fmla="*/ 322 h 1232"/>
                <a:gd name="T48" fmla="*/ 20 w 1232"/>
                <a:gd name="T49" fmla="*/ 462 h 1232"/>
                <a:gd name="T50" fmla="*/ 0 w 1232"/>
                <a:gd name="T51" fmla="*/ 616 h 1232"/>
                <a:gd name="T52" fmla="*/ 86 w 1232"/>
                <a:gd name="T53" fmla="*/ 534 h 1232"/>
                <a:gd name="T54" fmla="*/ 122 w 1232"/>
                <a:gd name="T55" fmla="*/ 408 h 1232"/>
                <a:gd name="T56" fmla="*/ 186 w 1232"/>
                <a:gd name="T57" fmla="*/ 296 h 1232"/>
                <a:gd name="T58" fmla="*/ 276 w 1232"/>
                <a:gd name="T59" fmla="*/ 202 h 1232"/>
                <a:gd name="T60" fmla="*/ 384 w 1232"/>
                <a:gd name="T61" fmla="*/ 132 h 1232"/>
                <a:gd name="T62" fmla="*/ 508 w 1232"/>
                <a:gd name="T63" fmla="*/ 90 h 1232"/>
                <a:gd name="T64" fmla="*/ 644 w 1232"/>
                <a:gd name="T65" fmla="*/ 80 h 1232"/>
                <a:gd name="T66" fmla="*/ 776 w 1232"/>
                <a:gd name="T67" fmla="*/ 104 h 1232"/>
                <a:gd name="T68" fmla="*/ 894 w 1232"/>
                <a:gd name="T69" fmla="*/ 158 h 1232"/>
                <a:gd name="T70" fmla="*/ 994 w 1232"/>
                <a:gd name="T71" fmla="*/ 238 h 1232"/>
                <a:gd name="T72" fmla="*/ 1074 w 1232"/>
                <a:gd name="T73" fmla="*/ 338 h 1232"/>
                <a:gd name="T74" fmla="*/ 1128 w 1232"/>
                <a:gd name="T75" fmla="*/ 456 h 1232"/>
                <a:gd name="T76" fmla="*/ 1152 w 1232"/>
                <a:gd name="T77" fmla="*/ 588 h 1232"/>
                <a:gd name="T78" fmla="*/ 1142 w 1232"/>
                <a:gd name="T79" fmla="*/ 724 h 1232"/>
                <a:gd name="T80" fmla="*/ 1100 w 1232"/>
                <a:gd name="T81" fmla="*/ 848 h 1232"/>
                <a:gd name="T82" fmla="*/ 1030 w 1232"/>
                <a:gd name="T83" fmla="*/ 956 h 1232"/>
                <a:gd name="T84" fmla="*/ 936 w 1232"/>
                <a:gd name="T85" fmla="*/ 1046 h 1232"/>
                <a:gd name="T86" fmla="*/ 824 w 1232"/>
                <a:gd name="T87" fmla="*/ 1110 h 1232"/>
                <a:gd name="T88" fmla="*/ 698 w 1232"/>
                <a:gd name="T89" fmla="*/ 1146 h 1232"/>
                <a:gd name="T90" fmla="*/ 562 w 1232"/>
                <a:gd name="T91" fmla="*/ 1150 h 1232"/>
                <a:gd name="T92" fmla="*/ 432 w 1232"/>
                <a:gd name="T93" fmla="*/ 1120 h 1232"/>
                <a:gd name="T94" fmla="*/ 316 w 1232"/>
                <a:gd name="T95" fmla="*/ 1060 h 1232"/>
                <a:gd name="T96" fmla="*/ 220 w 1232"/>
                <a:gd name="T97" fmla="*/ 976 h 1232"/>
                <a:gd name="T98" fmla="*/ 144 w 1232"/>
                <a:gd name="T99" fmla="*/ 872 h 1232"/>
                <a:gd name="T100" fmla="*/ 96 w 1232"/>
                <a:gd name="T101" fmla="*/ 750 h 1232"/>
                <a:gd name="T102" fmla="*/ 80 w 1232"/>
                <a:gd name="T103" fmla="*/ 616 h 1232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232"/>
                <a:gd name="T157" fmla="*/ 0 h 1232"/>
                <a:gd name="T158" fmla="*/ 1232 w 1232"/>
                <a:gd name="T159" fmla="*/ 1232 h 1232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232" h="1232">
                  <a:moveTo>
                    <a:pt x="0" y="616"/>
                  </a:moveTo>
                  <a:lnTo>
                    <a:pt x="0" y="616"/>
                  </a:lnTo>
                  <a:lnTo>
                    <a:pt x="0" y="648"/>
                  </a:lnTo>
                  <a:lnTo>
                    <a:pt x="4" y="678"/>
                  </a:lnTo>
                  <a:lnTo>
                    <a:pt x="8" y="710"/>
                  </a:lnTo>
                  <a:lnTo>
                    <a:pt x="12" y="740"/>
                  </a:lnTo>
                  <a:lnTo>
                    <a:pt x="20" y="770"/>
                  </a:lnTo>
                  <a:lnTo>
                    <a:pt x="28" y="798"/>
                  </a:lnTo>
                  <a:lnTo>
                    <a:pt x="38" y="828"/>
                  </a:lnTo>
                  <a:lnTo>
                    <a:pt x="48" y="856"/>
                  </a:lnTo>
                  <a:lnTo>
                    <a:pt x="60" y="882"/>
                  </a:lnTo>
                  <a:lnTo>
                    <a:pt x="74" y="910"/>
                  </a:lnTo>
                  <a:lnTo>
                    <a:pt x="90" y="936"/>
                  </a:lnTo>
                  <a:lnTo>
                    <a:pt x="106" y="960"/>
                  </a:lnTo>
                  <a:lnTo>
                    <a:pt x="122" y="984"/>
                  </a:lnTo>
                  <a:lnTo>
                    <a:pt x="140" y="1008"/>
                  </a:lnTo>
                  <a:lnTo>
                    <a:pt x="160" y="1030"/>
                  </a:lnTo>
                  <a:lnTo>
                    <a:pt x="180" y="1052"/>
                  </a:lnTo>
                  <a:lnTo>
                    <a:pt x="202" y="1072"/>
                  </a:lnTo>
                  <a:lnTo>
                    <a:pt x="224" y="1092"/>
                  </a:lnTo>
                  <a:lnTo>
                    <a:pt x="248" y="1110"/>
                  </a:lnTo>
                  <a:lnTo>
                    <a:pt x="272" y="1126"/>
                  </a:lnTo>
                  <a:lnTo>
                    <a:pt x="296" y="1142"/>
                  </a:lnTo>
                  <a:lnTo>
                    <a:pt x="322" y="1158"/>
                  </a:lnTo>
                  <a:lnTo>
                    <a:pt x="350" y="1172"/>
                  </a:lnTo>
                  <a:lnTo>
                    <a:pt x="376" y="1184"/>
                  </a:lnTo>
                  <a:lnTo>
                    <a:pt x="404" y="1194"/>
                  </a:lnTo>
                  <a:lnTo>
                    <a:pt x="434" y="1204"/>
                  </a:lnTo>
                  <a:lnTo>
                    <a:pt x="462" y="1212"/>
                  </a:lnTo>
                  <a:lnTo>
                    <a:pt x="492" y="1220"/>
                  </a:lnTo>
                  <a:lnTo>
                    <a:pt x="522" y="1224"/>
                  </a:lnTo>
                  <a:lnTo>
                    <a:pt x="554" y="1228"/>
                  </a:lnTo>
                  <a:lnTo>
                    <a:pt x="584" y="1232"/>
                  </a:lnTo>
                  <a:lnTo>
                    <a:pt x="616" y="1232"/>
                  </a:lnTo>
                  <a:lnTo>
                    <a:pt x="648" y="1232"/>
                  </a:lnTo>
                  <a:lnTo>
                    <a:pt x="678" y="1228"/>
                  </a:lnTo>
                  <a:lnTo>
                    <a:pt x="710" y="1224"/>
                  </a:lnTo>
                  <a:lnTo>
                    <a:pt x="740" y="1220"/>
                  </a:lnTo>
                  <a:lnTo>
                    <a:pt x="770" y="1212"/>
                  </a:lnTo>
                  <a:lnTo>
                    <a:pt x="798" y="1204"/>
                  </a:lnTo>
                  <a:lnTo>
                    <a:pt x="828" y="1194"/>
                  </a:lnTo>
                  <a:lnTo>
                    <a:pt x="856" y="1184"/>
                  </a:lnTo>
                  <a:lnTo>
                    <a:pt x="882" y="1172"/>
                  </a:lnTo>
                  <a:lnTo>
                    <a:pt x="910" y="1158"/>
                  </a:lnTo>
                  <a:lnTo>
                    <a:pt x="936" y="1142"/>
                  </a:lnTo>
                  <a:lnTo>
                    <a:pt x="960" y="1126"/>
                  </a:lnTo>
                  <a:lnTo>
                    <a:pt x="984" y="1110"/>
                  </a:lnTo>
                  <a:lnTo>
                    <a:pt x="1008" y="1092"/>
                  </a:lnTo>
                  <a:lnTo>
                    <a:pt x="1030" y="1072"/>
                  </a:lnTo>
                  <a:lnTo>
                    <a:pt x="1052" y="1052"/>
                  </a:lnTo>
                  <a:lnTo>
                    <a:pt x="1072" y="1030"/>
                  </a:lnTo>
                  <a:lnTo>
                    <a:pt x="1092" y="1008"/>
                  </a:lnTo>
                  <a:lnTo>
                    <a:pt x="1110" y="984"/>
                  </a:lnTo>
                  <a:lnTo>
                    <a:pt x="1126" y="960"/>
                  </a:lnTo>
                  <a:lnTo>
                    <a:pt x="1142" y="936"/>
                  </a:lnTo>
                  <a:lnTo>
                    <a:pt x="1158" y="910"/>
                  </a:lnTo>
                  <a:lnTo>
                    <a:pt x="1172" y="882"/>
                  </a:lnTo>
                  <a:lnTo>
                    <a:pt x="1184" y="856"/>
                  </a:lnTo>
                  <a:lnTo>
                    <a:pt x="1194" y="828"/>
                  </a:lnTo>
                  <a:lnTo>
                    <a:pt x="1204" y="798"/>
                  </a:lnTo>
                  <a:lnTo>
                    <a:pt x="1212" y="770"/>
                  </a:lnTo>
                  <a:lnTo>
                    <a:pt x="1220" y="740"/>
                  </a:lnTo>
                  <a:lnTo>
                    <a:pt x="1224" y="710"/>
                  </a:lnTo>
                  <a:lnTo>
                    <a:pt x="1228" y="678"/>
                  </a:lnTo>
                  <a:lnTo>
                    <a:pt x="1232" y="648"/>
                  </a:lnTo>
                  <a:lnTo>
                    <a:pt x="1232" y="616"/>
                  </a:lnTo>
                  <a:lnTo>
                    <a:pt x="1232" y="584"/>
                  </a:lnTo>
                  <a:lnTo>
                    <a:pt x="1228" y="554"/>
                  </a:lnTo>
                  <a:lnTo>
                    <a:pt x="1224" y="522"/>
                  </a:lnTo>
                  <a:lnTo>
                    <a:pt x="1220" y="492"/>
                  </a:lnTo>
                  <a:lnTo>
                    <a:pt x="1212" y="462"/>
                  </a:lnTo>
                  <a:lnTo>
                    <a:pt x="1204" y="434"/>
                  </a:lnTo>
                  <a:lnTo>
                    <a:pt x="1194" y="404"/>
                  </a:lnTo>
                  <a:lnTo>
                    <a:pt x="1184" y="376"/>
                  </a:lnTo>
                  <a:lnTo>
                    <a:pt x="1172" y="350"/>
                  </a:lnTo>
                  <a:lnTo>
                    <a:pt x="1158" y="322"/>
                  </a:lnTo>
                  <a:lnTo>
                    <a:pt x="1142" y="296"/>
                  </a:lnTo>
                  <a:lnTo>
                    <a:pt x="1126" y="272"/>
                  </a:lnTo>
                  <a:lnTo>
                    <a:pt x="1110" y="248"/>
                  </a:lnTo>
                  <a:lnTo>
                    <a:pt x="1092" y="224"/>
                  </a:lnTo>
                  <a:lnTo>
                    <a:pt x="1072" y="202"/>
                  </a:lnTo>
                  <a:lnTo>
                    <a:pt x="1052" y="180"/>
                  </a:lnTo>
                  <a:lnTo>
                    <a:pt x="1030" y="160"/>
                  </a:lnTo>
                  <a:lnTo>
                    <a:pt x="1008" y="140"/>
                  </a:lnTo>
                  <a:lnTo>
                    <a:pt x="984" y="122"/>
                  </a:lnTo>
                  <a:lnTo>
                    <a:pt x="960" y="106"/>
                  </a:lnTo>
                  <a:lnTo>
                    <a:pt x="936" y="90"/>
                  </a:lnTo>
                  <a:lnTo>
                    <a:pt x="910" y="74"/>
                  </a:lnTo>
                  <a:lnTo>
                    <a:pt x="882" y="60"/>
                  </a:lnTo>
                  <a:lnTo>
                    <a:pt x="856" y="48"/>
                  </a:lnTo>
                  <a:lnTo>
                    <a:pt x="828" y="38"/>
                  </a:lnTo>
                  <a:lnTo>
                    <a:pt x="798" y="28"/>
                  </a:lnTo>
                  <a:lnTo>
                    <a:pt x="770" y="20"/>
                  </a:lnTo>
                  <a:lnTo>
                    <a:pt x="740" y="12"/>
                  </a:lnTo>
                  <a:lnTo>
                    <a:pt x="710" y="8"/>
                  </a:lnTo>
                  <a:lnTo>
                    <a:pt x="678" y="4"/>
                  </a:lnTo>
                  <a:lnTo>
                    <a:pt x="648" y="0"/>
                  </a:lnTo>
                  <a:lnTo>
                    <a:pt x="616" y="0"/>
                  </a:lnTo>
                  <a:lnTo>
                    <a:pt x="584" y="0"/>
                  </a:lnTo>
                  <a:lnTo>
                    <a:pt x="554" y="4"/>
                  </a:lnTo>
                  <a:lnTo>
                    <a:pt x="522" y="8"/>
                  </a:lnTo>
                  <a:lnTo>
                    <a:pt x="492" y="12"/>
                  </a:lnTo>
                  <a:lnTo>
                    <a:pt x="462" y="20"/>
                  </a:lnTo>
                  <a:lnTo>
                    <a:pt x="434" y="28"/>
                  </a:lnTo>
                  <a:lnTo>
                    <a:pt x="404" y="38"/>
                  </a:lnTo>
                  <a:lnTo>
                    <a:pt x="376" y="48"/>
                  </a:lnTo>
                  <a:lnTo>
                    <a:pt x="350" y="60"/>
                  </a:lnTo>
                  <a:lnTo>
                    <a:pt x="322" y="74"/>
                  </a:lnTo>
                  <a:lnTo>
                    <a:pt x="296" y="90"/>
                  </a:lnTo>
                  <a:lnTo>
                    <a:pt x="272" y="106"/>
                  </a:lnTo>
                  <a:lnTo>
                    <a:pt x="248" y="122"/>
                  </a:lnTo>
                  <a:lnTo>
                    <a:pt x="224" y="140"/>
                  </a:lnTo>
                  <a:lnTo>
                    <a:pt x="202" y="160"/>
                  </a:lnTo>
                  <a:lnTo>
                    <a:pt x="180" y="180"/>
                  </a:lnTo>
                  <a:lnTo>
                    <a:pt x="160" y="202"/>
                  </a:lnTo>
                  <a:lnTo>
                    <a:pt x="140" y="224"/>
                  </a:lnTo>
                  <a:lnTo>
                    <a:pt x="122" y="248"/>
                  </a:lnTo>
                  <a:lnTo>
                    <a:pt x="106" y="272"/>
                  </a:lnTo>
                  <a:lnTo>
                    <a:pt x="90" y="296"/>
                  </a:lnTo>
                  <a:lnTo>
                    <a:pt x="74" y="322"/>
                  </a:lnTo>
                  <a:lnTo>
                    <a:pt x="60" y="350"/>
                  </a:lnTo>
                  <a:lnTo>
                    <a:pt x="48" y="376"/>
                  </a:lnTo>
                  <a:lnTo>
                    <a:pt x="38" y="404"/>
                  </a:lnTo>
                  <a:lnTo>
                    <a:pt x="28" y="434"/>
                  </a:lnTo>
                  <a:lnTo>
                    <a:pt x="20" y="462"/>
                  </a:lnTo>
                  <a:lnTo>
                    <a:pt x="12" y="492"/>
                  </a:lnTo>
                  <a:lnTo>
                    <a:pt x="8" y="522"/>
                  </a:lnTo>
                  <a:lnTo>
                    <a:pt x="4" y="554"/>
                  </a:lnTo>
                  <a:lnTo>
                    <a:pt x="0" y="584"/>
                  </a:lnTo>
                  <a:lnTo>
                    <a:pt x="0" y="616"/>
                  </a:lnTo>
                  <a:close/>
                  <a:moveTo>
                    <a:pt x="80" y="616"/>
                  </a:moveTo>
                  <a:lnTo>
                    <a:pt x="80" y="616"/>
                  </a:lnTo>
                  <a:lnTo>
                    <a:pt x="80" y="588"/>
                  </a:lnTo>
                  <a:lnTo>
                    <a:pt x="82" y="562"/>
                  </a:lnTo>
                  <a:lnTo>
                    <a:pt x="86" y="534"/>
                  </a:lnTo>
                  <a:lnTo>
                    <a:pt x="90" y="508"/>
                  </a:lnTo>
                  <a:lnTo>
                    <a:pt x="96" y="482"/>
                  </a:lnTo>
                  <a:lnTo>
                    <a:pt x="104" y="456"/>
                  </a:lnTo>
                  <a:lnTo>
                    <a:pt x="112" y="432"/>
                  </a:lnTo>
                  <a:lnTo>
                    <a:pt x="122" y="408"/>
                  </a:lnTo>
                  <a:lnTo>
                    <a:pt x="132" y="384"/>
                  </a:lnTo>
                  <a:lnTo>
                    <a:pt x="144" y="360"/>
                  </a:lnTo>
                  <a:lnTo>
                    <a:pt x="158" y="338"/>
                  </a:lnTo>
                  <a:lnTo>
                    <a:pt x="172" y="316"/>
                  </a:lnTo>
                  <a:lnTo>
                    <a:pt x="186" y="296"/>
                  </a:lnTo>
                  <a:lnTo>
                    <a:pt x="202" y="276"/>
                  </a:lnTo>
                  <a:lnTo>
                    <a:pt x="220" y="256"/>
                  </a:lnTo>
                  <a:lnTo>
                    <a:pt x="238" y="238"/>
                  </a:lnTo>
                  <a:lnTo>
                    <a:pt x="256" y="220"/>
                  </a:lnTo>
                  <a:lnTo>
                    <a:pt x="276" y="202"/>
                  </a:lnTo>
                  <a:lnTo>
                    <a:pt x="296" y="186"/>
                  </a:lnTo>
                  <a:lnTo>
                    <a:pt x="316" y="172"/>
                  </a:lnTo>
                  <a:lnTo>
                    <a:pt x="338" y="158"/>
                  </a:lnTo>
                  <a:lnTo>
                    <a:pt x="360" y="144"/>
                  </a:lnTo>
                  <a:lnTo>
                    <a:pt x="384" y="132"/>
                  </a:lnTo>
                  <a:lnTo>
                    <a:pt x="408" y="122"/>
                  </a:lnTo>
                  <a:lnTo>
                    <a:pt x="432" y="112"/>
                  </a:lnTo>
                  <a:lnTo>
                    <a:pt x="456" y="104"/>
                  </a:lnTo>
                  <a:lnTo>
                    <a:pt x="482" y="96"/>
                  </a:lnTo>
                  <a:lnTo>
                    <a:pt x="508" y="90"/>
                  </a:lnTo>
                  <a:lnTo>
                    <a:pt x="534" y="86"/>
                  </a:lnTo>
                  <a:lnTo>
                    <a:pt x="562" y="82"/>
                  </a:lnTo>
                  <a:lnTo>
                    <a:pt x="588" y="80"/>
                  </a:lnTo>
                  <a:lnTo>
                    <a:pt x="616" y="80"/>
                  </a:lnTo>
                  <a:lnTo>
                    <a:pt x="644" y="80"/>
                  </a:lnTo>
                  <a:lnTo>
                    <a:pt x="670" y="82"/>
                  </a:lnTo>
                  <a:lnTo>
                    <a:pt x="698" y="86"/>
                  </a:lnTo>
                  <a:lnTo>
                    <a:pt x="724" y="90"/>
                  </a:lnTo>
                  <a:lnTo>
                    <a:pt x="750" y="96"/>
                  </a:lnTo>
                  <a:lnTo>
                    <a:pt x="776" y="104"/>
                  </a:lnTo>
                  <a:lnTo>
                    <a:pt x="800" y="112"/>
                  </a:lnTo>
                  <a:lnTo>
                    <a:pt x="824" y="122"/>
                  </a:lnTo>
                  <a:lnTo>
                    <a:pt x="848" y="132"/>
                  </a:lnTo>
                  <a:lnTo>
                    <a:pt x="872" y="144"/>
                  </a:lnTo>
                  <a:lnTo>
                    <a:pt x="894" y="158"/>
                  </a:lnTo>
                  <a:lnTo>
                    <a:pt x="916" y="172"/>
                  </a:lnTo>
                  <a:lnTo>
                    <a:pt x="936" y="186"/>
                  </a:lnTo>
                  <a:lnTo>
                    <a:pt x="956" y="202"/>
                  </a:lnTo>
                  <a:lnTo>
                    <a:pt x="976" y="220"/>
                  </a:lnTo>
                  <a:lnTo>
                    <a:pt x="994" y="238"/>
                  </a:lnTo>
                  <a:lnTo>
                    <a:pt x="1012" y="256"/>
                  </a:lnTo>
                  <a:lnTo>
                    <a:pt x="1030" y="276"/>
                  </a:lnTo>
                  <a:lnTo>
                    <a:pt x="1046" y="296"/>
                  </a:lnTo>
                  <a:lnTo>
                    <a:pt x="1060" y="316"/>
                  </a:lnTo>
                  <a:lnTo>
                    <a:pt x="1074" y="338"/>
                  </a:lnTo>
                  <a:lnTo>
                    <a:pt x="1088" y="360"/>
                  </a:lnTo>
                  <a:lnTo>
                    <a:pt x="1100" y="384"/>
                  </a:lnTo>
                  <a:lnTo>
                    <a:pt x="1110" y="408"/>
                  </a:lnTo>
                  <a:lnTo>
                    <a:pt x="1120" y="432"/>
                  </a:lnTo>
                  <a:lnTo>
                    <a:pt x="1128" y="456"/>
                  </a:lnTo>
                  <a:lnTo>
                    <a:pt x="1136" y="482"/>
                  </a:lnTo>
                  <a:lnTo>
                    <a:pt x="1142" y="508"/>
                  </a:lnTo>
                  <a:lnTo>
                    <a:pt x="1146" y="534"/>
                  </a:lnTo>
                  <a:lnTo>
                    <a:pt x="1150" y="562"/>
                  </a:lnTo>
                  <a:lnTo>
                    <a:pt x="1152" y="588"/>
                  </a:lnTo>
                  <a:lnTo>
                    <a:pt x="1152" y="616"/>
                  </a:lnTo>
                  <a:lnTo>
                    <a:pt x="1152" y="644"/>
                  </a:lnTo>
                  <a:lnTo>
                    <a:pt x="1150" y="670"/>
                  </a:lnTo>
                  <a:lnTo>
                    <a:pt x="1146" y="698"/>
                  </a:lnTo>
                  <a:lnTo>
                    <a:pt x="1142" y="724"/>
                  </a:lnTo>
                  <a:lnTo>
                    <a:pt x="1136" y="750"/>
                  </a:lnTo>
                  <a:lnTo>
                    <a:pt x="1128" y="776"/>
                  </a:lnTo>
                  <a:lnTo>
                    <a:pt x="1120" y="800"/>
                  </a:lnTo>
                  <a:lnTo>
                    <a:pt x="1110" y="824"/>
                  </a:lnTo>
                  <a:lnTo>
                    <a:pt x="1100" y="848"/>
                  </a:lnTo>
                  <a:lnTo>
                    <a:pt x="1088" y="872"/>
                  </a:lnTo>
                  <a:lnTo>
                    <a:pt x="1074" y="894"/>
                  </a:lnTo>
                  <a:lnTo>
                    <a:pt x="1060" y="916"/>
                  </a:lnTo>
                  <a:lnTo>
                    <a:pt x="1046" y="936"/>
                  </a:lnTo>
                  <a:lnTo>
                    <a:pt x="1030" y="956"/>
                  </a:lnTo>
                  <a:lnTo>
                    <a:pt x="1012" y="976"/>
                  </a:lnTo>
                  <a:lnTo>
                    <a:pt x="994" y="994"/>
                  </a:lnTo>
                  <a:lnTo>
                    <a:pt x="976" y="1012"/>
                  </a:lnTo>
                  <a:lnTo>
                    <a:pt x="956" y="1030"/>
                  </a:lnTo>
                  <a:lnTo>
                    <a:pt x="936" y="1046"/>
                  </a:lnTo>
                  <a:lnTo>
                    <a:pt x="916" y="1060"/>
                  </a:lnTo>
                  <a:lnTo>
                    <a:pt x="894" y="1074"/>
                  </a:lnTo>
                  <a:lnTo>
                    <a:pt x="872" y="1088"/>
                  </a:lnTo>
                  <a:lnTo>
                    <a:pt x="848" y="1100"/>
                  </a:lnTo>
                  <a:lnTo>
                    <a:pt x="824" y="1110"/>
                  </a:lnTo>
                  <a:lnTo>
                    <a:pt x="800" y="1120"/>
                  </a:lnTo>
                  <a:lnTo>
                    <a:pt x="776" y="1128"/>
                  </a:lnTo>
                  <a:lnTo>
                    <a:pt x="750" y="1136"/>
                  </a:lnTo>
                  <a:lnTo>
                    <a:pt x="724" y="1142"/>
                  </a:lnTo>
                  <a:lnTo>
                    <a:pt x="698" y="1146"/>
                  </a:lnTo>
                  <a:lnTo>
                    <a:pt x="670" y="1150"/>
                  </a:lnTo>
                  <a:lnTo>
                    <a:pt x="644" y="1152"/>
                  </a:lnTo>
                  <a:lnTo>
                    <a:pt x="616" y="1152"/>
                  </a:lnTo>
                  <a:lnTo>
                    <a:pt x="588" y="1152"/>
                  </a:lnTo>
                  <a:lnTo>
                    <a:pt x="562" y="1150"/>
                  </a:lnTo>
                  <a:lnTo>
                    <a:pt x="534" y="1146"/>
                  </a:lnTo>
                  <a:lnTo>
                    <a:pt x="508" y="1142"/>
                  </a:lnTo>
                  <a:lnTo>
                    <a:pt x="482" y="1136"/>
                  </a:lnTo>
                  <a:lnTo>
                    <a:pt x="456" y="1128"/>
                  </a:lnTo>
                  <a:lnTo>
                    <a:pt x="432" y="1120"/>
                  </a:lnTo>
                  <a:lnTo>
                    <a:pt x="408" y="1110"/>
                  </a:lnTo>
                  <a:lnTo>
                    <a:pt x="384" y="1100"/>
                  </a:lnTo>
                  <a:lnTo>
                    <a:pt x="360" y="1088"/>
                  </a:lnTo>
                  <a:lnTo>
                    <a:pt x="338" y="1074"/>
                  </a:lnTo>
                  <a:lnTo>
                    <a:pt x="316" y="1060"/>
                  </a:lnTo>
                  <a:lnTo>
                    <a:pt x="296" y="1046"/>
                  </a:lnTo>
                  <a:lnTo>
                    <a:pt x="276" y="1030"/>
                  </a:lnTo>
                  <a:lnTo>
                    <a:pt x="256" y="1012"/>
                  </a:lnTo>
                  <a:lnTo>
                    <a:pt x="238" y="994"/>
                  </a:lnTo>
                  <a:lnTo>
                    <a:pt x="220" y="976"/>
                  </a:lnTo>
                  <a:lnTo>
                    <a:pt x="202" y="956"/>
                  </a:lnTo>
                  <a:lnTo>
                    <a:pt x="186" y="936"/>
                  </a:lnTo>
                  <a:lnTo>
                    <a:pt x="172" y="916"/>
                  </a:lnTo>
                  <a:lnTo>
                    <a:pt x="158" y="894"/>
                  </a:lnTo>
                  <a:lnTo>
                    <a:pt x="144" y="872"/>
                  </a:lnTo>
                  <a:lnTo>
                    <a:pt x="132" y="848"/>
                  </a:lnTo>
                  <a:lnTo>
                    <a:pt x="122" y="824"/>
                  </a:lnTo>
                  <a:lnTo>
                    <a:pt x="112" y="800"/>
                  </a:lnTo>
                  <a:lnTo>
                    <a:pt x="104" y="776"/>
                  </a:lnTo>
                  <a:lnTo>
                    <a:pt x="96" y="750"/>
                  </a:lnTo>
                  <a:lnTo>
                    <a:pt x="90" y="724"/>
                  </a:lnTo>
                  <a:lnTo>
                    <a:pt x="86" y="698"/>
                  </a:lnTo>
                  <a:lnTo>
                    <a:pt x="82" y="670"/>
                  </a:lnTo>
                  <a:lnTo>
                    <a:pt x="80" y="644"/>
                  </a:lnTo>
                  <a:lnTo>
                    <a:pt x="80" y="6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316230"/>
              <a:endParaRPr lang="zh-CN" altLang="zh-CN" sz="1245" dirty="0">
                <a:solidFill>
                  <a:srgbClr val="003F88"/>
                </a:solidFill>
                <a:ea typeface="微软雅黑" panose="020B0503020204020204" pitchFamily="34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1" name="椭圆 46"/>
          <p:cNvSpPr/>
          <p:nvPr>
            <p:custDataLst>
              <p:tags r:id="rId9"/>
            </p:custDataLst>
          </p:nvPr>
        </p:nvSpPr>
        <p:spPr>
          <a:xfrm>
            <a:off x="4898365" y="1055151"/>
            <a:ext cx="506988" cy="5069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3F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zh-CN" sz="2800" b="1" dirty="0">
              <a:solidFill>
                <a:srgbClr val="003F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椭圆 47"/>
          <p:cNvSpPr/>
          <p:nvPr>
            <p:custDataLst>
              <p:tags r:id="rId10"/>
            </p:custDataLst>
          </p:nvPr>
        </p:nvSpPr>
        <p:spPr>
          <a:xfrm>
            <a:off x="5570757" y="2570081"/>
            <a:ext cx="483631" cy="4836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rgbClr val="003F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2800" b="1" dirty="0">
              <a:solidFill>
                <a:srgbClr val="003F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椭圆 48"/>
          <p:cNvSpPr/>
          <p:nvPr>
            <p:custDataLst>
              <p:tags r:id="rId11"/>
            </p:custDataLst>
          </p:nvPr>
        </p:nvSpPr>
        <p:spPr>
          <a:xfrm>
            <a:off x="5768373" y="3937655"/>
            <a:ext cx="515795" cy="5157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rgbClr val="003F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altLang="zh-CN" sz="2800" b="1" dirty="0">
              <a:solidFill>
                <a:srgbClr val="003F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椭圆 49"/>
          <p:cNvSpPr/>
          <p:nvPr>
            <p:custDataLst>
              <p:tags r:id="rId12"/>
            </p:custDataLst>
          </p:nvPr>
        </p:nvSpPr>
        <p:spPr>
          <a:xfrm>
            <a:off x="4488699" y="5289019"/>
            <a:ext cx="552103" cy="57457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2800" b="1" dirty="0">
                <a:solidFill>
                  <a:srgbClr val="003F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2800" b="1" dirty="0">
              <a:solidFill>
                <a:srgbClr val="003F8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54"/>
          <p:cNvSpPr txBox="1"/>
          <p:nvPr>
            <p:custDataLst>
              <p:tags r:id="rId13"/>
            </p:custDataLst>
          </p:nvPr>
        </p:nvSpPr>
        <p:spPr>
          <a:xfrm>
            <a:off x="6387449" y="3974824"/>
            <a:ext cx="54043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展示平台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手机端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电脑端网页显示界面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文本框 54"/>
          <p:cNvSpPr txBox="1"/>
          <p:nvPr>
            <p:custDataLst>
              <p:tags r:id="rId14"/>
            </p:custDataLst>
          </p:nvPr>
        </p:nvSpPr>
        <p:spPr>
          <a:xfrm>
            <a:off x="6284168" y="2527318"/>
            <a:ext cx="57692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软件代码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传感器驱动、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FreeRTOS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多任务、状态机、报警控制、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WiFi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网页和摄像头图传程序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54"/>
          <p:cNvSpPr txBox="1"/>
          <p:nvPr>
            <p:custDataLst>
              <p:tags r:id="rId15"/>
            </p:custDataLst>
          </p:nvPr>
        </p:nvSpPr>
        <p:spPr>
          <a:xfrm>
            <a:off x="5768373" y="1055151"/>
            <a:ext cx="60234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实物系统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一套可运行的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ESP32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智能导行与远程看护拐杖原型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4774" y="2488344"/>
            <a:ext cx="2654362" cy="2649893"/>
          </a:xfrm>
          <a:prstGeom prst="rect">
            <a:avLst/>
          </a:prstGeom>
          <a:noFill/>
        </p:spPr>
      </p:pic>
      <p:sp>
        <p:nvSpPr>
          <p:cNvPr id="37" name="文本框 54"/>
          <p:cNvSpPr txBox="1"/>
          <p:nvPr>
            <p:custDataLst>
              <p:tags r:id="rId17"/>
            </p:custDataLst>
          </p:nvPr>
        </p:nvSpPr>
        <p:spPr>
          <a:xfrm>
            <a:off x="5257296" y="5410868"/>
            <a:ext cx="54043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文档材料、演示视频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lvl="0"/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4" name="连接符: 肘形 43"/>
          <p:cNvCxnSpPr>
            <a:endCxn id="13" idx="2"/>
          </p:cNvCxnSpPr>
          <p:nvPr/>
        </p:nvCxnSpPr>
        <p:spPr>
          <a:xfrm>
            <a:off x="3017520" y="3358315"/>
            <a:ext cx="2750853" cy="837238"/>
          </a:xfrm>
          <a:prstGeom prst="bentConnector3">
            <a:avLst>
              <a:gd name="adj1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5" name="矩形: 圆角 4"/>
          <p:cNvSpPr/>
          <p:nvPr/>
        </p:nvSpPr>
        <p:spPr>
          <a:xfrm>
            <a:off x="356598" y="201496"/>
            <a:ext cx="2244650" cy="8536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预期成果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ïṡḷíḍé"/>
          <p:cNvSpPr/>
          <p:nvPr/>
        </p:nvSpPr>
        <p:spPr>
          <a:xfrm>
            <a:off x="3609601" y="3953677"/>
            <a:ext cx="1792440" cy="1860632"/>
          </a:xfrm>
          <a:custGeom>
            <a:avLst/>
            <a:gdLst>
              <a:gd name="connsiteX0" fmla="*/ 613459 w 1544768"/>
              <a:gd name="connsiteY0" fmla="*/ 0 h 1603538"/>
              <a:gd name="connsiteX1" fmla="*/ 1544768 w 1544768"/>
              <a:gd name="connsiteY1" fmla="*/ 976469 h 1603538"/>
              <a:gd name="connsiteX2" fmla="*/ 1479549 w 1544768"/>
              <a:gd name="connsiteY2" fmla="*/ 1055514 h 1603538"/>
              <a:gd name="connsiteX3" fmla="*/ 1343891 w 1544768"/>
              <a:gd name="connsiteY3" fmla="*/ 1499630 h 1603538"/>
              <a:gd name="connsiteX4" fmla="*/ 1347992 w 1544768"/>
              <a:gd name="connsiteY4" fmla="*/ 1580845 h 1603538"/>
              <a:gd name="connsiteX5" fmla="*/ 1351456 w 1544768"/>
              <a:gd name="connsiteY5" fmla="*/ 1603538 h 1603538"/>
              <a:gd name="connsiteX6" fmla="*/ 5247 w 1544768"/>
              <a:gd name="connsiteY6" fmla="*/ 1603538 h 1603538"/>
              <a:gd name="connsiteX7" fmla="*/ 0 w 1544768"/>
              <a:gd name="connsiteY7" fmla="*/ 1499630 h 1603538"/>
              <a:gd name="connsiteX8" fmla="*/ 489319 w 1544768"/>
              <a:gd name="connsiteY8" fmla="*/ 136587 h 1603538"/>
              <a:gd name="connsiteX9" fmla="*/ 613459 w 1544768"/>
              <a:gd name="connsiteY9" fmla="*/ 0 h 1603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4768" h="1603538">
                <a:moveTo>
                  <a:pt x="613459" y="0"/>
                </a:moveTo>
                <a:lnTo>
                  <a:pt x="1544768" y="976469"/>
                </a:lnTo>
                <a:lnTo>
                  <a:pt x="1479549" y="1055514"/>
                </a:lnTo>
                <a:cubicBezTo>
                  <a:pt x="1393902" y="1182290"/>
                  <a:pt x="1343891" y="1335120"/>
                  <a:pt x="1343891" y="1499630"/>
                </a:cubicBezTo>
                <a:cubicBezTo>
                  <a:pt x="1343891" y="1527048"/>
                  <a:pt x="1345280" y="1554142"/>
                  <a:pt x="1347992" y="1580845"/>
                </a:cubicBezTo>
                <a:lnTo>
                  <a:pt x="1351456" y="1603538"/>
                </a:lnTo>
                <a:lnTo>
                  <a:pt x="5247" y="1603538"/>
                </a:lnTo>
                <a:lnTo>
                  <a:pt x="0" y="1499630"/>
                </a:lnTo>
                <a:cubicBezTo>
                  <a:pt x="0" y="981868"/>
                  <a:pt x="183631" y="506996"/>
                  <a:pt x="489319" y="136587"/>
                </a:cubicBezTo>
                <a:lnTo>
                  <a:pt x="613459" y="0"/>
                </a:lnTo>
                <a:close/>
              </a:path>
            </a:pathLst>
          </a:custGeom>
          <a:solidFill>
            <a:srgbClr val="5C84CC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>
              <a:solidFill>
                <a:schemeClr val="bg1"/>
              </a:solidFill>
            </a:endParaRPr>
          </a:p>
        </p:txBody>
      </p:sp>
      <p:sp>
        <p:nvSpPr>
          <p:cNvPr id="21" name="ïṩḻíḓé"/>
          <p:cNvSpPr/>
          <p:nvPr/>
        </p:nvSpPr>
        <p:spPr>
          <a:xfrm>
            <a:off x="4321416" y="3207346"/>
            <a:ext cx="1774582" cy="1879356"/>
          </a:xfrm>
          <a:custGeom>
            <a:avLst/>
            <a:gdLst>
              <a:gd name="connsiteX0" fmla="*/ 1529377 w 1529378"/>
              <a:gd name="connsiteY0" fmla="*/ 0 h 1619675"/>
              <a:gd name="connsiteX1" fmla="*/ 1529378 w 1529378"/>
              <a:gd name="connsiteY1" fmla="*/ 0 h 1619675"/>
              <a:gd name="connsiteX2" fmla="*/ 1529378 w 1529378"/>
              <a:gd name="connsiteY2" fmla="*/ 1348742 h 1619675"/>
              <a:gd name="connsiteX3" fmla="*/ 1524759 w 1529378"/>
              <a:gd name="connsiteY3" fmla="*/ 1348509 h 1619675"/>
              <a:gd name="connsiteX4" fmla="*/ 963085 w 1529378"/>
              <a:gd name="connsiteY4" fmla="*/ 1581162 h 1619675"/>
              <a:gd name="connsiteX5" fmla="*/ 931309 w 1529378"/>
              <a:gd name="connsiteY5" fmla="*/ 1619675 h 1619675"/>
              <a:gd name="connsiteX6" fmla="*/ 0 w 1529378"/>
              <a:gd name="connsiteY6" fmla="*/ 643206 h 1619675"/>
              <a:gd name="connsiteX7" fmla="*/ 14163 w 1529378"/>
              <a:gd name="connsiteY7" fmla="*/ 627622 h 1619675"/>
              <a:gd name="connsiteX8" fmla="*/ 1529377 w 1529378"/>
              <a:gd name="connsiteY8" fmla="*/ 0 h 16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9378" h="1619675">
                <a:moveTo>
                  <a:pt x="1529377" y="0"/>
                </a:moveTo>
                <a:lnTo>
                  <a:pt x="1529378" y="0"/>
                </a:lnTo>
                <a:lnTo>
                  <a:pt x="1529378" y="1348742"/>
                </a:lnTo>
                <a:lnTo>
                  <a:pt x="1524759" y="1348509"/>
                </a:lnTo>
                <a:cubicBezTo>
                  <a:pt x="1305412" y="1348509"/>
                  <a:pt x="1106830" y="1437417"/>
                  <a:pt x="963085" y="1581162"/>
                </a:cubicBezTo>
                <a:lnTo>
                  <a:pt x="931309" y="1619675"/>
                </a:lnTo>
                <a:lnTo>
                  <a:pt x="0" y="643206"/>
                </a:lnTo>
                <a:lnTo>
                  <a:pt x="14163" y="627622"/>
                </a:lnTo>
                <a:cubicBezTo>
                  <a:pt x="401940" y="239845"/>
                  <a:pt x="937649" y="0"/>
                  <a:pt x="1529377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>
              <a:solidFill>
                <a:schemeClr val="bg1"/>
              </a:solidFill>
            </a:endParaRPr>
          </a:p>
        </p:txBody>
      </p:sp>
      <p:sp>
        <p:nvSpPr>
          <p:cNvPr id="22" name="ïṩlíḋè"/>
          <p:cNvSpPr/>
          <p:nvPr/>
        </p:nvSpPr>
        <p:spPr>
          <a:xfrm flipH="1">
            <a:off x="6785788" y="3954687"/>
            <a:ext cx="1796607" cy="1859622"/>
          </a:xfrm>
          <a:custGeom>
            <a:avLst/>
            <a:gdLst>
              <a:gd name="connsiteX0" fmla="*/ 614290 w 1548359"/>
              <a:gd name="connsiteY0" fmla="*/ 0 h 1602667"/>
              <a:gd name="connsiteX1" fmla="*/ 556670 w 1548359"/>
              <a:gd name="connsiteY1" fmla="*/ 57964 h 1602667"/>
              <a:gd name="connsiteX2" fmla="*/ 0 w 1548359"/>
              <a:gd name="connsiteY2" fmla="*/ 1498759 h 1602667"/>
              <a:gd name="connsiteX3" fmla="*/ 5247 w 1548359"/>
              <a:gd name="connsiteY3" fmla="*/ 1602667 h 1602667"/>
              <a:gd name="connsiteX4" fmla="*/ 1360691 w 1548359"/>
              <a:gd name="connsiteY4" fmla="*/ 1602667 h 1602667"/>
              <a:gd name="connsiteX5" fmla="*/ 1357228 w 1548359"/>
              <a:gd name="connsiteY5" fmla="*/ 1579974 h 1602667"/>
              <a:gd name="connsiteX6" fmla="*/ 1353127 w 1548359"/>
              <a:gd name="connsiteY6" fmla="*/ 1498759 h 1602667"/>
              <a:gd name="connsiteX7" fmla="*/ 1473148 w 1548359"/>
              <a:gd name="connsiteY7" fmla="*/ 1078716 h 1602667"/>
              <a:gd name="connsiteX8" fmla="*/ 1548359 w 1548359"/>
              <a:gd name="connsiteY8" fmla="*/ 979363 h 1602667"/>
              <a:gd name="connsiteX9" fmla="*/ 614290 w 1548359"/>
              <a:gd name="connsiteY9" fmla="*/ 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8359" h="1602667">
                <a:moveTo>
                  <a:pt x="614290" y="0"/>
                </a:moveTo>
                <a:lnTo>
                  <a:pt x="556670" y="57964"/>
                </a:lnTo>
                <a:cubicBezTo>
                  <a:pt x="210801" y="438505"/>
                  <a:pt x="0" y="944014"/>
                  <a:pt x="0" y="1498759"/>
                </a:cubicBezTo>
                <a:lnTo>
                  <a:pt x="5247" y="1602667"/>
                </a:lnTo>
                <a:lnTo>
                  <a:pt x="1360691" y="1602667"/>
                </a:lnTo>
                <a:lnTo>
                  <a:pt x="1357228" y="1579974"/>
                </a:lnTo>
                <a:cubicBezTo>
                  <a:pt x="1354516" y="1553271"/>
                  <a:pt x="1353127" y="1526177"/>
                  <a:pt x="1353127" y="1498759"/>
                </a:cubicBezTo>
                <a:cubicBezTo>
                  <a:pt x="1353127" y="1344531"/>
                  <a:pt x="1397082" y="1200568"/>
                  <a:pt x="1473148" y="1078716"/>
                </a:cubicBezTo>
                <a:lnTo>
                  <a:pt x="1548359" y="979363"/>
                </a:lnTo>
                <a:lnTo>
                  <a:pt x="61429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>
              <a:solidFill>
                <a:schemeClr val="bg1"/>
              </a:solidFill>
            </a:endParaRPr>
          </a:p>
        </p:txBody>
      </p:sp>
      <p:sp>
        <p:nvSpPr>
          <p:cNvPr id="23" name="iṥ1ïḑe"/>
          <p:cNvSpPr/>
          <p:nvPr/>
        </p:nvSpPr>
        <p:spPr>
          <a:xfrm flipH="1">
            <a:off x="6096000" y="3207346"/>
            <a:ext cx="1773616" cy="1883725"/>
          </a:xfrm>
          <a:custGeom>
            <a:avLst/>
            <a:gdLst>
              <a:gd name="connsiteX0" fmla="*/ 1528545 w 1528545"/>
              <a:gd name="connsiteY0" fmla="*/ 0 h 1623440"/>
              <a:gd name="connsiteX1" fmla="*/ 1309453 w 1528545"/>
              <a:gd name="connsiteY1" fmla="*/ 11063 h 1623440"/>
              <a:gd name="connsiteX2" fmla="*/ 78264 w 1528545"/>
              <a:gd name="connsiteY2" fmla="*/ 565345 h 1623440"/>
              <a:gd name="connsiteX3" fmla="*/ 0 w 1528545"/>
              <a:gd name="connsiteY3" fmla="*/ 644077 h 1623440"/>
              <a:gd name="connsiteX4" fmla="*/ 934069 w 1528545"/>
              <a:gd name="connsiteY4" fmla="*/ 1623440 h 1623440"/>
              <a:gd name="connsiteX5" fmla="*/ 945189 w 1528545"/>
              <a:gd name="connsiteY5" fmla="*/ 1608749 h 1623440"/>
              <a:gd name="connsiteX6" fmla="*/ 1451949 w 1528545"/>
              <a:gd name="connsiteY6" fmla="*/ 1352610 h 1623440"/>
              <a:gd name="connsiteX7" fmla="*/ 1528545 w 1528545"/>
              <a:gd name="connsiteY7" fmla="*/ 1348742 h 1623440"/>
              <a:gd name="connsiteX8" fmla="*/ 1528545 w 1528545"/>
              <a:gd name="connsiteY8" fmla="*/ 0 h 1623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545" h="1623440">
                <a:moveTo>
                  <a:pt x="1528545" y="0"/>
                </a:moveTo>
                <a:lnTo>
                  <a:pt x="1309453" y="11063"/>
                </a:lnTo>
                <a:cubicBezTo>
                  <a:pt x="836718" y="59072"/>
                  <a:pt x="409410" y="260745"/>
                  <a:pt x="78264" y="565345"/>
                </a:cubicBezTo>
                <a:lnTo>
                  <a:pt x="0" y="644077"/>
                </a:lnTo>
                <a:lnTo>
                  <a:pt x="934069" y="1623440"/>
                </a:lnTo>
                <a:lnTo>
                  <a:pt x="945189" y="1608749"/>
                </a:lnTo>
                <a:cubicBezTo>
                  <a:pt x="1073399" y="1467687"/>
                  <a:pt x="1251677" y="1372949"/>
                  <a:pt x="1451949" y="1352610"/>
                </a:cubicBezTo>
                <a:lnTo>
                  <a:pt x="1528545" y="1348742"/>
                </a:lnTo>
                <a:lnTo>
                  <a:pt x="1528545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2800">
              <a:solidFill>
                <a:schemeClr val="bg1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33409" y="3603491"/>
            <a:ext cx="3311075" cy="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8219484" y="3603491"/>
            <a:ext cx="3264488" cy="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20" idx="0"/>
          </p:cNvCxnSpPr>
          <p:nvPr/>
        </p:nvCxnSpPr>
        <p:spPr>
          <a:xfrm flipH="1" flipV="1">
            <a:off x="3944484" y="3603491"/>
            <a:ext cx="376932" cy="350186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23" idx="3"/>
          </p:cNvCxnSpPr>
          <p:nvPr/>
        </p:nvCxnSpPr>
        <p:spPr>
          <a:xfrm flipV="1">
            <a:off x="7869616" y="3603491"/>
            <a:ext cx="349868" cy="351196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21" idx="0"/>
          </p:cNvCxnSpPr>
          <p:nvPr/>
        </p:nvCxnSpPr>
        <p:spPr>
          <a:xfrm flipV="1">
            <a:off x="6095997" y="1951086"/>
            <a:ext cx="1" cy="1256260"/>
          </a:xfrm>
          <a:prstGeom prst="line">
            <a:avLst/>
          </a:prstGeom>
          <a:ln w="28575" cap="rnd">
            <a:solidFill>
              <a:schemeClr val="bg1">
                <a:lumMod val="9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îšľîḋé"/>
          <p:cNvSpPr txBox="1"/>
          <p:nvPr/>
        </p:nvSpPr>
        <p:spPr>
          <a:xfrm>
            <a:off x="5674525" y="5262120"/>
            <a:ext cx="438349" cy="525802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endParaRPr lang="zh-CN" altLang="en-US" sz="2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4" name="图形 3" descr="正义天平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1193" y="3604962"/>
            <a:ext cx="766079" cy="766079"/>
          </a:xfrm>
          <a:prstGeom prst="rect">
            <a:avLst/>
          </a:prstGeom>
        </p:spPr>
      </p:pic>
      <p:pic>
        <p:nvPicPr>
          <p:cNvPr id="5" name="图形 4" descr="眼睛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48032"/>
          <a:stretch>
            <a:fillRect/>
          </a:stretch>
        </p:blipFill>
        <p:spPr>
          <a:xfrm>
            <a:off x="4059741" y="4493990"/>
            <a:ext cx="695873" cy="133904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913" y="2858759"/>
            <a:ext cx="5330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ESP32 </a:t>
            </a:r>
            <a:r>
              <a:rPr lang="zh-CN" altLang="en-US" sz="2800" b="1" dirty="0">
                <a:solidFill>
                  <a:schemeClr val="bg1"/>
                </a:solidFill>
              </a:rPr>
              <a:t>单主控综合设计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图形 6" descr="试管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8926" y="3633763"/>
            <a:ext cx="779142" cy="779142"/>
          </a:xfrm>
          <a:prstGeom prst="rect">
            <a:avLst/>
          </a:prstGeom>
        </p:spPr>
      </p:pic>
      <p:pic>
        <p:nvPicPr>
          <p:cNvPr id="8" name="图形 7" descr="可持续性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3312" y="4783464"/>
            <a:ext cx="741557" cy="74155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-230438" y="5107301"/>
            <a:ext cx="4390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</a:rPr>
              <a:t>异常触发式远程看护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33409" y="5804784"/>
            <a:ext cx="10850563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245200" y="5107300"/>
            <a:ext cx="41504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双核任务调度优化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684090" y="2870565"/>
            <a:ext cx="4003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</a:rPr>
              <a:t>多传感器状态机决策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21279" y="5086702"/>
            <a:ext cx="1416449" cy="1121954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36" y="278141"/>
            <a:ext cx="2045209" cy="568113"/>
          </a:xfrm>
          <a:prstGeom prst="rect">
            <a:avLst/>
          </a:prstGeom>
        </p:spPr>
      </p:pic>
      <p:sp>
        <p:nvSpPr>
          <p:cNvPr id="36" name="矩形: 圆角 35"/>
          <p:cNvSpPr/>
          <p:nvPr/>
        </p:nvSpPr>
        <p:spPr>
          <a:xfrm>
            <a:off x="397915" y="215920"/>
            <a:ext cx="2244650" cy="85365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3F88"/>
              </a:gs>
              <a:gs pos="10000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8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/>
              <a:t>创新点</a:t>
            </a: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887185" y="1224748"/>
            <a:ext cx="6684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</a:rPr>
              <a:t>本地提醒与网页端远程显示结合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/>
          <p:cNvSpPr/>
          <p:nvPr/>
        </p:nvSpPr>
        <p:spPr>
          <a:xfrm>
            <a:off x="865414" y="1926771"/>
            <a:ext cx="3167635" cy="4351563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/>
          <p:cNvSpPr/>
          <p:nvPr/>
        </p:nvSpPr>
        <p:spPr>
          <a:xfrm>
            <a:off x="4622347" y="1926771"/>
            <a:ext cx="3274743" cy="4351563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8379280" y="1926771"/>
            <a:ext cx="3274743" cy="4351563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723268" y="1046264"/>
            <a:ext cx="8134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成员A</a:t>
            </a:r>
            <a:endParaRPr lang="zh-CN" alt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554048" y="1017926"/>
            <a:ext cx="4914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成员B</a:t>
            </a:r>
            <a:endParaRPr lang="zh-CN" alt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392296" y="1046264"/>
            <a:ext cx="3331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成员C</a:t>
            </a:r>
            <a:endParaRPr lang="zh-CN" altLang="en-US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42138" y="218394"/>
            <a:ext cx="6078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任务分工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0" y="-2932"/>
            <a:ext cx="517646" cy="981393"/>
            <a:chOff x="0" y="111538"/>
            <a:chExt cx="899042" cy="1704473"/>
          </a:xfrm>
          <a:solidFill>
            <a:schemeClr val="bg1"/>
          </a:solidFill>
        </p:grpSpPr>
        <p:sp>
          <p:nvSpPr>
            <p:cNvPr id="29" name="椭圆 28"/>
            <p:cNvSpPr/>
            <p:nvPr/>
          </p:nvSpPr>
          <p:spPr>
            <a:xfrm>
              <a:off x="778917" y="885854"/>
              <a:ext cx="120125" cy="1201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0" y="111538"/>
              <a:ext cx="875360" cy="1704473"/>
              <a:chOff x="357726" y="552695"/>
              <a:chExt cx="1547190" cy="3012640"/>
            </a:xfrm>
            <a:grpFill/>
          </p:grpSpPr>
          <p:sp>
            <p:nvSpPr>
              <p:cNvPr id="31" name="任意多边形: 形状 30"/>
              <p:cNvSpPr/>
              <p:nvPr/>
            </p:nvSpPr>
            <p:spPr>
              <a:xfrm rot="10800000" flipH="1" flipV="1">
                <a:off x="357726" y="2018145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任意多边形: 形状 31"/>
              <p:cNvSpPr/>
              <p:nvPr/>
            </p:nvSpPr>
            <p:spPr>
              <a:xfrm rot="5400000" flipH="1" flipV="1">
                <a:off x="399103" y="511318"/>
                <a:ext cx="1464435" cy="1547190"/>
              </a:xfrm>
              <a:custGeom>
                <a:avLst/>
                <a:gdLst>
                  <a:gd name="connsiteX0" fmla="*/ 0 w 1464435"/>
                  <a:gd name="connsiteY0" fmla="*/ 0 h 1547190"/>
                  <a:gd name="connsiteX1" fmla="*/ 1464435 w 1464435"/>
                  <a:gd name="connsiteY1" fmla="*/ 0 h 1547190"/>
                  <a:gd name="connsiteX2" fmla="*/ 1314628 w 1464435"/>
                  <a:gd name="connsiteY2" fmla="*/ 22863 h 1547190"/>
                  <a:gd name="connsiteX3" fmla="*/ 3759 w 1464435"/>
                  <a:gd name="connsiteY3" fmla="*/ 1472763 h 1547190"/>
                  <a:gd name="connsiteX4" fmla="*/ 0 w 1464435"/>
                  <a:gd name="connsiteY4" fmla="*/ 1547190 h 154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435" h="1547190">
                    <a:moveTo>
                      <a:pt x="0" y="0"/>
                    </a:moveTo>
                    <a:lnTo>
                      <a:pt x="1464435" y="0"/>
                    </a:lnTo>
                    <a:lnTo>
                      <a:pt x="1314628" y="22863"/>
                    </a:lnTo>
                    <a:cubicBezTo>
                      <a:pt x="615432" y="165940"/>
                      <a:pt x="77096" y="750618"/>
                      <a:pt x="3759" y="1472763"/>
                    </a:cubicBezTo>
                    <a:lnTo>
                      <a:pt x="0" y="154719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975579" y="2539912"/>
            <a:ext cx="3057470" cy="2807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/>
              <a:t>ESP32 </a:t>
            </a:r>
            <a:r>
              <a:rPr lang="zh-CN" altLang="en-US" sz="2000" b="1" dirty="0"/>
              <a:t>接线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超声波、</a:t>
            </a:r>
            <a:r>
              <a:rPr lang="en-US" altLang="zh-CN" sz="2000" b="1" dirty="0"/>
              <a:t>IMU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GPS</a:t>
            </a:r>
            <a:r>
              <a:rPr lang="zh-CN" altLang="en-US" sz="2000" b="1" dirty="0"/>
              <a:t>、光照、按键驱动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蜂鸣器、</a:t>
            </a:r>
            <a:r>
              <a:rPr lang="en-US" altLang="zh-CN" sz="2000" b="1" dirty="0"/>
              <a:t>LED</a:t>
            </a:r>
            <a:r>
              <a:rPr lang="zh-CN" altLang="en-US" sz="2000" b="1" dirty="0"/>
              <a:t>、震动马达控制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供电与结构安装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752867" y="2539911"/>
            <a:ext cx="3393605" cy="2807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 err="1"/>
              <a:t>FreeRTOS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多任务设计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跌倒检测算法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避障判断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状态机设计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/>
              <a:t>WiFi </a:t>
            </a:r>
            <a:r>
              <a:rPr lang="zh-CN" altLang="en-US" sz="2000" b="1" dirty="0"/>
              <a:t>数据通信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整体程序调试</a:t>
            </a:r>
            <a:endParaRPr lang="en-US" altLang="zh-CN" sz="2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502061" y="2539912"/>
            <a:ext cx="3151962" cy="2807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/>
              <a:t>ESP32 </a:t>
            </a:r>
            <a:r>
              <a:rPr lang="zh-CN" altLang="en-US" sz="2000" b="1" dirty="0"/>
              <a:t>网页端界面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摄像头图传页面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/>
              <a:t>PPT </a:t>
            </a:r>
            <a:r>
              <a:rPr lang="zh-CN" altLang="en-US" sz="2000" b="1" dirty="0"/>
              <a:t>制作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系统框图、流程图绘制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测试表格整理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/>
              <a:t>演示视频剪辑</a:t>
            </a:r>
            <a:endParaRPr lang="zh-CN" altLang="en-U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2772012" y="2153915"/>
            <a:ext cx="664797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恳请老师批评指正</a:t>
            </a:r>
            <a:endParaRPr lang="en-US" altLang="zh-CN" sz="60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63960" y="4655179"/>
            <a:ext cx="663094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小组成员：成员A、成员B、成员C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2026 / 7 / 8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3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4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5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6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7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8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9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0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1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2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3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4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5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6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7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8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19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0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1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2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3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4.xml><?xml version="1.0" encoding="utf-8"?>
<p:tagLst xmlns:p="http://schemas.openxmlformats.org/presentationml/2006/main">
  <p:tag name="KSO_WM_DIAGRAM_VIRTUALLY_FRAME" val="{&quot;height&quot;:374.26519685039364,&quot;left&quot;:340.73110236220475,&quot;top&quot;:95.15700787401575,&quot;width&quot;:575.5021259842518}"/>
</p:tagLst>
</file>

<file path=ppt/tags/tag25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26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27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28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29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0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1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2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3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4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5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6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7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38.xml><?xml version="1.0" encoding="utf-8"?>
<p:tagLst xmlns:p="http://schemas.openxmlformats.org/presentationml/2006/main">
  <p:tag name="KSO_WM_DIAGRAM_VIRTUALLY_FRAME" val="{&quot;height&quot;:358.0725196850393,&quot;left&quot;:39.06440944881889,&quot;top&quot;:110.68629921259841,&quot;width&quot;:852.8758267716536}"/>
</p:tagLst>
</file>

<file path=ppt/tags/tag39.xml><?xml version="1.0" encoding="utf-8"?>
<p:tagLst xmlns:p="http://schemas.openxmlformats.org/presentationml/2006/main">
  <p:tag name="KSO_WM_DIAGRAM_VIRTUALLY_FRAME" val="{&quot;height&quot;:386.8725196850393,&quot;left&quot;:39.06440944881888,&quot;top&quot;:81.88629921259842,&quot;width&quot;:852.8758267716536}"/>
</p:tagLst>
</file>

<file path=ppt/tags/tag40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1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2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3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4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5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6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7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8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49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0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1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2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3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4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5.xml><?xml version="1.0" encoding="utf-8"?>
<p:tagLst xmlns:p="http://schemas.openxmlformats.org/presentationml/2006/main">
  <p:tag name="KSO_WM_DIAGRAM_VIRTUALLY_FRAME" val="{&quot;height&quot;:362.07322834645663,&quot;left&quot;:23.148188976377952,&quot;top&quot;:106.34338582677165,&quot;width&quot;:1072.9655118110236}"/>
</p:tagLst>
</file>

<file path=ppt/tags/tag56.xml><?xml version="1.0" encoding="utf-8"?>
<p:tagLst xmlns:p="http://schemas.openxmlformats.org/presentationml/2006/main">
  <p:tag name="resource_record_key" val="{&quot;10&quot;:[50059233]}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2911</Words>
  <Application>WPS 演示</Application>
  <PresentationFormat>宽屏</PresentationFormat>
  <Paragraphs>433</Paragraphs>
  <Slides>15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</vt:lpstr>
      <vt:lpstr>Gelasio</vt:lpstr>
      <vt:lpstr>MingLiU-ExtB</vt:lpstr>
      <vt:lpstr>Lato</vt:lpstr>
      <vt:lpstr>Calibri</vt:lpstr>
      <vt:lpstr>Impact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成员B</cp:lastModifiedBy>
  <cp:revision>61</cp:revision>
  <dcterms:created xsi:type="dcterms:W3CDTF">2024-06-04T23:12:00Z</dcterms:created>
  <dcterms:modified xsi:type="dcterms:W3CDTF">2026-07-07T13:03:21Z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84F3CD095C30476B9AAF251BFCA41500_13</vt:lpwstr>
  </property>
  <property fmtid="{D5CDD505-2E9C-101B-9397-08002B2CF9AE}" pid="3" name="KSOProductBuildVer">
    <vt:lpwstr>2052-12.1.0.23542</vt:lpwstr>
  </property>
</Properties>
</file>